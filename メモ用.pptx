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handoutMasterIdLst>
    <p:handoutMasterId r:id="rId17"/>
  </p:handoutMasterIdLst>
  <p:sldIdLst>
    <p:sldId id="1275" r:id="rId2"/>
    <p:sldId id="1291" r:id="rId3"/>
    <p:sldId id="1266" r:id="rId4"/>
    <p:sldId id="1268" r:id="rId5"/>
    <p:sldId id="1267" r:id="rId6"/>
    <p:sldId id="1288" r:id="rId7"/>
    <p:sldId id="1289" r:id="rId8"/>
    <p:sldId id="1290" r:id="rId9"/>
    <p:sldId id="1292" r:id="rId10"/>
    <p:sldId id="1280" r:id="rId11"/>
    <p:sldId id="1276" r:id="rId12"/>
    <p:sldId id="1264" r:id="rId13"/>
    <p:sldId id="1293" r:id="rId14"/>
    <p:sldId id="1294" r:id="rId15"/>
  </p:sldIdLst>
  <p:sldSz cx="12192000" cy="6858000"/>
  <p:notesSz cx="7104063" cy="10234613"/>
  <p:custDataLst>
    <p:tags r:id="rId18"/>
  </p:custDataLst>
  <p:defaultTextStyle>
    <a:defPPr>
      <a:defRPr lang="fr-FR"/>
    </a:defPPr>
    <a:lvl1pPr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1pPr>
    <a:lvl2pPr marL="4572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2pPr>
    <a:lvl3pPr marL="9144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3pPr>
    <a:lvl4pPr marL="13716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4pPr>
    <a:lvl5pPr marL="18288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5pPr>
    <a:lvl6pPr marL="22860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6pPr>
    <a:lvl7pPr marL="27432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7pPr>
    <a:lvl8pPr marL="32004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8pPr>
    <a:lvl9pPr marL="36576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4119" userDrawn="1">
          <p15:clr>
            <a:srgbClr val="A4A3A4"/>
          </p15:clr>
        </p15:guide>
        <p15:guide id="2" orient="horz" pos="550" userDrawn="1">
          <p15:clr>
            <a:srgbClr val="A4A3A4"/>
          </p15:clr>
        </p15:guide>
        <p15:guide id="3" orient="horz" pos="904" userDrawn="1">
          <p15:clr>
            <a:srgbClr val="A4A3A4"/>
          </p15:clr>
        </p15:guide>
        <p15:guide id="4" orient="horz" pos="208" userDrawn="1">
          <p15:clr>
            <a:srgbClr val="A4A3A4"/>
          </p15:clr>
        </p15:guide>
        <p15:guide id="5" orient="horz" pos="1434" userDrawn="1">
          <p15:clr>
            <a:srgbClr val="A4A3A4"/>
          </p15:clr>
        </p15:guide>
        <p15:guide id="6" orient="horz" pos="3884" userDrawn="1">
          <p15:clr>
            <a:srgbClr val="A4A3A4"/>
          </p15:clr>
        </p15:guide>
        <p15:guide id="7" pos="513" userDrawn="1">
          <p15:clr>
            <a:srgbClr val="A4A3A4"/>
          </p15:clr>
        </p15:guide>
        <p15:guide id="8" pos="3840" userDrawn="1">
          <p15:clr>
            <a:srgbClr val="A4A3A4"/>
          </p15:clr>
        </p15:guide>
        <p15:guide id="9" pos="7167" userDrawn="1">
          <p15:clr>
            <a:srgbClr val="A4A3A4"/>
          </p15:clr>
        </p15:guide>
        <p15:guide id="1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00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27"/>
    <p:restoredTop sz="70419" autoAdjust="0"/>
  </p:normalViewPr>
  <p:slideViewPr>
    <p:cSldViewPr snapToGrid="0">
      <p:cViewPr varScale="1">
        <p:scale>
          <a:sx n="58" d="100"/>
          <a:sy n="58" d="100"/>
        </p:scale>
        <p:origin x="1891" y="48"/>
      </p:cViewPr>
      <p:guideLst>
        <p:guide orient="horz" pos="4119"/>
        <p:guide orient="horz" pos="550"/>
        <p:guide orient="horz" pos="904"/>
        <p:guide orient="horz" pos="208"/>
        <p:guide orient="horz" pos="1434"/>
        <p:guide orient="horz" pos="3884"/>
        <p:guide pos="513"/>
        <p:guide pos="3840"/>
        <p:guide pos="7167"/>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5" d="100"/>
          <a:sy n="95" d="100"/>
        </p:scale>
        <p:origin x="-1848"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5048181647050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19E7-4046-A53C-2ADC8979C236}"/>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3DC3-48C4-AC5A-EBF81F35F8DF}"/>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C8E1-4FE7-96A8-7E856C5AA388}"/>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5048181647050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7E0A-4E36-BEDC-B8FB25D046DA}"/>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4114073043896107"/>
          <c:h val="0.89814793969180295"/>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80E6-47B1-B09F-351CD569B8F6}"/>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76705513762871E-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5E9E-4A0D-8F30-FBD37F717E6C}"/>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049957444007153E-3"/>
          <c:y val="7.0692349779063399E-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F9F0-42CA-877D-8464B654C071}"/>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76705513762871E-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2575-4EC7-804F-0A0FC6CF738D}"/>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18F2-412A-92D6-D7D925C8E3A5}"/>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11080176623547E-2"/>
          <c:y val="0.17842861320900785"/>
          <c:w val="0.93888897113349057"/>
          <c:h val="0.8215716109810598"/>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1C37-45FC-A435-58C310801B21}"/>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025917931570633E-2"/>
          <c:y val="5.9238141844536629E-2"/>
          <c:w val="0.89269373856604439"/>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145A-4B97-A4C0-2DFFFB4E9357}"/>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40CE95F9-B18D-B941-B9AB-B106ED18F67C}"/>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59" name="Rectangle 3">
            <a:extLst>
              <a:ext uri="{FF2B5EF4-FFF2-40B4-BE49-F238E27FC236}">
                <a16:creationId xmlns:a16="http://schemas.microsoft.com/office/drawing/2014/main" id="{811AF85E-B0EB-5941-AD48-D28E5234FC53}"/>
              </a:ext>
            </a:extLst>
          </p:cNvPr>
          <p:cNvSpPr>
            <a:spLocks noGrp="1" noChangeArrowheads="1"/>
          </p:cNvSpPr>
          <p:nvPr>
            <p:ph type="dt" sz="quarter"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ltLang="zh-TW"/>
          </a:p>
        </p:txBody>
      </p:sp>
      <p:sp>
        <p:nvSpPr>
          <p:cNvPr id="301060" name="Rectangle 4">
            <a:extLst>
              <a:ext uri="{FF2B5EF4-FFF2-40B4-BE49-F238E27FC236}">
                <a16:creationId xmlns:a16="http://schemas.microsoft.com/office/drawing/2014/main" id="{AAF776BE-7AD6-4A43-820E-452D40BB6836}"/>
              </a:ext>
            </a:extLst>
          </p:cNvPr>
          <p:cNvSpPr>
            <a:spLocks noGrp="1" noChangeArrowheads="1"/>
          </p:cNvSpPr>
          <p:nvPr>
            <p:ph type="ftr" sz="quarter" idx="2"/>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61" name="Rectangle 5">
            <a:extLst>
              <a:ext uri="{FF2B5EF4-FFF2-40B4-BE49-F238E27FC236}">
                <a16:creationId xmlns:a16="http://schemas.microsoft.com/office/drawing/2014/main" id="{2E70A17A-2DD5-3C41-9DB9-800606EEA79C}"/>
              </a:ext>
            </a:extLst>
          </p:cNvPr>
          <p:cNvSpPr>
            <a:spLocks noGrp="1" noChangeArrowheads="1"/>
          </p:cNvSpPr>
          <p:nvPr>
            <p:ph type="sldNum" sz="quarter" idx="3"/>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647B9DDB-074F-8749-A193-A6ECBCC9CB7A}" type="slidenum">
              <a:rPr lang="en-US" altLang="zh-TW"/>
              <a:pPr>
                <a:defRPr/>
              </a:pPr>
              <a:t>‹#›</a:t>
            </a:fld>
            <a:endParaRPr lang="en-US" altLang="zh-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9D147860-33D1-AA45-A593-8412E167BDDE}"/>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5" name="Rectangle 3">
            <a:extLst>
              <a:ext uri="{FF2B5EF4-FFF2-40B4-BE49-F238E27FC236}">
                <a16:creationId xmlns:a16="http://schemas.microsoft.com/office/drawing/2014/main" id="{E025B5F2-9015-3F45-9FB7-6E64498DB93E}"/>
              </a:ext>
            </a:extLst>
          </p:cNvPr>
          <p:cNvSpPr>
            <a:spLocks noGrp="1" noChangeArrowheads="1"/>
          </p:cNvSpPr>
          <p:nvPr>
            <p:ph type="dt"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p>
        </p:txBody>
      </p:sp>
      <p:sp>
        <p:nvSpPr>
          <p:cNvPr id="3076" name="Rectangle 4">
            <a:extLst>
              <a:ext uri="{FF2B5EF4-FFF2-40B4-BE49-F238E27FC236}">
                <a16:creationId xmlns:a16="http://schemas.microsoft.com/office/drawing/2014/main" id="{4C78FB87-C515-2841-AFDA-D14F1517C101}"/>
              </a:ext>
            </a:extLst>
          </p:cNvPr>
          <p:cNvSpPr>
            <a:spLocks noGrp="1" noRot="1" noChangeAspect="1" noChangeArrowheads="1" noTextEdit="1"/>
          </p:cNvSpPr>
          <p:nvPr>
            <p:ph type="sldImg" idx="2"/>
          </p:nvPr>
        </p:nvSpPr>
        <p:spPr bwMode="auto">
          <a:xfrm>
            <a:off x="144463" y="768350"/>
            <a:ext cx="68183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7" name="Rectangle 5">
            <a:extLst>
              <a:ext uri="{FF2B5EF4-FFF2-40B4-BE49-F238E27FC236}">
                <a16:creationId xmlns:a16="http://schemas.microsoft.com/office/drawing/2014/main" id="{B138E057-BABF-B746-BE9A-A7BF53C324A0}"/>
              </a:ext>
            </a:extLst>
          </p:cNvPr>
          <p:cNvSpPr>
            <a:spLocks noGrp="1" noChangeArrowheads="1"/>
          </p:cNvSpPr>
          <p:nvPr>
            <p:ph type="body" sz="quarter" idx="3"/>
          </p:nvPr>
        </p:nvSpPr>
        <p:spPr bwMode="auto">
          <a:xfrm>
            <a:off x="947738" y="4860925"/>
            <a:ext cx="5208587" cy="4605338"/>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p>
        </p:txBody>
      </p:sp>
      <p:sp>
        <p:nvSpPr>
          <p:cNvPr id="238598" name="Rectangle 6">
            <a:extLst>
              <a:ext uri="{FF2B5EF4-FFF2-40B4-BE49-F238E27FC236}">
                <a16:creationId xmlns:a16="http://schemas.microsoft.com/office/drawing/2014/main" id="{83A8390D-5E71-0246-9CD4-100FDFEB49F9}"/>
              </a:ext>
            </a:extLst>
          </p:cNvPr>
          <p:cNvSpPr>
            <a:spLocks noGrp="1" noChangeArrowheads="1"/>
          </p:cNvSpPr>
          <p:nvPr>
            <p:ph type="ftr" sz="quarter" idx="4"/>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9" name="Rectangle 7">
            <a:extLst>
              <a:ext uri="{FF2B5EF4-FFF2-40B4-BE49-F238E27FC236}">
                <a16:creationId xmlns:a16="http://schemas.microsoft.com/office/drawing/2014/main" id="{7FB1BCCD-D179-4149-AB3B-56146B26F53A}"/>
              </a:ext>
            </a:extLst>
          </p:cNvPr>
          <p:cNvSpPr>
            <a:spLocks noGrp="1" noChangeArrowheads="1"/>
          </p:cNvSpPr>
          <p:nvPr>
            <p:ph type="sldNum" sz="quarter" idx="5"/>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D389AF18-AA3C-A74D-A98A-39385926BE4C}"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charset="0"/>
        <a:ea typeface="ＭＳ Ｐゴシック" charset="-128"/>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8F02D090-7EB3-764E-8EBD-B0EBEF07D542}"/>
              </a:ext>
            </a:extLst>
          </p:cNvPr>
          <p:cNvSpPr>
            <a:spLocks noGrp="1" noRot="1" noChangeAspect="1" noChangeArrowheads="1" noTextEdit="1"/>
          </p:cNvSpPr>
          <p:nvPr>
            <p:ph type="sldImg"/>
          </p:nvPr>
        </p:nvSpPr>
        <p:spPr>
          <a:xfrm>
            <a:off x="144463" y="768350"/>
            <a:ext cx="6818312" cy="3836988"/>
          </a:xfrm>
          <a:ln/>
        </p:spPr>
      </p:sp>
      <p:sp>
        <p:nvSpPr>
          <p:cNvPr id="6146" name="Rectangle 3">
            <a:extLst>
              <a:ext uri="{FF2B5EF4-FFF2-40B4-BE49-F238E27FC236}">
                <a16:creationId xmlns:a16="http://schemas.microsoft.com/office/drawing/2014/main" id="{CB416B68-3666-D24D-B990-AE35952FC5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キーワードは太字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デカ文字　理論的に大事なところは赤文字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アンダー　</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研究の核になる部分は赤字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太字＋アンダー　</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発表するときは，しっかり立って，無意味な手癖を出さないようにする</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タイトル，所属，名前，「では，緒言からです」で発表を始める</a:t>
            </a:r>
            <a:endParaRPr kumimoji="0" lang="en-US" altLang="ja-JP" dirty="0">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sz="1200" i="0" kern="1200" dirty="0">
                <a:solidFill>
                  <a:schemeClr val="tx1"/>
                </a:solidFill>
                <a:latin typeface="+mn-ea"/>
                <a:ea typeface="ＭＳ Ｐゴシック" charset="-128"/>
                <a:cs typeface="ＭＳ Ｐゴシック" charset="0"/>
              </a:rPr>
              <a:t>まずは緒言からです</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日本は災害大国として知られています</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地震や津波，洪水などの災害現場での調査や復興作業では二次災害が絶えません</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現在日本では，二次災害を予防するために，災害現場のような不整地で人の代わりに作業するロボットが求められています</a:t>
            </a:r>
            <a:endParaRPr kumimoji="1" lang="en-US" altLang="ja-JP" sz="1200" i="0" kern="1200" dirty="0">
              <a:solidFill>
                <a:schemeClr val="tx1"/>
              </a:solidFill>
              <a:latin typeface="+mn-ea"/>
              <a:ea typeface="ＭＳ Ｐゴシック" charset="-128"/>
              <a:cs typeface="ＭＳ Ｐゴシック" charset="0"/>
            </a:endParaRPr>
          </a:p>
          <a:p>
            <a:pPr algn="l"/>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災害現場こういうのがありますね　画像を複数載せる（画像は被害者が写っているかどうかを確認する．</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二次災害こんなのありますね　被爆，余震，火災，津波，地割れ，漏電，崩落等</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こんな災害現場では，大型の建機を持ち込むためには分解しなくてはいけない</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また，復興現場では二次災害の危険がある（ひばく，がれきに埋もれる，突発的な火災等）</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だから持ち運びのしやすい中型・小型のロボットの価値は高い</a:t>
            </a:r>
            <a:endParaRPr kumimoji="1" lang="en-US" altLang="ja-JP" sz="1200" i="0" kern="1200" dirty="0">
              <a:solidFill>
                <a:schemeClr val="tx1"/>
              </a:solidFill>
              <a:latin typeface="+mn-ea"/>
              <a:ea typeface="ＭＳ Ｐゴシック" charset="-128"/>
              <a:cs typeface="ＭＳ Ｐゴシック" charset="0"/>
            </a:endParaRPr>
          </a:p>
          <a:p>
            <a:r>
              <a:rPr kumimoji="1" lang="ja-JP" altLang="en-US" dirty="0"/>
              <a:t>人が行くのが危険という（災害現場で二次災害による死亡率等）データが隠しスライドにあるといいかも</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2</a:t>
            </a:fld>
            <a:endParaRPr lang="en-US" altLang="ja-JP"/>
          </a:p>
        </p:txBody>
      </p:sp>
    </p:spTree>
    <p:extLst>
      <p:ext uri="{BB962C8B-B14F-4D97-AF65-F5344CB8AC3E}">
        <p14:creationId xmlns:p14="http://schemas.microsoft.com/office/powerpoint/2010/main" val="72646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4362-673D-A2F0-3876-B4CF3063514E}"/>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C152564C-B9FB-6BDA-A494-35C6E5A18EBB}"/>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3</a:t>
            </a:fld>
            <a:endParaRPr lang="en-US" altLang="ja-JP" i="0">
              <a:latin typeface="Times" pitchFamily="2" charset="0"/>
            </a:endParaRPr>
          </a:p>
        </p:txBody>
      </p:sp>
      <p:sp>
        <p:nvSpPr>
          <p:cNvPr id="8194" name="Rectangle 2">
            <a:extLst>
              <a:ext uri="{FF2B5EF4-FFF2-40B4-BE49-F238E27FC236}">
                <a16:creationId xmlns:a16="http://schemas.microsoft.com/office/drawing/2014/main" id="{8803D0FD-4A93-0593-A7A5-BB533B9A986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28538F5A-11DC-8B86-75A6-76E5406680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しかし，災害現場は単純な不整地とは一味違います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既存のロボットが活躍する不整地というのは事前に状況を把握することができるため，どのように走るかを予測可能ですが</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災害対応ロボットが行く不整地というのは現場に着くまで状況が全くわからないため，地形の形状も状態も，どのように走るかも予測できません</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このように事前に予測が不可能な環境を未知環境といいます．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このような問題から，未知環境でどのようにロボットが走行するのかはわからないのです．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不整地の中でも，災害現場のような事前に予測することができない不整地を未知環境という</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言いたいことは</a:t>
            </a:r>
            <a:r>
              <a:rPr kumimoji="0" lang="en-US" altLang="ja-JP" dirty="0">
                <a:latin typeface="Times" pitchFamily="2" charset="0"/>
                <a:ea typeface="ＭＳ Ｐゴシック" panose="020B0600070205080204" pitchFamily="34" charset="-128"/>
              </a:rPr>
              <a:t>1</a:t>
            </a:r>
            <a:r>
              <a:rPr kumimoji="0" lang="ja-JP" altLang="en-US" dirty="0">
                <a:latin typeface="Times" pitchFamily="2" charset="0"/>
                <a:ea typeface="ＭＳ Ｐゴシック" panose="020B0600070205080204" pitchFamily="34" charset="-128"/>
              </a:rPr>
              <a:t>スライドで１つにしよう！</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災害現場で自在に動けるロボットが欲しい→災害現場はみちかんきょう，みちかんきょうとはこういうもので，事前によそくできない</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→アイデア→目的</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どうやってやるのか→現状→まとめ</a:t>
            </a:r>
          </a:p>
        </p:txBody>
      </p:sp>
    </p:spTree>
    <p:extLst>
      <p:ext uri="{BB962C8B-B14F-4D97-AF65-F5344CB8AC3E}">
        <p14:creationId xmlns:p14="http://schemas.microsoft.com/office/powerpoint/2010/main" val="2441022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D6C8-E601-FE21-A9FE-088BB559A80B}"/>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8AC906AB-9B37-AA9D-2422-6AB5E915C294}"/>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4</a:t>
            </a:fld>
            <a:endParaRPr lang="en-US" altLang="ja-JP" i="0">
              <a:latin typeface="Times" pitchFamily="2" charset="0"/>
            </a:endParaRPr>
          </a:p>
        </p:txBody>
      </p:sp>
      <p:sp>
        <p:nvSpPr>
          <p:cNvPr id="8194" name="Rectangle 2">
            <a:extLst>
              <a:ext uri="{FF2B5EF4-FFF2-40B4-BE49-F238E27FC236}">
                <a16:creationId xmlns:a16="http://schemas.microsoft.com/office/drawing/2014/main" id="{761A3C39-5629-BBF6-055B-53E24B76A1E6}"/>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3B88D1CE-E2A0-3386-A63A-0EE113B672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そこで，本研究ではこのようなアイデアを提案します．ある未知環境の地形が十分滑らかで連続していると仮定したとき，</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その未知環境をフーリエ変換によって角周波数帯の正弦波に分解した地形を考えます．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このとき，各正弦波上を走行させたときの走行性能をフーリエ変換の応用で重ね合わせれば，元の未知環境での走行性能を表現できるのではないか，というものです．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ここでいう走行性能とは，速度，加速度，変位，走破できるのか，</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この理論が成立するのであれば，単純な基礎地形の走行性能の重ね合わせで未知環境の走行性能を事前に予測することが可能になります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重ね合わせ，と一言ではなくて，どのような法則で重ね合わせが成立するのか，についてをしっかり書こう</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不整地での走行性能が，正弦波の基礎地形の重ね合わせでわかるかどうか，が非常に正しい説明</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基本的な地形で走らせれば不整地でも走行性能がわかるかもしれない</a:t>
            </a:r>
            <a:endParaRPr kumimoji="0" lang="en-US" altLang="ja-JP" dirty="0">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233938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35F1-F47A-65A8-0E2E-E492D1D6DA2D}"/>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7D94F5DE-C37B-9D0A-4533-E8E51E20AC5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5</a:t>
            </a:fld>
            <a:endParaRPr lang="en-US" altLang="ja-JP" i="0">
              <a:latin typeface="Times" pitchFamily="2" charset="0"/>
            </a:endParaRPr>
          </a:p>
        </p:txBody>
      </p:sp>
      <p:sp>
        <p:nvSpPr>
          <p:cNvPr id="8194" name="Rectangle 2">
            <a:extLst>
              <a:ext uri="{FF2B5EF4-FFF2-40B4-BE49-F238E27FC236}">
                <a16:creationId xmlns:a16="http://schemas.microsoft.com/office/drawing/2014/main" id="{DA24B983-201A-6840-5DC3-8115A29CD83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EBB13D61-FDFE-AA8A-049C-72959DA488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本研究の目的は，先ほど紹介したアイデアを使って，未知環境での走行性能を予測する“手法”を確立することにあります．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具体的には，基礎地形それぞれを走行させて，その走行性能を重ね合わせます．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そして，その基礎地形を重ね合わせた地形における走行性能を調べます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最後に，この２つの走行性能が一致するのかどうかを検証します．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事前にわからない未知環境でも事前に予測して設計，調整できるようになるのが目標</a:t>
            </a:r>
          </a:p>
        </p:txBody>
      </p:sp>
    </p:spTree>
    <p:extLst>
      <p:ext uri="{BB962C8B-B14F-4D97-AF65-F5344CB8AC3E}">
        <p14:creationId xmlns:p14="http://schemas.microsoft.com/office/powerpoint/2010/main" val="349105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実験は初期段階として理論検証を目的として三次元地面形状でやる前に，二次元地面形状で行います　</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ただ，車体を変更したり，地形を変更するなどの実験条件が考えられるため，何回も実機で検証するのは大変　網羅したい</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このため，非常に多くの組み合わせを網羅できるように，シミュレーションを用いて検証を行います．</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また，大量のデータを収集するために，試行回数を稼ぎやすいシミュレーションソフトを用いて検証　使用するのはＭｕＪｏＣｏというブラックボックスシミュレーション</a:t>
            </a:r>
            <a:endParaRPr kumimoji="1" lang="en-US" altLang="ja-JP" dirty="0"/>
          </a:p>
          <a:p>
            <a:r>
              <a:rPr kumimoji="1" lang="ja-JP" altLang="en-US" dirty="0"/>
              <a:t>内部で起こっている事象のモデル解析ではなく，不整地を車両が走るという入力に対して，どのような結果（出力）が返ってくるのかだけを知りたいため，ブラックボックスシミュレーションを用いる</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6</a:t>
            </a:fld>
            <a:endParaRPr lang="en-US" altLang="ja-JP"/>
          </a:p>
        </p:txBody>
      </p:sp>
    </p:spTree>
    <p:extLst>
      <p:ext uri="{BB962C8B-B14F-4D97-AF65-F5344CB8AC3E}">
        <p14:creationId xmlns:p14="http://schemas.microsoft.com/office/powerpoint/2010/main" val="3730263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a:t>
            </a:r>
            <a:r>
              <a:rPr kumimoji="1" lang="en-US" altLang="ja-JP" dirty="0" err="1"/>
              <a:t>mujoco</a:t>
            </a:r>
            <a:r>
              <a:rPr kumimoji="1" lang="ja-JP" altLang="en-US" dirty="0"/>
              <a:t>というシミュレーションソフトを用いることにしました．</a:t>
            </a:r>
            <a:endParaRPr kumimoji="1" lang="en-US" altLang="ja-JP" dirty="0"/>
          </a:p>
          <a:p>
            <a:r>
              <a:rPr kumimoji="1" lang="en-US" altLang="ja-JP" dirty="0" err="1"/>
              <a:t>Mujoco</a:t>
            </a:r>
            <a:r>
              <a:rPr kumimoji="1" lang="ja-JP" altLang="en-US" dirty="0"/>
              <a:t>は物体の接触や干渉に特化したシミュレーションソフトです．また，今後多数のシミュレーションを行う関係上</a:t>
            </a:r>
            <a:endParaRPr kumimoji="1" lang="en-US" altLang="ja-JP" dirty="0"/>
          </a:p>
          <a:p>
            <a:r>
              <a:rPr kumimoji="1" lang="ja-JP" altLang="en-US" dirty="0"/>
              <a:t>シミュレーション全体を自動化する必要があるため，</a:t>
            </a:r>
            <a:r>
              <a:rPr kumimoji="1" lang="en-US" altLang="ja-JP" dirty="0"/>
              <a:t>python</a:t>
            </a:r>
            <a:r>
              <a:rPr kumimoji="1" lang="ja-JP" altLang="en-US" dirty="0"/>
              <a:t>と連携可能なことも</a:t>
            </a:r>
            <a:r>
              <a:rPr kumimoji="1" lang="en-US" altLang="ja-JP" dirty="0" err="1"/>
              <a:t>mujoco</a:t>
            </a:r>
            <a:r>
              <a:rPr kumimoji="1" lang="ja-JP" altLang="en-US" dirty="0"/>
              <a:t>の強みです</a:t>
            </a:r>
            <a:endParaRPr kumimoji="1" lang="en-US" altLang="ja-JP" dirty="0"/>
          </a:p>
          <a:p>
            <a:r>
              <a:rPr kumimoji="1" lang="ja-JP" altLang="en-US" dirty="0"/>
              <a:t>現在は数ある組み合わせの</a:t>
            </a:r>
            <a:r>
              <a:rPr kumimoji="1" lang="en-US" altLang="ja-JP" dirty="0"/>
              <a:t>1</a:t>
            </a:r>
            <a:r>
              <a:rPr kumimoji="1" lang="ja-JP" altLang="en-US" dirty="0"/>
              <a:t>つのパターンについてはシミュレーションを行うことができています．</a:t>
            </a:r>
            <a:endParaRPr kumimoji="1" lang="en-US" altLang="ja-JP" dirty="0"/>
          </a:p>
          <a:p>
            <a:endParaRPr kumimoji="1" lang="en-US" altLang="ja-JP" dirty="0"/>
          </a:p>
          <a:p>
            <a:r>
              <a:rPr kumimoji="1" lang="en-US" altLang="ja-JP" dirty="0" err="1"/>
              <a:t>Mujoco</a:t>
            </a:r>
            <a:r>
              <a:rPr kumimoji="1" lang="ja-JP" altLang="en-US" dirty="0"/>
              <a:t>は接触に特化したシミュレーションソフト</a:t>
            </a:r>
            <a:endParaRPr kumimoji="1" lang="en-US" altLang="ja-JP" dirty="0"/>
          </a:p>
          <a:p>
            <a:r>
              <a:rPr kumimoji="1" lang="en-US" altLang="ja-JP" dirty="0" err="1"/>
              <a:t>MuJoCo</a:t>
            </a:r>
            <a:r>
              <a:rPr kumimoji="1" lang="ja-JP" altLang="en-US" dirty="0"/>
              <a:t>についての簡単な説明を書く．選んだ理由は口頭でおけ</a:t>
            </a:r>
            <a:endParaRPr kumimoji="1" lang="en-US" altLang="ja-JP" dirty="0"/>
          </a:p>
          <a:p>
            <a:r>
              <a:rPr kumimoji="1" lang="en-US" altLang="ja-JP" dirty="0"/>
              <a:t>Python</a:t>
            </a:r>
            <a:r>
              <a:rPr kumimoji="1" lang="ja-JP" altLang="en-US" dirty="0"/>
              <a:t>と連携できる強みの理由　最終的に全自動化を考えているから</a:t>
            </a:r>
            <a:endParaRPr kumimoji="1" lang="en-US" altLang="ja-JP" dirty="0"/>
          </a:p>
          <a:p>
            <a:r>
              <a:rPr kumimoji="1" lang="ja-JP" altLang="en-US" dirty="0"/>
              <a:t>数あるうちの一つのパターンについてできていることをアピールする</a:t>
            </a:r>
            <a:endParaRPr kumimoji="1" lang="en-US" altLang="ja-JP" dirty="0"/>
          </a:p>
          <a:p>
            <a:r>
              <a:rPr kumimoji="1" lang="ja-JP" altLang="en-US" dirty="0"/>
              <a:t>グラフも入れる</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7</a:t>
            </a:fld>
            <a:endParaRPr lang="en-US" altLang="ja-JP"/>
          </a:p>
        </p:txBody>
      </p:sp>
    </p:spTree>
    <p:extLst>
      <p:ext uri="{BB962C8B-B14F-4D97-AF65-F5344CB8AC3E}">
        <p14:creationId xmlns:p14="http://schemas.microsoft.com/office/powerpoint/2010/main" val="3949378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少しだけ喋れそうなときは，研究目的と今後の展望について述べて終わる</a:t>
            </a:r>
            <a:endParaRPr kumimoji="1" lang="en-US" altLang="ja-JP" dirty="0"/>
          </a:p>
          <a:p>
            <a:r>
              <a:rPr kumimoji="1" lang="ja-JP" altLang="en-US" dirty="0"/>
              <a:t>時間が足りないときは，「これがまとめと今後の発表です．」として発表を終わる</a:t>
            </a:r>
            <a:endParaRPr kumimoji="1" lang="en-US" altLang="ja-JP" dirty="0"/>
          </a:p>
          <a:p>
            <a:r>
              <a:rPr kumimoji="1" lang="ja-JP" altLang="en-US" dirty="0"/>
              <a:t>終わりは，「これで本研究の発表を終わります．ありがとうございました．」とする</a:t>
            </a:r>
            <a:endParaRPr kumimoji="1" lang="en-US" altLang="ja-JP" dirty="0"/>
          </a:p>
          <a:p>
            <a:endParaRPr kumimoji="1" lang="en-US" altLang="ja-JP" dirty="0"/>
          </a:p>
          <a:p>
            <a:r>
              <a:rPr kumimoji="1" lang="ja-JP" altLang="en-US" dirty="0"/>
              <a:t>文字をでかくする</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8</a:t>
            </a:fld>
            <a:endParaRPr lang="en-US" altLang="ja-JP"/>
          </a:p>
        </p:txBody>
      </p:sp>
    </p:spTree>
    <p:extLst>
      <p:ext uri="{BB962C8B-B14F-4D97-AF65-F5344CB8AC3E}">
        <p14:creationId xmlns:p14="http://schemas.microsoft.com/office/powerpoint/2010/main" val="458043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17F7406B-228F-3A44-8E42-C07FA937DE1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12</a:t>
            </a:fld>
            <a:endParaRPr lang="en-US" altLang="ja-JP" i="0">
              <a:latin typeface="Times" pitchFamily="2" charset="0"/>
            </a:endParaRPr>
          </a:p>
        </p:txBody>
      </p:sp>
      <p:sp>
        <p:nvSpPr>
          <p:cNvPr id="8194" name="Rectangle 2">
            <a:extLst>
              <a:ext uri="{FF2B5EF4-FFF2-40B4-BE49-F238E27FC236}">
                <a16:creationId xmlns:a16="http://schemas.microsoft.com/office/drawing/2014/main" id="{9E9FB00C-BCBA-5F40-8E11-9E98AD41D352}"/>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01AE6E40-E10F-8B44-802E-8EE6326954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ja-JP" altLang="en-US" dirty="0">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13</a:t>
            </a:fld>
            <a:endParaRPr lang="en-US" altLang="ja-JP"/>
          </a:p>
        </p:txBody>
      </p:sp>
    </p:spTree>
    <p:extLst>
      <p:ext uri="{BB962C8B-B14F-4D97-AF65-F5344CB8AC3E}">
        <p14:creationId xmlns:p14="http://schemas.microsoft.com/office/powerpoint/2010/main" val="30072567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DB0A8DCB-8837-AA44-8B19-67A82A078622}"/>
              </a:ext>
            </a:extLst>
          </p:cNvPr>
          <p:cNvSpPr>
            <a:spLocks noChangeArrowheads="1"/>
          </p:cNvSpPr>
          <p:nvPr userDrawn="1"/>
        </p:nvSpPr>
        <p:spPr bwMode="auto">
          <a:xfrm>
            <a:off x="0" y="6538913"/>
            <a:ext cx="12192000" cy="317500"/>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3" name="Text Box 45">
            <a:extLst>
              <a:ext uri="{FF2B5EF4-FFF2-40B4-BE49-F238E27FC236}">
                <a16:creationId xmlns:a16="http://schemas.microsoft.com/office/drawing/2014/main" id="{9CD4A681-2507-D948-8BFE-EAC06447273B}"/>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pic>
        <p:nvPicPr>
          <p:cNvPr id="4" name="Picture 56" descr="HUS_SH_Color">
            <a:extLst>
              <a:ext uri="{FF2B5EF4-FFF2-40B4-BE49-F238E27FC236}">
                <a16:creationId xmlns:a16="http://schemas.microsoft.com/office/drawing/2014/main" id="{06F97475-FA5A-474F-A9AD-03C043BF09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27401" y="5340350"/>
            <a:ext cx="4798484"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5043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Tree>
    <p:extLst>
      <p:ext uri="{BB962C8B-B14F-4D97-AF65-F5344CB8AC3E}">
        <p14:creationId xmlns:p14="http://schemas.microsoft.com/office/powerpoint/2010/main" val="261507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71043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extLst>
      <p:ext uri="{BB962C8B-B14F-4D97-AF65-F5344CB8AC3E}">
        <p14:creationId xmlns:p14="http://schemas.microsoft.com/office/powerpoint/2010/main" val="22684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9144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95863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274638"/>
            <a:ext cx="10972800" cy="1143000"/>
          </a:xfr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483231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350260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104632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58176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452428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686800" y="152400"/>
            <a:ext cx="2590800" cy="5943600"/>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914400" y="152400"/>
            <a:ext cx="7569200" cy="59436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2219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a:extLst>
              <a:ext uri="{FF2B5EF4-FFF2-40B4-BE49-F238E27FC236}">
                <a16:creationId xmlns:a16="http://schemas.microsoft.com/office/drawing/2014/main" id="{F344F1B7-7C42-5D4C-B55C-7065D9B6410A}"/>
              </a:ext>
            </a:extLst>
          </p:cNvPr>
          <p:cNvSpPr>
            <a:spLocks noChangeArrowheads="1"/>
          </p:cNvSpPr>
          <p:nvPr userDrawn="1"/>
        </p:nvSpPr>
        <p:spPr bwMode="auto">
          <a:xfrm>
            <a:off x="0" y="6538914"/>
            <a:ext cx="12192000" cy="319087"/>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ctr">
              <a:defRPr/>
            </a:pPr>
            <a:endParaRPr lang="ja-JP" altLang="en-US" sz="1200" i="0"/>
          </a:p>
        </p:txBody>
      </p:sp>
      <p:pic>
        <p:nvPicPr>
          <p:cNvPr id="1027" name="Picture 17" descr="TopBar">
            <a:extLst>
              <a:ext uri="{FF2B5EF4-FFF2-40B4-BE49-F238E27FC236}">
                <a16:creationId xmlns:a16="http://schemas.microsoft.com/office/drawing/2014/main" id="{FF4838CD-9835-3B42-A54C-9E68C2642E9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1920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
            <a:extLst>
              <a:ext uri="{FF2B5EF4-FFF2-40B4-BE49-F238E27FC236}">
                <a16:creationId xmlns:a16="http://schemas.microsoft.com/office/drawing/2014/main" id="{63559436-3DAE-C346-9D1C-6A1330C0FF23}"/>
              </a:ext>
            </a:extLst>
          </p:cNvPr>
          <p:cNvSpPr>
            <a:spLocks noGrp="1" noChangeArrowheads="1"/>
          </p:cNvSpPr>
          <p:nvPr>
            <p:ph type="body" idx="1"/>
          </p:nvPr>
        </p:nvSpPr>
        <p:spPr bwMode="auto">
          <a:xfrm>
            <a:off x="867833" y="1435101"/>
            <a:ext cx="10447867"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ja-JP" altLang="en-US"/>
              <a:t>マスタ</a:t>
            </a:r>
            <a:r>
              <a:rPr lang="en-US" altLang="ja-JP"/>
              <a:t> </a:t>
            </a:r>
            <a:r>
              <a:rPr lang="ja-JP" altLang="en-US"/>
              <a:t>テキストの書式設定</a:t>
            </a:r>
            <a:endParaRPr lang="en-US" altLang="ja-JP"/>
          </a:p>
          <a:p>
            <a:pPr lvl="1"/>
            <a:r>
              <a:rPr lang="ja-JP" altLang="en-US"/>
              <a:t>第</a:t>
            </a:r>
            <a:r>
              <a:rPr lang="en-US" altLang="ja-JP"/>
              <a:t> 2 </a:t>
            </a:r>
            <a:r>
              <a:rPr lang="ja-JP" altLang="en-US"/>
              <a:t>レベル</a:t>
            </a:r>
            <a:endParaRPr lang="en-US" altLang="ja-JP"/>
          </a:p>
          <a:p>
            <a:pPr lvl="2"/>
            <a:r>
              <a:rPr lang="ja-JP" altLang="en-US"/>
              <a:t>第</a:t>
            </a:r>
            <a:r>
              <a:rPr lang="en-US" altLang="ja-JP"/>
              <a:t> 3 </a:t>
            </a:r>
            <a:r>
              <a:rPr lang="ja-JP" altLang="en-US"/>
              <a:t>レベル</a:t>
            </a:r>
            <a:endParaRPr lang="en-US" altLang="ja-JP"/>
          </a:p>
          <a:p>
            <a:pPr lvl="3"/>
            <a:r>
              <a:rPr lang="ja-JP" altLang="en-US"/>
              <a:t>第</a:t>
            </a:r>
            <a:r>
              <a:rPr lang="en-US" altLang="ja-JP"/>
              <a:t> 4 </a:t>
            </a:r>
            <a:r>
              <a:rPr lang="ja-JP" altLang="en-US"/>
              <a:t>レベル</a:t>
            </a:r>
            <a:endParaRPr lang="en-US" altLang="ja-JP"/>
          </a:p>
          <a:p>
            <a:pPr lvl="4"/>
            <a:r>
              <a:rPr lang="ja-JP" altLang="en-US"/>
              <a:t>第</a:t>
            </a:r>
            <a:r>
              <a:rPr lang="en-US" altLang="ja-JP"/>
              <a:t> 5 </a:t>
            </a:r>
            <a:r>
              <a:rPr lang="ja-JP" altLang="en-US"/>
              <a:t>レベル</a:t>
            </a:r>
            <a:endParaRPr lang="en-US" altLang="ja-JP"/>
          </a:p>
        </p:txBody>
      </p:sp>
      <p:sp>
        <p:nvSpPr>
          <p:cNvPr id="1029" name="Rectangle 25">
            <a:extLst>
              <a:ext uri="{FF2B5EF4-FFF2-40B4-BE49-F238E27FC236}">
                <a16:creationId xmlns:a16="http://schemas.microsoft.com/office/drawing/2014/main" id="{389D8CEA-3D5C-934A-BB7E-2BED31B1C438}"/>
              </a:ext>
            </a:extLst>
          </p:cNvPr>
          <p:cNvSpPr>
            <a:spLocks noGrp="1" noChangeArrowheads="1"/>
          </p:cNvSpPr>
          <p:nvPr>
            <p:ph type="title"/>
          </p:nvPr>
        </p:nvSpPr>
        <p:spPr bwMode="auto">
          <a:xfrm>
            <a:off x="867833" y="330200"/>
            <a:ext cx="1044786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ja-JP" altLang="en-US"/>
              <a:t>マスタ</a:t>
            </a:r>
            <a:r>
              <a:rPr lang="en-US" altLang="ja-JP" dirty="0"/>
              <a:t> </a:t>
            </a:r>
            <a:r>
              <a:rPr lang="ja-JP" altLang="en-US"/>
              <a:t>タイトルの書式設定</a:t>
            </a:r>
            <a:endParaRPr lang="en-US" altLang="ja-JP" dirty="0"/>
          </a:p>
        </p:txBody>
      </p:sp>
      <p:sp>
        <p:nvSpPr>
          <p:cNvPr id="1030" name="Rectangle 34">
            <a:extLst>
              <a:ext uri="{FF2B5EF4-FFF2-40B4-BE49-F238E27FC236}">
                <a16:creationId xmlns:a16="http://schemas.microsoft.com/office/drawing/2014/main" id="{A8AE3897-8F22-604F-ACF3-D874BBB69AC3}"/>
              </a:ext>
            </a:extLst>
          </p:cNvPr>
          <p:cNvSpPr>
            <a:spLocks noChangeArrowheads="1"/>
          </p:cNvSpPr>
          <p:nvPr userDrawn="1"/>
        </p:nvSpPr>
        <p:spPr bwMode="auto">
          <a:xfrm>
            <a:off x="11379200" y="6553200"/>
            <a:ext cx="609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lgn="r" eaLnBrk="1" hangingPunct="1">
              <a:defRPr/>
            </a:pPr>
            <a:fld id="{A99629CA-AE9C-AD4C-9B90-1C8C7A36BB56}" type="slidenum">
              <a:rPr kumimoji="1" lang="en-US" altLang="ja-JP" sz="1000" i="0" smtClean="0">
                <a:solidFill>
                  <a:schemeClr val="bg1"/>
                </a:solidFill>
                <a:latin typeface="Arial" charset="0"/>
              </a:rPr>
              <a:pPr algn="r" eaLnBrk="1" hangingPunct="1">
                <a:defRPr/>
              </a:pPr>
              <a:t>‹#›</a:t>
            </a:fld>
            <a:endParaRPr kumimoji="1" lang="en-US" altLang="ja-JP" sz="1000" i="0">
              <a:solidFill>
                <a:schemeClr val="bg1"/>
              </a:solidFill>
              <a:latin typeface="Arial" charset="0"/>
            </a:endParaRPr>
          </a:p>
        </p:txBody>
      </p:sp>
      <p:sp>
        <p:nvSpPr>
          <p:cNvPr id="1031" name="Text Box 20">
            <a:extLst>
              <a:ext uri="{FF2B5EF4-FFF2-40B4-BE49-F238E27FC236}">
                <a16:creationId xmlns:a16="http://schemas.microsoft.com/office/drawing/2014/main" id="{D9EF32B9-69A1-DB48-8670-9C676BBDD250}"/>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sp>
        <p:nvSpPr>
          <p:cNvPr id="1032" name="Rectangle 23">
            <a:extLst>
              <a:ext uri="{FF2B5EF4-FFF2-40B4-BE49-F238E27FC236}">
                <a16:creationId xmlns:a16="http://schemas.microsoft.com/office/drawing/2014/main" id="{D36D9B91-974E-1A4E-B2F7-BFEC752096FE}"/>
              </a:ext>
            </a:extLst>
          </p:cNvPr>
          <p:cNvSpPr>
            <a:spLocks noChangeArrowheads="1"/>
          </p:cNvSpPr>
          <p:nvPr userDrawn="1"/>
        </p:nvSpPr>
        <p:spPr bwMode="auto">
          <a:xfrm>
            <a:off x="10888134" y="6538914"/>
            <a:ext cx="427567"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3" name="Rectangle 24">
            <a:extLst>
              <a:ext uri="{FF2B5EF4-FFF2-40B4-BE49-F238E27FC236}">
                <a16:creationId xmlns:a16="http://schemas.microsoft.com/office/drawing/2014/main" id="{C4DD7468-7F99-3E43-9BD5-BA8803838881}"/>
              </a:ext>
            </a:extLst>
          </p:cNvPr>
          <p:cNvSpPr>
            <a:spLocks noChangeArrowheads="1"/>
          </p:cNvSpPr>
          <p:nvPr userDrawn="1"/>
        </p:nvSpPr>
        <p:spPr bwMode="auto">
          <a:xfrm>
            <a:off x="12031133" y="6538914"/>
            <a:ext cx="160867" cy="319087"/>
          </a:xfrm>
          <a:prstGeom prst="rect">
            <a:avLst/>
          </a:prstGeom>
          <a:solidFill>
            <a:srgbClr val="5063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4" name="Rectangle 25">
            <a:extLst>
              <a:ext uri="{FF2B5EF4-FFF2-40B4-BE49-F238E27FC236}">
                <a16:creationId xmlns:a16="http://schemas.microsoft.com/office/drawing/2014/main" id="{D496687F-0E5A-F540-AB21-10D916553ADB}"/>
              </a:ext>
            </a:extLst>
          </p:cNvPr>
          <p:cNvSpPr>
            <a:spLocks noChangeArrowheads="1"/>
          </p:cNvSpPr>
          <p:nvPr userDrawn="1"/>
        </p:nvSpPr>
        <p:spPr bwMode="auto">
          <a:xfrm>
            <a:off x="10947401" y="6538914"/>
            <a:ext cx="80433" cy="319087"/>
          </a:xfrm>
          <a:prstGeom prst="rect">
            <a:avLst/>
          </a:prstGeom>
          <a:solidFill>
            <a:srgbClr val="E5005A"/>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5" name="Rectangle 26">
            <a:extLst>
              <a:ext uri="{FF2B5EF4-FFF2-40B4-BE49-F238E27FC236}">
                <a16:creationId xmlns:a16="http://schemas.microsoft.com/office/drawing/2014/main" id="{776164EF-8824-A940-B4A6-602D2BE419ED}"/>
              </a:ext>
            </a:extLst>
          </p:cNvPr>
          <p:cNvSpPr>
            <a:spLocks noChangeArrowheads="1"/>
          </p:cNvSpPr>
          <p:nvPr userDrawn="1"/>
        </p:nvSpPr>
        <p:spPr bwMode="auto">
          <a:xfrm>
            <a:off x="10608734" y="6538914"/>
            <a:ext cx="283633" cy="319087"/>
          </a:xfrm>
          <a:prstGeom prst="rect">
            <a:avLst/>
          </a:prstGeom>
          <a:solidFill>
            <a:srgbClr val="00B9E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6" name="Rectangle 27">
            <a:extLst>
              <a:ext uri="{FF2B5EF4-FFF2-40B4-BE49-F238E27FC236}">
                <a16:creationId xmlns:a16="http://schemas.microsoft.com/office/drawing/2014/main" id="{30C270E6-BC4F-AA4E-9C86-8F2E26B57A3E}"/>
              </a:ext>
            </a:extLst>
          </p:cNvPr>
          <p:cNvSpPr>
            <a:spLocks noChangeArrowheads="1"/>
          </p:cNvSpPr>
          <p:nvPr userDrawn="1"/>
        </p:nvSpPr>
        <p:spPr bwMode="auto">
          <a:xfrm>
            <a:off x="10687051" y="6538914"/>
            <a:ext cx="57149" cy="319087"/>
          </a:xfrm>
          <a:prstGeom prst="rect">
            <a:avLst/>
          </a:prstGeom>
          <a:solidFill>
            <a:srgbClr val="EC6D81"/>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7" name="Rectangle 28">
            <a:extLst>
              <a:ext uri="{FF2B5EF4-FFF2-40B4-BE49-F238E27FC236}">
                <a16:creationId xmlns:a16="http://schemas.microsoft.com/office/drawing/2014/main" id="{91FBDF80-03C5-4547-8DA4-9B0E5473CA99}"/>
              </a:ext>
            </a:extLst>
          </p:cNvPr>
          <p:cNvSpPr>
            <a:spLocks noChangeArrowheads="1"/>
          </p:cNvSpPr>
          <p:nvPr userDrawn="1"/>
        </p:nvSpPr>
        <p:spPr bwMode="auto">
          <a:xfrm>
            <a:off x="10204452" y="6538914"/>
            <a:ext cx="196849"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8" name="Rectangle 29">
            <a:extLst>
              <a:ext uri="{FF2B5EF4-FFF2-40B4-BE49-F238E27FC236}">
                <a16:creationId xmlns:a16="http://schemas.microsoft.com/office/drawing/2014/main" id="{645329F5-1A93-094A-8DB7-EE7BF2206FB0}"/>
              </a:ext>
            </a:extLst>
          </p:cNvPr>
          <p:cNvSpPr>
            <a:spLocks noChangeArrowheads="1"/>
          </p:cNvSpPr>
          <p:nvPr userDrawn="1"/>
        </p:nvSpPr>
        <p:spPr bwMode="auto">
          <a:xfrm>
            <a:off x="10576984" y="6538914"/>
            <a:ext cx="57149"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9" name="Rectangle 31">
            <a:extLst>
              <a:ext uri="{FF2B5EF4-FFF2-40B4-BE49-F238E27FC236}">
                <a16:creationId xmlns:a16="http://schemas.microsoft.com/office/drawing/2014/main" id="{A00135D7-D610-B948-BF30-3734846142DF}"/>
              </a:ext>
            </a:extLst>
          </p:cNvPr>
          <p:cNvSpPr>
            <a:spLocks noChangeArrowheads="1"/>
          </p:cNvSpPr>
          <p:nvPr userDrawn="1"/>
        </p:nvSpPr>
        <p:spPr bwMode="auto">
          <a:xfrm>
            <a:off x="10071101" y="6538914"/>
            <a:ext cx="139700" cy="319087"/>
          </a:xfrm>
          <a:prstGeom prst="rect">
            <a:avLst/>
          </a:prstGeom>
          <a:solidFill>
            <a:srgbClr val="14A73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0" name="Rectangle 32">
            <a:extLst>
              <a:ext uri="{FF2B5EF4-FFF2-40B4-BE49-F238E27FC236}">
                <a16:creationId xmlns:a16="http://schemas.microsoft.com/office/drawing/2014/main" id="{A8359E1A-0B8F-AF45-99B5-9C2DD03E7449}"/>
              </a:ext>
            </a:extLst>
          </p:cNvPr>
          <p:cNvSpPr>
            <a:spLocks noChangeArrowheads="1"/>
          </p:cNvSpPr>
          <p:nvPr userDrawn="1"/>
        </p:nvSpPr>
        <p:spPr bwMode="auto">
          <a:xfrm>
            <a:off x="10026651" y="6538914"/>
            <a:ext cx="63500" cy="319087"/>
          </a:xfrm>
          <a:prstGeom prst="rect">
            <a:avLst/>
          </a:prstGeom>
          <a:solidFill>
            <a:srgbClr val="5DB7E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1" name="Rectangle 33">
            <a:extLst>
              <a:ext uri="{FF2B5EF4-FFF2-40B4-BE49-F238E27FC236}">
                <a16:creationId xmlns:a16="http://schemas.microsoft.com/office/drawing/2014/main" id="{271525D1-2023-7942-B61E-62BA817F0FAB}"/>
              </a:ext>
            </a:extLst>
          </p:cNvPr>
          <p:cNvSpPr>
            <a:spLocks noChangeArrowheads="1"/>
          </p:cNvSpPr>
          <p:nvPr userDrawn="1"/>
        </p:nvSpPr>
        <p:spPr bwMode="auto">
          <a:xfrm>
            <a:off x="9891185" y="6538914"/>
            <a:ext cx="139700" cy="319087"/>
          </a:xfrm>
          <a:prstGeom prst="rect">
            <a:avLst/>
          </a:prstGeom>
          <a:solidFill>
            <a:srgbClr val="A4001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2" name="Rectangle 34">
            <a:extLst>
              <a:ext uri="{FF2B5EF4-FFF2-40B4-BE49-F238E27FC236}">
                <a16:creationId xmlns:a16="http://schemas.microsoft.com/office/drawing/2014/main" id="{71753C7F-D4C3-754B-B54A-67104A2086BC}"/>
              </a:ext>
            </a:extLst>
          </p:cNvPr>
          <p:cNvSpPr>
            <a:spLocks noChangeArrowheads="1"/>
          </p:cNvSpPr>
          <p:nvPr userDrawn="1"/>
        </p:nvSpPr>
        <p:spPr bwMode="auto">
          <a:xfrm>
            <a:off x="9575800" y="6538914"/>
            <a:ext cx="211667" cy="319087"/>
          </a:xfrm>
          <a:prstGeom prst="rect">
            <a:avLst/>
          </a:prstGeom>
          <a:solidFill>
            <a:srgbClr val="B863A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3" name="Rectangle 35">
            <a:extLst>
              <a:ext uri="{FF2B5EF4-FFF2-40B4-BE49-F238E27FC236}">
                <a16:creationId xmlns:a16="http://schemas.microsoft.com/office/drawing/2014/main" id="{5671A5F1-4CCB-BE46-9A32-D1D889164DA6}"/>
              </a:ext>
            </a:extLst>
          </p:cNvPr>
          <p:cNvSpPr>
            <a:spLocks noChangeArrowheads="1"/>
          </p:cNvSpPr>
          <p:nvPr userDrawn="1"/>
        </p:nvSpPr>
        <p:spPr bwMode="auto">
          <a:xfrm>
            <a:off x="9495367" y="6538914"/>
            <a:ext cx="88900" cy="319087"/>
          </a:xfrm>
          <a:prstGeom prst="rect">
            <a:avLst/>
          </a:prstGeom>
          <a:solidFill>
            <a:srgbClr val="598F35"/>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4" name="Rectangle 36">
            <a:extLst>
              <a:ext uri="{FF2B5EF4-FFF2-40B4-BE49-F238E27FC236}">
                <a16:creationId xmlns:a16="http://schemas.microsoft.com/office/drawing/2014/main" id="{CFEF8CC8-58DD-8347-9EDC-36A6D5E794FD}"/>
              </a:ext>
            </a:extLst>
          </p:cNvPr>
          <p:cNvSpPr>
            <a:spLocks noChangeArrowheads="1"/>
          </p:cNvSpPr>
          <p:nvPr userDrawn="1"/>
        </p:nvSpPr>
        <p:spPr bwMode="auto">
          <a:xfrm>
            <a:off x="9438218" y="6538914"/>
            <a:ext cx="57149" cy="319087"/>
          </a:xfrm>
          <a:prstGeom prst="rect">
            <a:avLst/>
          </a:prstGeom>
          <a:solidFill>
            <a:srgbClr val="00642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5" name="Rectangle 37">
            <a:extLst>
              <a:ext uri="{FF2B5EF4-FFF2-40B4-BE49-F238E27FC236}">
                <a16:creationId xmlns:a16="http://schemas.microsoft.com/office/drawing/2014/main" id="{A2E9CB85-2D75-F54F-923F-75D7E55D2C2F}"/>
              </a:ext>
            </a:extLst>
          </p:cNvPr>
          <p:cNvSpPr>
            <a:spLocks noChangeArrowheads="1"/>
          </p:cNvSpPr>
          <p:nvPr userDrawn="1"/>
        </p:nvSpPr>
        <p:spPr bwMode="auto">
          <a:xfrm>
            <a:off x="9309101" y="6538914"/>
            <a:ext cx="139700" cy="319087"/>
          </a:xfrm>
          <a:prstGeom prst="rect">
            <a:avLst/>
          </a:prstGeom>
          <a:solidFill>
            <a:srgbClr val="C3D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6" name="Rectangle 38">
            <a:extLst>
              <a:ext uri="{FF2B5EF4-FFF2-40B4-BE49-F238E27FC236}">
                <a16:creationId xmlns:a16="http://schemas.microsoft.com/office/drawing/2014/main" id="{BC62E006-87AE-6844-B685-DC0FFDEB8363}"/>
              </a:ext>
            </a:extLst>
          </p:cNvPr>
          <p:cNvSpPr>
            <a:spLocks noChangeArrowheads="1"/>
          </p:cNvSpPr>
          <p:nvPr userDrawn="1"/>
        </p:nvSpPr>
        <p:spPr bwMode="auto">
          <a:xfrm>
            <a:off x="9169401" y="6538914"/>
            <a:ext cx="139700" cy="319087"/>
          </a:xfrm>
          <a:prstGeom prst="rect">
            <a:avLst/>
          </a:prstGeom>
          <a:solidFill>
            <a:srgbClr val="36407B"/>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7" name="Rectangle 39">
            <a:extLst>
              <a:ext uri="{FF2B5EF4-FFF2-40B4-BE49-F238E27FC236}">
                <a16:creationId xmlns:a16="http://schemas.microsoft.com/office/drawing/2014/main" id="{3C6EAACA-1570-0447-ACC0-3E0ECC26F199}"/>
              </a:ext>
            </a:extLst>
          </p:cNvPr>
          <p:cNvSpPr>
            <a:spLocks noChangeArrowheads="1"/>
          </p:cNvSpPr>
          <p:nvPr userDrawn="1"/>
        </p:nvSpPr>
        <p:spPr bwMode="auto">
          <a:xfrm>
            <a:off x="9108018" y="6538914"/>
            <a:ext cx="69849" cy="319087"/>
          </a:xfrm>
          <a:prstGeom prst="rect">
            <a:avLst/>
          </a:prstGeom>
          <a:solidFill>
            <a:srgbClr val="FFF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8" name="Rectangle 40">
            <a:extLst>
              <a:ext uri="{FF2B5EF4-FFF2-40B4-BE49-F238E27FC236}">
                <a16:creationId xmlns:a16="http://schemas.microsoft.com/office/drawing/2014/main" id="{AE03D2C4-E9C9-5749-8C4E-384D2D4A1E5E}"/>
              </a:ext>
            </a:extLst>
          </p:cNvPr>
          <p:cNvSpPr>
            <a:spLocks noChangeArrowheads="1"/>
          </p:cNvSpPr>
          <p:nvPr userDrawn="1"/>
        </p:nvSpPr>
        <p:spPr bwMode="auto">
          <a:xfrm>
            <a:off x="8771467" y="6538914"/>
            <a:ext cx="57151" cy="319087"/>
          </a:xfrm>
          <a:prstGeom prst="rect">
            <a:avLst/>
          </a:prstGeom>
          <a:solidFill>
            <a:srgbClr val="FDD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9" name="Rectangle 41">
            <a:extLst>
              <a:ext uri="{FF2B5EF4-FFF2-40B4-BE49-F238E27FC236}">
                <a16:creationId xmlns:a16="http://schemas.microsoft.com/office/drawing/2014/main" id="{61191F66-2C36-C649-8169-497D075AB78F}"/>
              </a:ext>
            </a:extLst>
          </p:cNvPr>
          <p:cNvSpPr>
            <a:spLocks noChangeArrowheads="1"/>
          </p:cNvSpPr>
          <p:nvPr userDrawn="1"/>
        </p:nvSpPr>
        <p:spPr bwMode="auto">
          <a:xfrm>
            <a:off x="8970434" y="6538914"/>
            <a:ext cx="139700"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0" name="Rectangle 42">
            <a:extLst>
              <a:ext uri="{FF2B5EF4-FFF2-40B4-BE49-F238E27FC236}">
                <a16:creationId xmlns:a16="http://schemas.microsoft.com/office/drawing/2014/main" id="{3DA6D410-AF6E-1743-830F-1881FD7BCB9D}"/>
              </a:ext>
            </a:extLst>
          </p:cNvPr>
          <p:cNvSpPr>
            <a:spLocks noChangeArrowheads="1"/>
          </p:cNvSpPr>
          <p:nvPr userDrawn="1"/>
        </p:nvSpPr>
        <p:spPr bwMode="auto">
          <a:xfrm>
            <a:off x="8921751" y="6538914"/>
            <a:ext cx="57149" cy="319087"/>
          </a:xfrm>
          <a:prstGeom prst="rect">
            <a:avLst/>
          </a:prstGeom>
          <a:solidFill>
            <a:srgbClr val="23B8B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1" name="Rectangle 43">
            <a:extLst>
              <a:ext uri="{FF2B5EF4-FFF2-40B4-BE49-F238E27FC236}">
                <a16:creationId xmlns:a16="http://schemas.microsoft.com/office/drawing/2014/main" id="{0B6E51A2-5C77-954D-B14A-0C1B57810551}"/>
              </a:ext>
            </a:extLst>
          </p:cNvPr>
          <p:cNvSpPr>
            <a:spLocks noChangeArrowheads="1"/>
          </p:cNvSpPr>
          <p:nvPr userDrawn="1"/>
        </p:nvSpPr>
        <p:spPr bwMode="auto">
          <a:xfrm>
            <a:off x="8640234" y="6538914"/>
            <a:ext cx="139700" cy="319087"/>
          </a:xfrm>
          <a:prstGeom prst="rect">
            <a:avLst/>
          </a:prstGeom>
          <a:solidFill>
            <a:srgbClr val="8847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2" name="Rectangle 44">
            <a:extLst>
              <a:ext uri="{FF2B5EF4-FFF2-40B4-BE49-F238E27FC236}">
                <a16:creationId xmlns:a16="http://schemas.microsoft.com/office/drawing/2014/main" id="{57CADA32-EFEB-9D42-8131-63F2E52994B6}"/>
              </a:ext>
            </a:extLst>
          </p:cNvPr>
          <p:cNvSpPr>
            <a:spLocks noChangeArrowheads="1"/>
          </p:cNvSpPr>
          <p:nvPr userDrawn="1"/>
        </p:nvSpPr>
        <p:spPr bwMode="auto">
          <a:xfrm>
            <a:off x="8502651" y="6538914"/>
            <a:ext cx="74083" cy="319087"/>
          </a:xfrm>
          <a:prstGeom prst="rect">
            <a:avLst/>
          </a:prstGeom>
          <a:solidFill>
            <a:srgbClr val="584A4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3" name="Rectangle 45">
            <a:extLst>
              <a:ext uri="{FF2B5EF4-FFF2-40B4-BE49-F238E27FC236}">
                <a16:creationId xmlns:a16="http://schemas.microsoft.com/office/drawing/2014/main" id="{4166E70F-E677-E54A-B0F5-BA1A51FDC871}"/>
              </a:ext>
            </a:extLst>
          </p:cNvPr>
          <p:cNvSpPr>
            <a:spLocks noChangeArrowheads="1"/>
          </p:cNvSpPr>
          <p:nvPr userDrawn="1"/>
        </p:nvSpPr>
        <p:spPr bwMode="auto">
          <a:xfrm>
            <a:off x="8445500" y="6538914"/>
            <a:ext cx="67733"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4" name="Rectangle 46">
            <a:extLst>
              <a:ext uri="{FF2B5EF4-FFF2-40B4-BE49-F238E27FC236}">
                <a16:creationId xmlns:a16="http://schemas.microsoft.com/office/drawing/2014/main" id="{04972545-8AC9-594A-9DAB-5DCFC6D209F6}"/>
              </a:ext>
            </a:extLst>
          </p:cNvPr>
          <p:cNvSpPr>
            <a:spLocks noChangeArrowheads="1"/>
          </p:cNvSpPr>
          <p:nvPr userDrawn="1"/>
        </p:nvSpPr>
        <p:spPr bwMode="auto">
          <a:xfrm>
            <a:off x="8339667" y="6538914"/>
            <a:ext cx="57151"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5" name="Rectangle 47">
            <a:extLst>
              <a:ext uri="{FF2B5EF4-FFF2-40B4-BE49-F238E27FC236}">
                <a16:creationId xmlns:a16="http://schemas.microsoft.com/office/drawing/2014/main" id="{5002826A-63B8-474F-BFEE-905AE9A54A7A}"/>
              </a:ext>
            </a:extLst>
          </p:cNvPr>
          <p:cNvSpPr>
            <a:spLocks noChangeArrowheads="1"/>
          </p:cNvSpPr>
          <p:nvPr userDrawn="1"/>
        </p:nvSpPr>
        <p:spPr bwMode="auto">
          <a:xfrm>
            <a:off x="8390467" y="6538914"/>
            <a:ext cx="57151"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Tree>
  </p:cSld>
  <p:clrMap bg1="lt1" tx1="dk1" bg2="lt2" tx2="dk2" accent1="accent1" accent2="accent2" accent3="accent3" accent4="accent4" accent5="accent5" accent6="accent6" hlink="hlink" folHlink="folHlink"/>
  <p:sldLayoutIdLst>
    <p:sldLayoutId id="2147483725"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0" fontAlgn="base" hangingPunct="0">
        <a:spcBef>
          <a:spcPct val="0"/>
        </a:spcBef>
        <a:spcAft>
          <a:spcPct val="0"/>
        </a:spcAft>
        <a:defRPr kumimoji="1" sz="28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2pPr>
      <a:lvl3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3pPr>
      <a:lvl4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4pPr>
      <a:lvl5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5pPr>
      <a:lvl6pPr marL="457200" algn="l" rtl="0" eaLnBrk="0" fontAlgn="base" hangingPunct="0">
        <a:spcBef>
          <a:spcPct val="0"/>
        </a:spcBef>
        <a:spcAft>
          <a:spcPct val="0"/>
        </a:spcAft>
        <a:defRPr sz="2400">
          <a:solidFill>
            <a:schemeClr val="tx1"/>
          </a:solidFill>
          <a:latin typeface="Times" charset="0"/>
          <a:ea typeface="ＭＳ Ｐゴシック" charset="-128"/>
        </a:defRPr>
      </a:lvl6pPr>
      <a:lvl7pPr marL="914400" algn="l" rtl="0" eaLnBrk="0" fontAlgn="base" hangingPunct="0">
        <a:spcBef>
          <a:spcPct val="0"/>
        </a:spcBef>
        <a:spcAft>
          <a:spcPct val="0"/>
        </a:spcAft>
        <a:defRPr sz="2400">
          <a:solidFill>
            <a:schemeClr val="tx1"/>
          </a:solidFill>
          <a:latin typeface="Times" charset="0"/>
          <a:ea typeface="ＭＳ Ｐゴシック" charset="-128"/>
        </a:defRPr>
      </a:lvl7pPr>
      <a:lvl8pPr marL="1371600" algn="l" rtl="0" eaLnBrk="0" fontAlgn="base" hangingPunct="0">
        <a:spcBef>
          <a:spcPct val="0"/>
        </a:spcBef>
        <a:spcAft>
          <a:spcPct val="0"/>
        </a:spcAft>
        <a:defRPr sz="2400">
          <a:solidFill>
            <a:schemeClr val="tx1"/>
          </a:solidFill>
          <a:latin typeface="Times" charset="0"/>
          <a:ea typeface="ＭＳ Ｐゴシック" charset="-128"/>
        </a:defRPr>
      </a:lvl8pPr>
      <a:lvl9pPr marL="1828800" algn="l" rtl="0" eaLnBrk="0" fontAlgn="base" hangingPunct="0">
        <a:spcBef>
          <a:spcPct val="0"/>
        </a:spcBef>
        <a:spcAft>
          <a:spcPct val="0"/>
        </a:spcAft>
        <a:defRPr sz="2400">
          <a:solidFill>
            <a:schemeClr val="tx1"/>
          </a:solidFill>
          <a:latin typeface="Times" charset="0"/>
          <a:ea typeface="ＭＳ Ｐゴシック" charset="-128"/>
        </a:defRPr>
      </a:lvl9pPr>
    </p:titleStyle>
    <p:bodyStyle>
      <a:lvl1pPr marL="342900" indent="-3429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marL="742950" indent="-28575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2pPr>
      <a:lvl3pPr marL="11430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3pPr>
      <a:lvl4pPr marL="16002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4pPr>
      <a:lvl5pPr marL="20574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5pPr>
      <a:lvl6pPr marL="2514600" indent="-228600" algn="l" rtl="0" eaLnBrk="0" fontAlgn="base" hangingPunct="0">
        <a:spcBef>
          <a:spcPct val="20000"/>
        </a:spcBef>
        <a:spcAft>
          <a:spcPct val="0"/>
        </a:spcAft>
        <a:buChar char="»"/>
        <a:defRPr>
          <a:solidFill>
            <a:schemeClr val="tx1"/>
          </a:solidFill>
          <a:latin typeface="+mn-lt"/>
          <a:ea typeface="+mn-ea"/>
        </a:defRPr>
      </a:lvl6pPr>
      <a:lvl7pPr marL="2971800" indent="-228600" algn="l" rtl="0" eaLnBrk="0" fontAlgn="base" hangingPunct="0">
        <a:spcBef>
          <a:spcPct val="20000"/>
        </a:spcBef>
        <a:spcAft>
          <a:spcPct val="0"/>
        </a:spcAft>
        <a:buChar char="»"/>
        <a:defRPr>
          <a:solidFill>
            <a:schemeClr val="tx1"/>
          </a:solidFill>
          <a:latin typeface="+mn-lt"/>
          <a:ea typeface="+mn-ea"/>
        </a:defRPr>
      </a:lvl7pPr>
      <a:lvl8pPr marL="3429000" indent="-228600" algn="l" rtl="0" eaLnBrk="0" fontAlgn="base" hangingPunct="0">
        <a:spcBef>
          <a:spcPct val="20000"/>
        </a:spcBef>
        <a:spcAft>
          <a:spcPct val="0"/>
        </a:spcAft>
        <a:buChar char="»"/>
        <a:defRPr>
          <a:solidFill>
            <a:schemeClr val="tx1"/>
          </a:solidFill>
          <a:latin typeface="+mn-lt"/>
          <a:ea typeface="+mn-ea"/>
        </a:defRPr>
      </a:lvl8pPr>
      <a:lvl9pPr marL="3886200" indent="-228600" algn="l" rtl="0" eaLnBrk="0" fontAlgn="base" hangingPunct="0">
        <a:spcBef>
          <a:spcPct val="20000"/>
        </a:spcBef>
        <a:spcAft>
          <a:spcPct val="0"/>
        </a:spcAft>
        <a:buChar char="»"/>
        <a:defRPr>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hart" Target="../charts/chart3.xml"/><Relationship Id="rId5" Type="http://schemas.openxmlformats.org/officeDocument/2006/relationships/image" Target="../media/image5.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chart" Target="../charts/chart6.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chart" Target="../charts/char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chart" Target="../charts/chart11.xml"/><Relationship Id="rId4"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FACE77F5-4186-2003-8203-B71334AA4630}"/>
              </a:ext>
            </a:extLst>
          </p:cNvPr>
          <p:cNvSpPr txBox="1">
            <a:spLocks noChangeArrowheads="1"/>
          </p:cNvSpPr>
          <p:nvPr/>
        </p:nvSpPr>
        <p:spPr bwMode="auto">
          <a:xfrm>
            <a:off x="1046065" y="1699464"/>
            <a:ext cx="1009986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a:solidFill>
                  <a:schemeClr val="tx1"/>
                </a:solidFill>
                <a:latin typeface="Times" pitchFamily="2" charset="0"/>
                <a:ea typeface="ＭＳ Ｐゴシック" panose="020B0600070205080204" pitchFamily="34" charset="-128"/>
              </a:defRPr>
            </a:lvl1pPr>
            <a:lvl2pPr marL="742950" indent="-285750">
              <a:spcBef>
                <a:spcPct val="20000"/>
              </a:spcBef>
              <a:buChar char="–"/>
              <a:defRPr kumimoji="1">
                <a:solidFill>
                  <a:schemeClr val="tx1"/>
                </a:solidFill>
                <a:latin typeface="Times" pitchFamily="2" charset="0"/>
                <a:ea typeface="ＭＳ Ｐゴシック" panose="020B0600070205080204" pitchFamily="34" charset="-128"/>
              </a:defRPr>
            </a:lvl2pPr>
            <a:lvl3pPr marL="1143000" indent="-228600">
              <a:spcBef>
                <a:spcPct val="20000"/>
              </a:spcBef>
              <a:buChar char="•"/>
              <a:defRPr kumimoji="1">
                <a:solidFill>
                  <a:schemeClr val="tx1"/>
                </a:solidFill>
                <a:latin typeface="Times" pitchFamily="2" charset="0"/>
                <a:ea typeface="ＭＳ Ｐゴシック" panose="020B0600070205080204" pitchFamily="34" charset="-128"/>
              </a:defRPr>
            </a:lvl3pPr>
            <a:lvl4pPr marL="1600200" indent="-228600">
              <a:spcBef>
                <a:spcPct val="20000"/>
              </a:spcBef>
              <a:buChar char="–"/>
              <a:defRPr kumimoji="1">
                <a:solidFill>
                  <a:schemeClr val="tx1"/>
                </a:solidFill>
                <a:latin typeface="Times" pitchFamily="2" charset="0"/>
                <a:ea typeface="ＭＳ Ｐゴシック" panose="020B0600070205080204" pitchFamily="34" charset="-128"/>
              </a:defRPr>
            </a:lvl4pPr>
            <a:lvl5pPr marL="2057400" indent="-228600">
              <a:spcBef>
                <a:spcPct val="20000"/>
              </a:spcBef>
              <a:buChar char="»"/>
              <a:defRPr kumimoji="1">
                <a:solidFill>
                  <a:schemeClr val="tx1"/>
                </a:solidFill>
                <a:latin typeface="Times"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9pPr>
          </a:lstStyle>
          <a:p>
            <a:pPr algn="ctr">
              <a:buFontTx/>
              <a:buNone/>
            </a:pPr>
            <a:r>
              <a:rPr kumimoji="0" lang="ja-JP" altLang="en-US" sz="4800" b="1" i="0" dirty="0">
                <a:latin typeface="+mj-ea"/>
                <a:ea typeface="+mj-ea"/>
              </a:rPr>
              <a:t>重ね合わせを用いた移動ロボットの未知環境走行性能の推定</a:t>
            </a:r>
            <a:endParaRPr kumimoji="0" lang="en-US" altLang="ja-JP" sz="4800" b="1" i="0" dirty="0">
              <a:latin typeface="+mj-ea"/>
              <a:ea typeface="+mj-ea"/>
            </a:endParaRPr>
          </a:p>
        </p:txBody>
      </p:sp>
      <p:sp>
        <p:nvSpPr>
          <p:cNvPr id="4" name="テキスト ボックス 3">
            <a:extLst>
              <a:ext uri="{FF2B5EF4-FFF2-40B4-BE49-F238E27FC236}">
                <a16:creationId xmlns:a16="http://schemas.microsoft.com/office/drawing/2014/main" id="{1CFF3504-9A82-9E5D-6F39-8537E124992D}"/>
              </a:ext>
            </a:extLst>
          </p:cNvPr>
          <p:cNvSpPr txBox="1"/>
          <p:nvPr/>
        </p:nvSpPr>
        <p:spPr>
          <a:xfrm>
            <a:off x="3809999" y="4642109"/>
            <a:ext cx="4572000" cy="400110"/>
          </a:xfrm>
          <a:prstGeom prst="rect">
            <a:avLst/>
          </a:prstGeom>
          <a:noFill/>
        </p:spPr>
        <p:txBody>
          <a:bodyPr wrap="square">
            <a:spAutoFit/>
          </a:bodyPr>
          <a:lstStyle/>
          <a:p>
            <a:pPr algn="ctr"/>
            <a:r>
              <a:rPr lang="en-US" altLang="ja-JP" sz="2000" b="1" i="0" dirty="0">
                <a:latin typeface="メイリオ" panose="020B0604030504040204" pitchFamily="50" charset="-128"/>
                <a:ea typeface="メイリオ" panose="020B0604030504040204" pitchFamily="50" charset="-128"/>
              </a:rPr>
              <a:t>1223011</a:t>
            </a:r>
            <a:r>
              <a:rPr lang="ja-JP" altLang="en-US" sz="2000" b="1" i="0" dirty="0">
                <a:latin typeface="メイリオ" panose="020B0604030504040204" pitchFamily="50" charset="-128"/>
                <a:ea typeface="メイリオ" panose="020B0604030504040204" pitchFamily="50" charset="-128"/>
              </a:rPr>
              <a:t>　佐藤 翔亮</a:t>
            </a:r>
            <a:endParaRPr lang="en-US" altLang="ja-JP" sz="2000" b="1" i="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EDDB956-52D5-B1F8-1859-16008115E513}"/>
              </a:ext>
            </a:extLst>
          </p:cNvPr>
          <p:cNvSpPr txBox="1"/>
          <p:nvPr/>
        </p:nvSpPr>
        <p:spPr>
          <a:xfrm>
            <a:off x="2349341" y="4204601"/>
            <a:ext cx="7493315" cy="400110"/>
          </a:xfrm>
          <a:prstGeom prst="rect">
            <a:avLst/>
          </a:prstGeom>
          <a:noFill/>
        </p:spPr>
        <p:txBody>
          <a:bodyPr wrap="square">
            <a:spAutoFit/>
          </a:bodyPr>
          <a:lstStyle/>
          <a:p>
            <a:pPr algn="ctr"/>
            <a:r>
              <a:rPr lang="ja-JP" altLang="en-US" sz="2000" i="0" dirty="0">
                <a:latin typeface="メイリオ" panose="020B0604030504040204" pitchFamily="50" charset="-128"/>
                <a:ea typeface="メイリオ" panose="020B0604030504040204" pitchFamily="50" charset="-128"/>
              </a:rPr>
              <a:t>機械工学科　フィールドロコモーション研究室</a:t>
            </a:r>
            <a:endParaRPr lang="en-US" altLang="ja-JP" sz="2000" i="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D58FAB02-1E14-FAA4-3BFE-A4A63ED5382B}"/>
              </a:ext>
            </a:extLst>
          </p:cNvPr>
          <p:cNvSpPr txBox="1"/>
          <p:nvPr/>
        </p:nvSpPr>
        <p:spPr>
          <a:xfrm>
            <a:off x="-649267" y="302325"/>
            <a:ext cx="4459266" cy="369332"/>
          </a:xfrm>
          <a:prstGeom prst="rect">
            <a:avLst/>
          </a:prstGeom>
          <a:noFill/>
        </p:spPr>
        <p:txBody>
          <a:bodyPr wrap="square" rtlCol="0">
            <a:spAutoFit/>
          </a:bodyPr>
          <a:lstStyle/>
          <a:p>
            <a:pPr algn="ctr"/>
            <a:r>
              <a:rPr kumimoji="1" lang="ja-JP" altLang="en-US" sz="1800" i="0" dirty="0">
                <a:latin typeface="メイリオ" panose="020B0604030504040204" pitchFamily="50" charset="-128"/>
                <a:ea typeface="メイリオ" panose="020B0604030504040204" pitchFamily="50" charset="-128"/>
              </a:rPr>
              <a:t>浪花研研究会</a:t>
            </a:r>
          </a:p>
        </p:txBody>
      </p:sp>
      <p:sp>
        <p:nvSpPr>
          <p:cNvPr id="6" name="テキスト ボックス 5">
            <a:extLst>
              <a:ext uri="{FF2B5EF4-FFF2-40B4-BE49-F238E27FC236}">
                <a16:creationId xmlns:a16="http://schemas.microsoft.com/office/drawing/2014/main" id="{B30358F2-6A9E-F766-A832-0CD65EBA0731}"/>
              </a:ext>
            </a:extLst>
          </p:cNvPr>
          <p:cNvSpPr txBox="1"/>
          <p:nvPr/>
        </p:nvSpPr>
        <p:spPr>
          <a:xfrm>
            <a:off x="7079293" y="302326"/>
            <a:ext cx="7493315" cy="369332"/>
          </a:xfrm>
          <a:prstGeom prst="rect">
            <a:avLst/>
          </a:prstGeom>
          <a:noFill/>
        </p:spPr>
        <p:txBody>
          <a:bodyPr wrap="square">
            <a:spAutoFit/>
          </a:bodyPr>
          <a:lstStyle/>
          <a:p>
            <a:pPr algn="ctr"/>
            <a:r>
              <a:rPr lang="en-US" altLang="ja-JP" sz="1800" i="0" dirty="0">
                <a:latin typeface="メイリオ" panose="020B0604030504040204" pitchFamily="50" charset="-128"/>
                <a:ea typeface="メイリオ" panose="020B0604030504040204" pitchFamily="50" charset="-128"/>
              </a:rPr>
              <a:t>2025/11/11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9A75BCC8-CC7C-A124-E7AD-7123E3B4E8E8}"/>
              </a:ext>
            </a:extLst>
          </p:cNvPr>
          <p:cNvSpPr txBox="1"/>
          <p:nvPr/>
        </p:nvSpPr>
        <p:spPr>
          <a:xfrm>
            <a:off x="1485375" y="5795352"/>
            <a:ext cx="9212778" cy="584775"/>
          </a:xfrm>
          <a:prstGeom prst="rect">
            <a:avLst/>
          </a:prstGeom>
          <a:noFill/>
        </p:spPr>
        <p:txBody>
          <a:bodyPr wrap="none" rtlCol="0">
            <a:spAutoFit/>
          </a:bodyPr>
          <a:lstStyle/>
          <a:p>
            <a:pPr algn="l"/>
            <a:r>
              <a:rPr kumimoji="1" lang="ja-JP" altLang="en-US" sz="3200" b="1" i="0" dirty="0">
                <a:latin typeface="+mn-ea"/>
                <a:ea typeface="+mn-ea"/>
              </a:rPr>
              <a:t>人の代わりに作業する災害対応ロボットが欲しい</a:t>
            </a:r>
          </a:p>
        </p:txBody>
      </p:sp>
      <p:sp>
        <p:nvSpPr>
          <p:cNvPr id="28" name="タイトル 5">
            <a:extLst>
              <a:ext uri="{FF2B5EF4-FFF2-40B4-BE49-F238E27FC236}">
                <a16:creationId xmlns:a16="http://schemas.microsoft.com/office/drawing/2014/main" id="{05B1F4F0-FAEF-9B55-B534-BEF7EAFBBC46}"/>
              </a:ext>
            </a:extLst>
          </p:cNvPr>
          <p:cNvSpPr>
            <a:spLocks noGrp="1" noChangeArrowheads="1"/>
          </p:cNvSpPr>
          <p:nvPr>
            <p:ph type="title"/>
          </p:nvPr>
        </p:nvSpPr>
        <p:spPr>
          <a:xfrm>
            <a:off x="867833" y="330200"/>
            <a:ext cx="10447867" cy="558800"/>
          </a:xfrm>
        </p:spPr>
        <p:txBody>
          <a:bodyPr/>
          <a:lstStyle/>
          <a:p>
            <a:r>
              <a:rPr lang="ja-JP" altLang="en-US" sz="3200" b="1" dirty="0"/>
              <a:t>緒言</a:t>
            </a:r>
            <a:endParaRPr lang="ja-JP" altLang="en-US" sz="3200" dirty="0"/>
          </a:p>
        </p:txBody>
      </p:sp>
      <p:sp>
        <p:nvSpPr>
          <p:cNvPr id="18" name="テキスト ボックス 17">
            <a:extLst>
              <a:ext uri="{FF2B5EF4-FFF2-40B4-BE49-F238E27FC236}">
                <a16:creationId xmlns:a16="http://schemas.microsoft.com/office/drawing/2014/main" id="{D5268CBF-C1A1-1774-DF5F-DC67118CDA53}"/>
              </a:ext>
            </a:extLst>
          </p:cNvPr>
          <p:cNvSpPr txBox="1"/>
          <p:nvPr/>
        </p:nvSpPr>
        <p:spPr>
          <a:xfrm>
            <a:off x="4742677" y="1297500"/>
            <a:ext cx="2698175" cy="523220"/>
          </a:xfrm>
          <a:prstGeom prst="rect">
            <a:avLst/>
          </a:prstGeom>
          <a:noFill/>
        </p:spPr>
        <p:txBody>
          <a:bodyPr wrap="none" rtlCol="0">
            <a:spAutoFit/>
          </a:bodyPr>
          <a:lstStyle/>
          <a:p>
            <a:pPr algn="l"/>
            <a:r>
              <a:rPr kumimoji="1" lang="ja-JP" altLang="en-US" sz="2800" b="1" i="0" dirty="0">
                <a:latin typeface="+mn-ea"/>
                <a:ea typeface="+mn-ea"/>
              </a:rPr>
              <a:t>日本は災害大国</a:t>
            </a:r>
          </a:p>
        </p:txBody>
      </p:sp>
      <p:grpSp>
        <p:nvGrpSpPr>
          <p:cNvPr id="13" name="グループ化 12">
            <a:extLst>
              <a:ext uri="{FF2B5EF4-FFF2-40B4-BE49-F238E27FC236}">
                <a16:creationId xmlns:a16="http://schemas.microsoft.com/office/drawing/2014/main" id="{07A59A6F-2435-9FD9-1DF7-011C4D0A99CC}"/>
              </a:ext>
            </a:extLst>
          </p:cNvPr>
          <p:cNvGrpSpPr/>
          <p:nvPr/>
        </p:nvGrpSpPr>
        <p:grpSpPr>
          <a:xfrm>
            <a:off x="1137867" y="1701980"/>
            <a:ext cx="9907793" cy="3858520"/>
            <a:chOff x="1137868" y="1785758"/>
            <a:chExt cx="9907793" cy="3858520"/>
          </a:xfrm>
        </p:grpSpPr>
        <p:sp>
          <p:nvSpPr>
            <p:cNvPr id="12" name="正方形/長方形 11">
              <a:extLst>
                <a:ext uri="{FF2B5EF4-FFF2-40B4-BE49-F238E27FC236}">
                  <a16:creationId xmlns:a16="http://schemas.microsoft.com/office/drawing/2014/main" id="{A02B1CEB-8E18-E3FF-2E5E-35BE05B51FC0}"/>
                </a:ext>
              </a:extLst>
            </p:cNvPr>
            <p:cNvSpPr/>
            <p:nvPr/>
          </p:nvSpPr>
          <p:spPr bwMode="auto">
            <a:xfrm>
              <a:off x="1137868" y="2067279"/>
              <a:ext cx="9907793" cy="3576999"/>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4" name="グループ化 3">
              <a:extLst>
                <a:ext uri="{FF2B5EF4-FFF2-40B4-BE49-F238E27FC236}">
                  <a16:creationId xmlns:a16="http://schemas.microsoft.com/office/drawing/2014/main" id="{74507154-57BE-A7A6-702A-CD0A473FE91F}"/>
                </a:ext>
              </a:extLst>
            </p:cNvPr>
            <p:cNvGrpSpPr/>
            <p:nvPr/>
          </p:nvGrpSpPr>
          <p:grpSpPr>
            <a:xfrm>
              <a:off x="2169009" y="2772287"/>
              <a:ext cx="7783942" cy="2811590"/>
              <a:chOff x="2342044" y="2541735"/>
              <a:chExt cx="7892152" cy="2634317"/>
            </a:xfrm>
          </p:grpSpPr>
          <p:pic>
            <p:nvPicPr>
              <p:cNvPr id="5" name="Picture 2" descr="　被災２日後。破壊された家々は、がれきと化し街を埋め尽くしていた（１１年３月１３日、岩手・宮古市田老地区）">
                <a:extLst>
                  <a:ext uri="{FF2B5EF4-FFF2-40B4-BE49-F238E27FC236}">
                    <a16:creationId xmlns:a16="http://schemas.microsoft.com/office/drawing/2014/main" id="{7A5937A8-7627-86BA-95EE-E89C65813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044" y="2548056"/>
                <a:ext cx="3251933" cy="21679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8E02E9F7-E170-179A-3907-CF918D4D6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217" y="2541735"/>
                <a:ext cx="4170354" cy="217901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BC6BD0B7-2537-37D6-82A4-72266B3B35F9}"/>
                  </a:ext>
                </a:extLst>
              </p:cNvPr>
              <p:cNvSpPr txBox="1"/>
              <p:nvPr/>
            </p:nvSpPr>
            <p:spPr>
              <a:xfrm>
                <a:off x="5826217" y="4742792"/>
                <a:ext cx="4407979" cy="432557"/>
              </a:xfrm>
              <a:prstGeom prst="rect">
                <a:avLst/>
              </a:prstGeom>
              <a:noFill/>
            </p:spPr>
            <p:txBody>
              <a:bodyPr wrap="square">
                <a:spAutoFit/>
              </a:bodyPr>
              <a:lstStyle/>
              <a:p>
                <a:r>
                  <a:rPr lang="ja-JP" altLang="en-US" i="0" dirty="0">
                    <a:latin typeface="+mn-ea"/>
                    <a:ea typeface="+mn-ea"/>
                    <a:cs typeface="Segoe UI Historic" panose="020B0502040204020203" pitchFamily="34" charset="0"/>
                  </a:rPr>
                  <a:t>https://gooddo.jp/magazine/climate-change/heavyrain_typhoon/heavyrain_kyushyu/3778/</a:t>
                </a:r>
              </a:p>
            </p:txBody>
          </p:sp>
          <p:sp>
            <p:nvSpPr>
              <p:cNvPr id="6" name="テキスト ボックス 5">
                <a:extLst>
                  <a:ext uri="{FF2B5EF4-FFF2-40B4-BE49-F238E27FC236}">
                    <a16:creationId xmlns:a16="http://schemas.microsoft.com/office/drawing/2014/main" id="{1BCF12A1-69C5-4072-3C38-BE16F35D3EBF}"/>
                  </a:ext>
                </a:extLst>
              </p:cNvPr>
              <p:cNvSpPr txBox="1"/>
              <p:nvPr/>
            </p:nvSpPr>
            <p:spPr>
              <a:xfrm>
                <a:off x="2535269" y="4743495"/>
                <a:ext cx="2915078" cy="432557"/>
              </a:xfrm>
              <a:prstGeom prst="rect">
                <a:avLst/>
              </a:prstGeom>
              <a:noFill/>
            </p:spPr>
            <p:txBody>
              <a:bodyPr wrap="square">
                <a:spAutoFit/>
              </a:bodyPr>
              <a:lstStyle/>
              <a:p>
                <a:r>
                  <a:rPr lang="ja-JP" altLang="en-US" i="0" dirty="0">
                    <a:latin typeface="+mn-ea"/>
                    <a:ea typeface="+mn-ea"/>
                    <a:cs typeface="Segoe UI Historic" panose="020B0502040204020203" pitchFamily="34" charset="0"/>
                  </a:rPr>
                  <a:t>https://www.jiji.com/jc/v4?id=saigai-haikibutsu&amp;p=110323</a:t>
                </a:r>
              </a:p>
            </p:txBody>
          </p:sp>
        </p:grpSp>
        <p:sp>
          <p:nvSpPr>
            <p:cNvPr id="10" name="テキスト ボックス 9">
              <a:extLst>
                <a:ext uri="{FF2B5EF4-FFF2-40B4-BE49-F238E27FC236}">
                  <a16:creationId xmlns:a16="http://schemas.microsoft.com/office/drawing/2014/main" id="{36CD1C8E-9B23-1A67-DD1E-B6E01595D4E1}"/>
                </a:ext>
              </a:extLst>
            </p:cNvPr>
            <p:cNvSpPr txBox="1"/>
            <p:nvPr/>
          </p:nvSpPr>
          <p:spPr>
            <a:xfrm>
              <a:off x="3372571" y="2337228"/>
              <a:ext cx="800219" cy="461665"/>
            </a:xfrm>
            <a:prstGeom prst="rect">
              <a:avLst/>
            </a:prstGeom>
            <a:noFill/>
          </p:spPr>
          <p:txBody>
            <a:bodyPr wrap="none" rtlCol="0">
              <a:spAutoFit/>
            </a:bodyPr>
            <a:lstStyle/>
            <a:p>
              <a:pPr algn="l"/>
              <a:r>
                <a:rPr kumimoji="1" lang="ja-JP" altLang="en-US" sz="2400" i="0" dirty="0">
                  <a:latin typeface="+mn-ea"/>
                  <a:ea typeface="+mn-ea"/>
                </a:rPr>
                <a:t>津波</a:t>
              </a:r>
            </a:p>
          </p:txBody>
        </p:sp>
        <p:sp>
          <p:nvSpPr>
            <p:cNvPr id="11" name="テキスト ボックス 10">
              <a:extLst>
                <a:ext uri="{FF2B5EF4-FFF2-40B4-BE49-F238E27FC236}">
                  <a16:creationId xmlns:a16="http://schemas.microsoft.com/office/drawing/2014/main" id="{0CFA6FAC-D9B7-79B4-0AB1-8AAE161B7565}"/>
                </a:ext>
              </a:extLst>
            </p:cNvPr>
            <p:cNvSpPr txBox="1"/>
            <p:nvPr/>
          </p:nvSpPr>
          <p:spPr>
            <a:xfrm>
              <a:off x="6954111" y="2337228"/>
              <a:ext cx="1415772" cy="461665"/>
            </a:xfrm>
            <a:prstGeom prst="rect">
              <a:avLst/>
            </a:prstGeom>
            <a:noFill/>
          </p:spPr>
          <p:txBody>
            <a:bodyPr wrap="none" rtlCol="0">
              <a:spAutoFit/>
            </a:bodyPr>
            <a:lstStyle/>
            <a:p>
              <a:pPr algn="l"/>
              <a:r>
                <a:rPr kumimoji="1" lang="ja-JP" altLang="en-US" sz="2400" i="0" dirty="0">
                  <a:latin typeface="+mn-ea"/>
                  <a:ea typeface="+mn-ea"/>
                </a:rPr>
                <a:t>土砂崩れ</a:t>
              </a:r>
            </a:p>
          </p:txBody>
        </p:sp>
        <p:sp>
          <p:nvSpPr>
            <p:cNvPr id="8" name="テキスト ボックス 7">
              <a:extLst>
                <a:ext uri="{FF2B5EF4-FFF2-40B4-BE49-F238E27FC236}">
                  <a16:creationId xmlns:a16="http://schemas.microsoft.com/office/drawing/2014/main" id="{5E1FBB86-FAA7-1872-35BD-E82C3DD61E2C}"/>
                </a:ext>
              </a:extLst>
            </p:cNvPr>
            <p:cNvSpPr txBox="1"/>
            <p:nvPr/>
          </p:nvSpPr>
          <p:spPr>
            <a:xfrm>
              <a:off x="1378548" y="1785758"/>
              <a:ext cx="9426432" cy="584775"/>
            </a:xfrm>
            <a:prstGeom prst="rect">
              <a:avLst/>
            </a:prstGeom>
            <a:solidFill>
              <a:schemeClr val="bg1"/>
            </a:solidFill>
          </p:spPr>
          <p:txBody>
            <a:bodyPr wrap="square" rtlCol="0">
              <a:spAutoFit/>
            </a:bodyPr>
            <a:lstStyle/>
            <a:p>
              <a:r>
                <a:rPr kumimoji="1" lang="ja-JP" altLang="en-US" sz="2400" b="1" i="0" dirty="0">
                  <a:latin typeface="+mn-ea"/>
                  <a:ea typeface="+mn-ea"/>
                </a:rPr>
                <a:t>災害現場のような</a:t>
              </a:r>
              <a:r>
                <a:rPr kumimoji="1" lang="ja-JP" altLang="en-US" sz="2400" b="1" i="0" dirty="0">
                  <a:solidFill>
                    <a:schemeClr val="accent1">
                      <a:lumMod val="75000"/>
                    </a:schemeClr>
                  </a:solidFill>
                  <a:latin typeface="+mn-ea"/>
                  <a:ea typeface="+mn-ea"/>
                </a:rPr>
                <a:t>障害物や無数の凹凸のある地形を</a:t>
              </a:r>
              <a:r>
                <a:rPr kumimoji="1" lang="ja-JP" altLang="en-US" sz="3200" b="1" i="0" dirty="0">
                  <a:solidFill>
                    <a:srgbClr val="FF0000"/>
                  </a:solidFill>
                  <a:latin typeface="+mn-ea"/>
                  <a:ea typeface="+mn-ea"/>
                </a:rPr>
                <a:t>不整地</a:t>
              </a:r>
              <a:r>
                <a:rPr kumimoji="1" lang="ja-JP" altLang="en-US" sz="2400" b="1" i="0" dirty="0">
                  <a:latin typeface="+mn-ea"/>
                  <a:ea typeface="+mn-ea"/>
                </a:rPr>
                <a:t>という</a:t>
              </a:r>
            </a:p>
          </p:txBody>
        </p:sp>
      </p:grpSp>
    </p:spTree>
    <p:extLst>
      <p:ext uri="{BB962C8B-B14F-4D97-AF65-F5344CB8AC3E}">
        <p14:creationId xmlns:p14="http://schemas.microsoft.com/office/powerpoint/2010/main" val="679196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D25D-DCC8-B1B9-DB8A-330C4552799B}"/>
            </a:ext>
          </a:extLst>
        </p:cNvPr>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28A864F3-BC98-B009-BDCC-E2123D0BA981}"/>
              </a:ext>
            </a:extLst>
          </p:cNvPr>
          <p:cNvSpPr/>
          <p:nvPr/>
        </p:nvSpPr>
        <p:spPr bwMode="auto">
          <a:xfrm>
            <a:off x="1140595" y="2755506"/>
            <a:ext cx="5005222" cy="2203305"/>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2" name="正方形/長方形 51">
            <a:extLst>
              <a:ext uri="{FF2B5EF4-FFF2-40B4-BE49-F238E27FC236}">
                <a16:creationId xmlns:a16="http://schemas.microsoft.com/office/drawing/2014/main" id="{3C05A645-3A76-10F4-E1FA-50F256808259}"/>
              </a:ext>
            </a:extLst>
          </p:cNvPr>
          <p:cNvSpPr/>
          <p:nvPr/>
        </p:nvSpPr>
        <p:spPr bwMode="auto">
          <a:xfrm>
            <a:off x="6287716" y="2749017"/>
            <a:ext cx="4770416" cy="2203305"/>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7169" name="タイトル 5">
            <a:extLst>
              <a:ext uri="{FF2B5EF4-FFF2-40B4-BE49-F238E27FC236}">
                <a16:creationId xmlns:a16="http://schemas.microsoft.com/office/drawing/2014/main" id="{6CD259DA-EDBF-27B5-C88F-B8D061639E94}"/>
              </a:ext>
            </a:extLst>
          </p:cNvPr>
          <p:cNvSpPr>
            <a:spLocks noGrp="1" noChangeArrowheads="1"/>
          </p:cNvSpPr>
          <p:nvPr>
            <p:ph type="title"/>
          </p:nvPr>
        </p:nvSpPr>
        <p:spPr/>
        <p:txBody>
          <a:bodyPr/>
          <a:lstStyle/>
          <a:p>
            <a:r>
              <a:rPr lang="ja-JP" altLang="en-US" sz="3200" b="1" dirty="0"/>
              <a:t>未知環境について</a:t>
            </a:r>
            <a:endParaRPr lang="ja-JP" altLang="en-US" sz="3200" dirty="0"/>
          </a:p>
        </p:txBody>
      </p:sp>
      <p:sp>
        <p:nvSpPr>
          <p:cNvPr id="2" name="テキスト ボックス 1">
            <a:extLst>
              <a:ext uri="{FF2B5EF4-FFF2-40B4-BE49-F238E27FC236}">
                <a16:creationId xmlns:a16="http://schemas.microsoft.com/office/drawing/2014/main" id="{C6F3B9B2-5F63-6085-2A4D-7AA1A7D783EB}"/>
              </a:ext>
            </a:extLst>
          </p:cNvPr>
          <p:cNvSpPr txBox="1"/>
          <p:nvPr/>
        </p:nvSpPr>
        <p:spPr>
          <a:xfrm>
            <a:off x="2613891" y="1564459"/>
            <a:ext cx="6955750" cy="646331"/>
          </a:xfrm>
          <a:prstGeom prst="rect">
            <a:avLst/>
          </a:prstGeom>
          <a:noFill/>
        </p:spPr>
        <p:txBody>
          <a:bodyPr wrap="none" rtlCol="0">
            <a:spAutoFit/>
          </a:bodyPr>
          <a:lstStyle/>
          <a:p>
            <a:pPr algn="l"/>
            <a:r>
              <a:rPr kumimoji="1" lang="ja-JP" altLang="en-US" sz="2800" b="1" i="0" dirty="0">
                <a:latin typeface="+mn-ea"/>
                <a:ea typeface="+mn-ea"/>
              </a:rPr>
              <a:t>障害物や無数の凹凸のある地形は</a:t>
            </a:r>
            <a:r>
              <a:rPr kumimoji="1" lang="ja-JP" altLang="en-US" sz="3600" b="1" i="0" dirty="0">
                <a:solidFill>
                  <a:schemeClr val="accent1">
                    <a:lumMod val="75000"/>
                  </a:schemeClr>
                </a:solidFill>
                <a:latin typeface="+mn-ea"/>
                <a:ea typeface="+mn-ea"/>
              </a:rPr>
              <a:t>不整地</a:t>
            </a:r>
            <a:endParaRPr kumimoji="1" lang="ja-JP" altLang="en-US" sz="2800" b="1" i="0" dirty="0">
              <a:latin typeface="+mn-ea"/>
              <a:ea typeface="+mn-ea"/>
            </a:endParaRPr>
          </a:p>
        </p:txBody>
      </p:sp>
      <p:sp>
        <p:nvSpPr>
          <p:cNvPr id="21" name="テキスト ボックス 20">
            <a:extLst>
              <a:ext uri="{FF2B5EF4-FFF2-40B4-BE49-F238E27FC236}">
                <a16:creationId xmlns:a16="http://schemas.microsoft.com/office/drawing/2014/main" id="{87DB6C8E-B788-51C6-3CA3-CCE5304E7B3A}"/>
              </a:ext>
            </a:extLst>
          </p:cNvPr>
          <p:cNvSpPr txBox="1"/>
          <p:nvPr/>
        </p:nvSpPr>
        <p:spPr>
          <a:xfrm>
            <a:off x="1613617" y="5337709"/>
            <a:ext cx="8956298" cy="646331"/>
          </a:xfrm>
          <a:prstGeom prst="rect">
            <a:avLst/>
          </a:prstGeom>
          <a:noFill/>
        </p:spPr>
        <p:txBody>
          <a:bodyPr wrap="none" rtlCol="0">
            <a:spAutoFit/>
          </a:bodyPr>
          <a:lstStyle/>
          <a:p>
            <a:pPr algn="l"/>
            <a:r>
              <a:rPr kumimoji="1" lang="ja-JP" altLang="en-US" sz="3600" b="1" i="0" dirty="0">
                <a:latin typeface="+mn-ea"/>
                <a:ea typeface="+mn-ea"/>
              </a:rPr>
              <a:t>事前に予測不可能な環境を</a:t>
            </a:r>
            <a:r>
              <a:rPr kumimoji="1" lang="ja-JP" altLang="en-US" sz="3600" b="1" i="0" dirty="0">
                <a:solidFill>
                  <a:srgbClr val="FF0000"/>
                </a:solidFill>
                <a:latin typeface="+mn-ea"/>
                <a:ea typeface="+mn-ea"/>
              </a:rPr>
              <a:t>未知環境</a:t>
            </a:r>
            <a:r>
              <a:rPr kumimoji="1" lang="ja-JP" altLang="en-US" sz="3600" b="1" i="0" dirty="0">
                <a:latin typeface="+mn-ea"/>
                <a:ea typeface="+mn-ea"/>
              </a:rPr>
              <a:t>という</a:t>
            </a:r>
          </a:p>
        </p:txBody>
      </p:sp>
      <p:grpSp>
        <p:nvGrpSpPr>
          <p:cNvPr id="47" name="グループ化 46">
            <a:extLst>
              <a:ext uri="{FF2B5EF4-FFF2-40B4-BE49-F238E27FC236}">
                <a16:creationId xmlns:a16="http://schemas.microsoft.com/office/drawing/2014/main" id="{E6568E0F-3939-93F2-F844-6384453F40CB}"/>
              </a:ext>
            </a:extLst>
          </p:cNvPr>
          <p:cNvGrpSpPr/>
          <p:nvPr/>
        </p:nvGrpSpPr>
        <p:grpSpPr>
          <a:xfrm>
            <a:off x="1382784" y="2553239"/>
            <a:ext cx="4625119" cy="2006579"/>
            <a:chOff x="1049767" y="2726860"/>
            <a:chExt cx="4625119" cy="2006579"/>
          </a:xfrm>
        </p:grpSpPr>
        <p:cxnSp>
          <p:nvCxnSpPr>
            <p:cNvPr id="5" name="直線コネクタ 4">
              <a:extLst>
                <a:ext uri="{FF2B5EF4-FFF2-40B4-BE49-F238E27FC236}">
                  <a16:creationId xmlns:a16="http://schemas.microsoft.com/office/drawing/2014/main" id="{2CD69255-D2BE-FE3C-1D43-901ED59EFE2C}"/>
                </a:ext>
              </a:extLst>
            </p:cNvPr>
            <p:cNvCxnSpPr>
              <a:cxnSpLocks/>
            </p:cNvCxnSpPr>
            <p:nvPr/>
          </p:nvCxnSpPr>
          <p:spPr bwMode="auto">
            <a:xfrm>
              <a:off x="1169154" y="4708291"/>
              <a:ext cx="17438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テキスト ボックス 18">
              <a:extLst>
                <a:ext uri="{FF2B5EF4-FFF2-40B4-BE49-F238E27FC236}">
                  <a16:creationId xmlns:a16="http://schemas.microsoft.com/office/drawing/2014/main" id="{743D5B5E-7BC3-CDCF-67A7-57BDEAFC6472}"/>
                </a:ext>
              </a:extLst>
            </p:cNvPr>
            <p:cNvSpPr txBox="1"/>
            <p:nvPr/>
          </p:nvSpPr>
          <p:spPr>
            <a:xfrm>
              <a:off x="2715608" y="3530897"/>
              <a:ext cx="2959278" cy="461665"/>
            </a:xfrm>
            <a:prstGeom prst="rect">
              <a:avLst/>
            </a:prstGeom>
            <a:noFill/>
          </p:spPr>
          <p:txBody>
            <a:bodyPr wrap="square" rtlCol="0">
              <a:spAutoFit/>
            </a:bodyPr>
            <a:lstStyle/>
            <a:p>
              <a:pPr algn="l"/>
              <a:r>
                <a:rPr kumimoji="1" lang="ja-JP" altLang="en-US" sz="2400" i="0" dirty="0">
                  <a:latin typeface="+mn-ea"/>
                  <a:ea typeface="+mn-ea"/>
                </a:rPr>
                <a:t>事前に状況がわかる</a:t>
              </a:r>
            </a:p>
          </p:txBody>
        </p:sp>
        <p:sp>
          <p:nvSpPr>
            <p:cNvPr id="17" name="テキスト ボックス 16">
              <a:extLst>
                <a:ext uri="{FF2B5EF4-FFF2-40B4-BE49-F238E27FC236}">
                  <a16:creationId xmlns:a16="http://schemas.microsoft.com/office/drawing/2014/main" id="{8FE50534-545D-8C2C-C8C5-9400C9B9EA0A}"/>
                </a:ext>
              </a:extLst>
            </p:cNvPr>
            <p:cNvSpPr txBox="1"/>
            <p:nvPr/>
          </p:nvSpPr>
          <p:spPr>
            <a:xfrm>
              <a:off x="1049767" y="2726860"/>
              <a:ext cx="4516255" cy="461665"/>
            </a:xfrm>
            <a:prstGeom prst="rect">
              <a:avLst/>
            </a:prstGeom>
            <a:solidFill>
              <a:schemeClr val="bg1"/>
            </a:solidFill>
            <a:ln>
              <a:noFill/>
            </a:ln>
          </p:spPr>
          <p:txBody>
            <a:bodyPr wrap="square" rtlCol="0">
              <a:spAutoFit/>
            </a:bodyPr>
            <a:lstStyle/>
            <a:p>
              <a:pPr algn="l"/>
              <a:r>
                <a:rPr kumimoji="1" lang="ja-JP" altLang="en-US" sz="2400" i="0" dirty="0">
                  <a:latin typeface="+mn-ea"/>
                  <a:ea typeface="+mn-ea"/>
                </a:rPr>
                <a:t>既存のロボットが活躍する地形</a:t>
              </a:r>
            </a:p>
          </p:txBody>
        </p:sp>
        <p:grpSp>
          <p:nvGrpSpPr>
            <p:cNvPr id="4" name="グループ化 3">
              <a:extLst>
                <a:ext uri="{FF2B5EF4-FFF2-40B4-BE49-F238E27FC236}">
                  <a16:creationId xmlns:a16="http://schemas.microsoft.com/office/drawing/2014/main" id="{04AE0EEE-926E-C727-7769-7A08406CA73E}"/>
                </a:ext>
              </a:extLst>
            </p:cNvPr>
            <p:cNvGrpSpPr/>
            <p:nvPr/>
          </p:nvGrpSpPr>
          <p:grpSpPr>
            <a:xfrm>
              <a:off x="1329019" y="3830661"/>
              <a:ext cx="1221737" cy="902778"/>
              <a:chOff x="9101728" y="3216798"/>
              <a:chExt cx="1221737" cy="902778"/>
            </a:xfrm>
          </p:grpSpPr>
          <p:grpSp>
            <p:nvGrpSpPr>
              <p:cNvPr id="7" name="グループ化 6">
                <a:extLst>
                  <a:ext uri="{FF2B5EF4-FFF2-40B4-BE49-F238E27FC236}">
                    <a16:creationId xmlns:a16="http://schemas.microsoft.com/office/drawing/2014/main" id="{D4085503-C6D3-CAC9-1FE1-A1CC4DEA45FB}"/>
                  </a:ext>
                </a:extLst>
              </p:cNvPr>
              <p:cNvGrpSpPr/>
              <p:nvPr/>
            </p:nvGrpSpPr>
            <p:grpSpPr>
              <a:xfrm>
                <a:off x="9101728" y="3216798"/>
                <a:ext cx="1033019" cy="897643"/>
                <a:chOff x="8624577" y="2961321"/>
                <a:chExt cx="1033019" cy="897643"/>
              </a:xfrm>
            </p:grpSpPr>
            <p:sp>
              <p:nvSpPr>
                <p:cNvPr id="29" name="正方形/長方形 28">
                  <a:extLst>
                    <a:ext uri="{FF2B5EF4-FFF2-40B4-BE49-F238E27FC236}">
                      <a16:creationId xmlns:a16="http://schemas.microsoft.com/office/drawing/2014/main" id="{B7C09115-4D63-104C-1F4F-53F3B7D069EE}"/>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0" name="フローチャート: 結合子 29">
                  <a:extLst>
                    <a:ext uri="{FF2B5EF4-FFF2-40B4-BE49-F238E27FC236}">
                      <a16:creationId xmlns:a16="http://schemas.microsoft.com/office/drawing/2014/main" id="{01DCE099-BFD4-8F70-0B10-D0DE8E9FF66F}"/>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109D7D9C-A607-1100-CBBE-69F672BD09BD}"/>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2" name="グループ化 11">
                <a:extLst>
                  <a:ext uri="{FF2B5EF4-FFF2-40B4-BE49-F238E27FC236}">
                    <a16:creationId xmlns:a16="http://schemas.microsoft.com/office/drawing/2014/main" id="{B7DB1E92-1FF1-FE91-4C7F-4AA44ACB233D}"/>
                  </a:ext>
                </a:extLst>
              </p:cNvPr>
              <p:cNvGrpSpPr/>
              <p:nvPr/>
            </p:nvGrpSpPr>
            <p:grpSpPr>
              <a:xfrm>
                <a:off x="9192911" y="3221933"/>
                <a:ext cx="1033019" cy="897643"/>
                <a:chOff x="10799190" y="2671132"/>
                <a:chExt cx="1033019" cy="897643"/>
              </a:xfrm>
            </p:grpSpPr>
            <p:sp>
              <p:nvSpPr>
                <p:cNvPr id="26" name="正方形/長方形 25">
                  <a:extLst>
                    <a:ext uri="{FF2B5EF4-FFF2-40B4-BE49-F238E27FC236}">
                      <a16:creationId xmlns:a16="http://schemas.microsoft.com/office/drawing/2014/main" id="{BB0EF6DB-9B29-723B-3FCF-BC26FB861334}"/>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7" name="フローチャート: 結合子 26">
                  <a:extLst>
                    <a:ext uri="{FF2B5EF4-FFF2-40B4-BE49-F238E27FC236}">
                      <a16:creationId xmlns:a16="http://schemas.microsoft.com/office/drawing/2014/main" id="{F139D34F-D30D-0819-ACD0-51EAF30F6E2D}"/>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C9F3C587-13BE-0DB6-A6E8-71A3AFDB683A}"/>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4" name="グループ化 13">
                <a:extLst>
                  <a:ext uri="{FF2B5EF4-FFF2-40B4-BE49-F238E27FC236}">
                    <a16:creationId xmlns:a16="http://schemas.microsoft.com/office/drawing/2014/main" id="{A874E50F-5719-9480-D4EE-C17247CA2D98}"/>
                  </a:ext>
                </a:extLst>
              </p:cNvPr>
              <p:cNvGrpSpPr/>
              <p:nvPr/>
            </p:nvGrpSpPr>
            <p:grpSpPr>
              <a:xfrm>
                <a:off x="9290446" y="3220821"/>
                <a:ext cx="1033019" cy="897643"/>
                <a:chOff x="10749795" y="4534948"/>
                <a:chExt cx="1033019" cy="897643"/>
              </a:xfrm>
            </p:grpSpPr>
            <p:sp>
              <p:nvSpPr>
                <p:cNvPr id="16" name="正方形/長方形 15">
                  <a:extLst>
                    <a:ext uri="{FF2B5EF4-FFF2-40B4-BE49-F238E27FC236}">
                      <a16:creationId xmlns:a16="http://schemas.microsoft.com/office/drawing/2014/main" id="{3B670F51-D564-8B93-6AAB-B6D46E1D5121}"/>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3" name="フローチャート: 結合子 22">
                  <a:extLst>
                    <a:ext uri="{FF2B5EF4-FFF2-40B4-BE49-F238E27FC236}">
                      <a16:creationId xmlns:a16="http://schemas.microsoft.com/office/drawing/2014/main" id="{9E59A5AD-2830-E4F6-A1F0-5730EE83A78F}"/>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フローチャート: 結合子 24">
                  <a:extLst>
                    <a:ext uri="{FF2B5EF4-FFF2-40B4-BE49-F238E27FC236}">
                      <a16:creationId xmlns:a16="http://schemas.microsoft.com/office/drawing/2014/main" id="{C4DB2967-5E33-B551-02E8-64E89B5D5745}"/>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grpSp>
        <p:nvGrpSpPr>
          <p:cNvPr id="48" name="グループ化 47">
            <a:extLst>
              <a:ext uri="{FF2B5EF4-FFF2-40B4-BE49-F238E27FC236}">
                <a16:creationId xmlns:a16="http://schemas.microsoft.com/office/drawing/2014/main" id="{9BE4D70B-5F97-F80F-279F-24A23DDCE89B}"/>
              </a:ext>
            </a:extLst>
          </p:cNvPr>
          <p:cNvGrpSpPr/>
          <p:nvPr/>
        </p:nvGrpSpPr>
        <p:grpSpPr>
          <a:xfrm>
            <a:off x="6448283" y="2565216"/>
            <a:ext cx="4507751" cy="2337655"/>
            <a:chOff x="6715591" y="2713085"/>
            <a:chExt cx="4507751" cy="2337655"/>
          </a:xfrm>
        </p:grpSpPr>
        <p:sp>
          <p:nvSpPr>
            <p:cNvPr id="20" name="テキスト ボックス 19">
              <a:extLst>
                <a:ext uri="{FF2B5EF4-FFF2-40B4-BE49-F238E27FC236}">
                  <a16:creationId xmlns:a16="http://schemas.microsoft.com/office/drawing/2014/main" id="{6B2A85B5-5906-3068-2CBF-F4D68CAF0161}"/>
                </a:ext>
              </a:extLst>
            </p:cNvPr>
            <p:cNvSpPr txBox="1"/>
            <p:nvPr/>
          </p:nvSpPr>
          <p:spPr>
            <a:xfrm>
              <a:off x="7110692" y="3274313"/>
              <a:ext cx="4112650" cy="461665"/>
            </a:xfrm>
            <a:prstGeom prst="rect">
              <a:avLst/>
            </a:prstGeom>
            <a:noFill/>
          </p:spPr>
          <p:txBody>
            <a:bodyPr wrap="square" rtlCol="0">
              <a:spAutoFit/>
            </a:bodyPr>
            <a:lstStyle/>
            <a:p>
              <a:pPr algn="l"/>
              <a:r>
                <a:rPr kumimoji="1" lang="ja-JP" altLang="en-US" sz="2400" i="0" dirty="0">
                  <a:latin typeface="+mn-ea"/>
                  <a:ea typeface="+mn-ea"/>
                </a:rPr>
                <a:t>現場に着くまでわからない</a:t>
              </a:r>
            </a:p>
          </p:txBody>
        </p:sp>
        <p:sp>
          <p:nvSpPr>
            <p:cNvPr id="18" name="テキスト ボックス 17">
              <a:extLst>
                <a:ext uri="{FF2B5EF4-FFF2-40B4-BE49-F238E27FC236}">
                  <a16:creationId xmlns:a16="http://schemas.microsoft.com/office/drawing/2014/main" id="{1B88B398-1426-8C3E-73D0-17105BCFD359}"/>
                </a:ext>
              </a:extLst>
            </p:cNvPr>
            <p:cNvSpPr txBox="1"/>
            <p:nvPr/>
          </p:nvSpPr>
          <p:spPr>
            <a:xfrm>
              <a:off x="6801802" y="2713085"/>
              <a:ext cx="4279495" cy="461665"/>
            </a:xfrm>
            <a:prstGeom prst="rect">
              <a:avLst/>
            </a:prstGeom>
            <a:solidFill>
              <a:schemeClr val="bg1"/>
            </a:solidFill>
            <a:ln>
              <a:noFill/>
            </a:ln>
          </p:spPr>
          <p:txBody>
            <a:bodyPr wrap="square" rtlCol="0">
              <a:spAutoFit/>
            </a:bodyPr>
            <a:lstStyle/>
            <a:p>
              <a:pPr algn="l"/>
              <a:r>
                <a:rPr kumimoji="1" lang="ja-JP" altLang="en-US" sz="2400" i="0" dirty="0">
                  <a:latin typeface="+mn-ea"/>
                  <a:ea typeface="+mn-ea"/>
                </a:rPr>
                <a:t>災害対応ロボットが行く地形</a:t>
              </a:r>
            </a:p>
          </p:txBody>
        </p:sp>
        <p:cxnSp>
          <p:nvCxnSpPr>
            <p:cNvPr id="11" name="直線コネクタ 10">
              <a:extLst>
                <a:ext uri="{FF2B5EF4-FFF2-40B4-BE49-F238E27FC236}">
                  <a16:creationId xmlns:a16="http://schemas.microsoft.com/office/drawing/2014/main" id="{C846341F-5DE4-2B20-5648-D11DC4813A47}"/>
                </a:ext>
              </a:extLst>
            </p:cNvPr>
            <p:cNvCxnSpPr>
              <a:cxnSpLocks/>
            </p:cNvCxnSpPr>
            <p:nvPr/>
          </p:nvCxnSpPr>
          <p:spPr bwMode="auto">
            <a:xfrm>
              <a:off x="6715591" y="4708217"/>
              <a:ext cx="4112650" cy="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 name="正方形/長方形 14">
              <a:extLst>
                <a:ext uri="{FF2B5EF4-FFF2-40B4-BE49-F238E27FC236}">
                  <a16:creationId xmlns:a16="http://schemas.microsoft.com/office/drawing/2014/main" id="{D53D77E0-9191-50E1-5554-A777F90B5A5A}"/>
                </a:ext>
              </a:extLst>
            </p:cNvPr>
            <p:cNvSpPr/>
            <p:nvPr/>
          </p:nvSpPr>
          <p:spPr bwMode="auto">
            <a:xfrm>
              <a:off x="8052899" y="3552388"/>
              <a:ext cx="3109230" cy="1498352"/>
            </a:xfrm>
            <a:prstGeom prst="rect">
              <a:avLst/>
            </a:prstGeom>
            <a:solidFill>
              <a:schemeClr val="bg2"/>
            </a:solidFill>
            <a:ln w="9525" cap="flat" cmpd="sng" algn="ctr">
              <a:solidFill>
                <a:schemeClr val="tx1"/>
              </a:solidFill>
              <a:prstDash val="solid"/>
              <a:round/>
              <a:headEnd type="none" w="med" len="med"/>
              <a:tailEnd type="none" w="med" len="med"/>
            </a:ln>
            <a:effectLst>
              <a:softEdge rad="1905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3" name="テキスト ボックス 12">
              <a:extLst>
                <a:ext uri="{FF2B5EF4-FFF2-40B4-BE49-F238E27FC236}">
                  <a16:creationId xmlns:a16="http://schemas.microsoft.com/office/drawing/2014/main" id="{550CBDA2-CA54-9727-9EDB-7739F2133124}"/>
                </a:ext>
              </a:extLst>
            </p:cNvPr>
            <p:cNvSpPr txBox="1"/>
            <p:nvPr/>
          </p:nvSpPr>
          <p:spPr>
            <a:xfrm>
              <a:off x="9164802" y="3820842"/>
              <a:ext cx="954107" cy="1015663"/>
            </a:xfrm>
            <a:prstGeom prst="rect">
              <a:avLst/>
            </a:prstGeom>
            <a:noFill/>
          </p:spPr>
          <p:txBody>
            <a:bodyPr wrap="none" rtlCol="0">
              <a:spAutoFit/>
            </a:bodyPr>
            <a:lstStyle/>
            <a:p>
              <a:pPr algn="l"/>
              <a:r>
                <a:rPr kumimoji="1" lang="ja-JP" altLang="en-US" sz="6000" i="0" dirty="0">
                  <a:latin typeface="+mn-ea"/>
                  <a:ea typeface="+mn-ea"/>
                </a:rPr>
                <a:t>？</a:t>
              </a:r>
            </a:p>
          </p:txBody>
        </p:sp>
        <p:grpSp>
          <p:nvGrpSpPr>
            <p:cNvPr id="32" name="グループ化 31">
              <a:extLst>
                <a:ext uri="{FF2B5EF4-FFF2-40B4-BE49-F238E27FC236}">
                  <a16:creationId xmlns:a16="http://schemas.microsoft.com/office/drawing/2014/main" id="{802FD94C-6742-FCCE-D97C-D849E23B6E35}"/>
                </a:ext>
              </a:extLst>
            </p:cNvPr>
            <p:cNvGrpSpPr/>
            <p:nvPr/>
          </p:nvGrpSpPr>
          <p:grpSpPr>
            <a:xfrm>
              <a:off x="6831162" y="3818492"/>
              <a:ext cx="1221737" cy="902778"/>
              <a:chOff x="9101728" y="3216798"/>
              <a:chExt cx="1221737" cy="902778"/>
            </a:xfrm>
          </p:grpSpPr>
          <p:grpSp>
            <p:nvGrpSpPr>
              <p:cNvPr id="33" name="グループ化 32">
                <a:extLst>
                  <a:ext uri="{FF2B5EF4-FFF2-40B4-BE49-F238E27FC236}">
                    <a16:creationId xmlns:a16="http://schemas.microsoft.com/office/drawing/2014/main" id="{853DEEB7-5AED-F88E-FBC6-13B4034B0010}"/>
                  </a:ext>
                </a:extLst>
              </p:cNvPr>
              <p:cNvGrpSpPr/>
              <p:nvPr/>
            </p:nvGrpSpPr>
            <p:grpSpPr>
              <a:xfrm>
                <a:off x="9101728" y="3216798"/>
                <a:ext cx="1033019" cy="897643"/>
                <a:chOff x="8624577" y="2961321"/>
                <a:chExt cx="1033019" cy="897643"/>
              </a:xfrm>
            </p:grpSpPr>
            <p:sp>
              <p:nvSpPr>
                <p:cNvPr id="42" name="正方形/長方形 41">
                  <a:extLst>
                    <a:ext uri="{FF2B5EF4-FFF2-40B4-BE49-F238E27FC236}">
                      <a16:creationId xmlns:a16="http://schemas.microsoft.com/office/drawing/2014/main" id="{788DFF83-4073-3E1D-4FBB-FEC18E7B33E0}"/>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63E97DAD-CC71-38C1-E831-3A8E47722A5E}"/>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4" name="フローチャート: 結合子 43">
                  <a:extLst>
                    <a:ext uri="{FF2B5EF4-FFF2-40B4-BE49-F238E27FC236}">
                      <a16:creationId xmlns:a16="http://schemas.microsoft.com/office/drawing/2014/main" id="{9AE0D156-1680-313E-487F-D540CECEB6CF}"/>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4" name="グループ化 33">
                <a:extLst>
                  <a:ext uri="{FF2B5EF4-FFF2-40B4-BE49-F238E27FC236}">
                    <a16:creationId xmlns:a16="http://schemas.microsoft.com/office/drawing/2014/main" id="{C61D42DB-74E9-D93A-AC5B-A0371FE2D189}"/>
                  </a:ext>
                </a:extLst>
              </p:cNvPr>
              <p:cNvGrpSpPr/>
              <p:nvPr/>
            </p:nvGrpSpPr>
            <p:grpSpPr>
              <a:xfrm>
                <a:off x="9192911" y="3221933"/>
                <a:ext cx="1033019" cy="897643"/>
                <a:chOff x="10799190" y="2671132"/>
                <a:chExt cx="1033019" cy="897643"/>
              </a:xfrm>
            </p:grpSpPr>
            <p:sp>
              <p:nvSpPr>
                <p:cNvPr id="39" name="正方形/長方形 38">
                  <a:extLst>
                    <a:ext uri="{FF2B5EF4-FFF2-40B4-BE49-F238E27FC236}">
                      <a16:creationId xmlns:a16="http://schemas.microsoft.com/office/drawing/2014/main" id="{2E8C2534-85AA-87A5-1926-CD56A5A829A9}"/>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0" name="フローチャート: 結合子 39">
                  <a:extLst>
                    <a:ext uri="{FF2B5EF4-FFF2-40B4-BE49-F238E27FC236}">
                      <a16:creationId xmlns:a16="http://schemas.microsoft.com/office/drawing/2014/main" id="{92DC7EA1-4B69-7F43-6752-0283E3C10F75}"/>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1" name="フローチャート: 結合子 40">
                  <a:extLst>
                    <a:ext uri="{FF2B5EF4-FFF2-40B4-BE49-F238E27FC236}">
                      <a16:creationId xmlns:a16="http://schemas.microsoft.com/office/drawing/2014/main" id="{4FF66468-7756-6727-8FD8-6FC08ECB2DC5}"/>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0F8D6E94-8CC9-7E02-A399-5808432D93E9}"/>
                  </a:ext>
                </a:extLst>
              </p:cNvPr>
              <p:cNvGrpSpPr/>
              <p:nvPr/>
            </p:nvGrpSpPr>
            <p:grpSpPr>
              <a:xfrm>
                <a:off x="9290446" y="3220821"/>
                <a:ext cx="1033019" cy="897643"/>
                <a:chOff x="10749795" y="4534948"/>
                <a:chExt cx="1033019" cy="897643"/>
              </a:xfrm>
            </p:grpSpPr>
            <p:sp>
              <p:nvSpPr>
                <p:cNvPr id="36" name="正方形/長方形 35">
                  <a:extLst>
                    <a:ext uri="{FF2B5EF4-FFF2-40B4-BE49-F238E27FC236}">
                      <a16:creationId xmlns:a16="http://schemas.microsoft.com/office/drawing/2014/main" id="{8C34D12E-5AB8-3B76-F18D-D6E37F0A45C8}"/>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7" name="フローチャート: 結合子 36">
                  <a:extLst>
                    <a:ext uri="{FF2B5EF4-FFF2-40B4-BE49-F238E27FC236}">
                      <a16:creationId xmlns:a16="http://schemas.microsoft.com/office/drawing/2014/main" id="{2A21097F-A767-7FD2-2E71-D7C65BE74078}"/>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フローチャート: 結合子 37">
                  <a:extLst>
                    <a:ext uri="{FF2B5EF4-FFF2-40B4-BE49-F238E27FC236}">
                      <a16:creationId xmlns:a16="http://schemas.microsoft.com/office/drawing/2014/main" id="{5F4170F3-D4DD-1F6B-B8D8-40A96AAE3136}"/>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sp>
        <p:nvSpPr>
          <p:cNvPr id="50" name="フリーフォーム: 図形 49">
            <a:extLst>
              <a:ext uri="{FF2B5EF4-FFF2-40B4-BE49-F238E27FC236}">
                <a16:creationId xmlns:a16="http://schemas.microsoft.com/office/drawing/2014/main" id="{5253FF17-FB74-7D9C-3F5E-6F929D4056DC}"/>
              </a:ext>
            </a:extLst>
          </p:cNvPr>
          <p:cNvSpPr/>
          <p:nvPr/>
        </p:nvSpPr>
        <p:spPr bwMode="auto">
          <a:xfrm>
            <a:off x="3246033" y="4383801"/>
            <a:ext cx="2576625" cy="275232"/>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Tree>
    <p:extLst>
      <p:ext uri="{BB962C8B-B14F-4D97-AF65-F5344CB8AC3E}">
        <p14:creationId xmlns:p14="http://schemas.microsoft.com/office/powerpoint/2010/main" val="977577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C30B-C2B8-BC1F-BAF0-C2823564B8E2}"/>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5F96B265-6D7B-FD5D-33D9-5DDA64F8D97D}"/>
              </a:ext>
            </a:extLst>
          </p:cNvPr>
          <p:cNvSpPr>
            <a:spLocks noGrp="1" noChangeArrowheads="1"/>
          </p:cNvSpPr>
          <p:nvPr>
            <p:ph type="title"/>
          </p:nvPr>
        </p:nvSpPr>
        <p:spPr/>
        <p:txBody>
          <a:bodyPr/>
          <a:lstStyle/>
          <a:p>
            <a:r>
              <a:rPr lang="ja-JP" altLang="en-US" sz="3200" b="1" dirty="0"/>
              <a:t>本研究で提案するアイデア</a:t>
            </a:r>
            <a:endParaRPr lang="ja-JP" altLang="en-US" sz="3200" dirty="0"/>
          </a:p>
        </p:txBody>
      </p:sp>
      <p:grpSp>
        <p:nvGrpSpPr>
          <p:cNvPr id="54" name="グループ化 53">
            <a:extLst>
              <a:ext uri="{FF2B5EF4-FFF2-40B4-BE49-F238E27FC236}">
                <a16:creationId xmlns:a16="http://schemas.microsoft.com/office/drawing/2014/main" id="{5FFBBF85-419E-4346-1B2E-DFC0BB15E567}"/>
              </a:ext>
            </a:extLst>
          </p:cNvPr>
          <p:cNvGrpSpPr/>
          <p:nvPr/>
        </p:nvGrpSpPr>
        <p:grpSpPr>
          <a:xfrm>
            <a:off x="8033284" y="4283774"/>
            <a:ext cx="647188" cy="1448832"/>
            <a:chOff x="8230701" y="4279837"/>
            <a:chExt cx="647188" cy="1448832"/>
          </a:xfrm>
        </p:grpSpPr>
        <p:sp>
          <p:nvSpPr>
            <p:cNvPr id="28" name="矢印: 上下 27">
              <a:extLst>
                <a:ext uri="{FF2B5EF4-FFF2-40B4-BE49-F238E27FC236}">
                  <a16:creationId xmlns:a16="http://schemas.microsoft.com/office/drawing/2014/main" id="{743A292C-506B-543A-E9B7-DECB54DBEFBE}"/>
                </a:ext>
              </a:extLst>
            </p:cNvPr>
            <p:cNvSpPr/>
            <p:nvPr/>
          </p:nvSpPr>
          <p:spPr bwMode="auto">
            <a:xfrm rot="14757221" flipH="1">
              <a:off x="8496140" y="5346920"/>
              <a:ext cx="179209" cy="5842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9" name="矢印: 上下 28">
              <a:extLst>
                <a:ext uri="{FF2B5EF4-FFF2-40B4-BE49-F238E27FC236}">
                  <a16:creationId xmlns:a16="http://schemas.microsoft.com/office/drawing/2014/main" id="{154FC047-5473-8079-B8C9-023614CBEF01}"/>
                </a:ext>
              </a:extLst>
            </p:cNvPr>
            <p:cNvSpPr/>
            <p:nvPr/>
          </p:nvSpPr>
          <p:spPr bwMode="auto">
            <a:xfrm rot="7127967">
              <a:off x="8456047" y="4054491"/>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0" name="矢印: 上下 29">
              <a:extLst>
                <a:ext uri="{FF2B5EF4-FFF2-40B4-BE49-F238E27FC236}">
                  <a16:creationId xmlns:a16="http://schemas.microsoft.com/office/drawing/2014/main" id="{61A0C7FE-C4A5-2915-C41D-2635A0BA400C}"/>
                </a:ext>
              </a:extLst>
            </p:cNvPr>
            <p:cNvSpPr/>
            <p:nvPr/>
          </p:nvSpPr>
          <p:spPr bwMode="auto">
            <a:xfrm rot="16200000">
              <a:off x="8472066" y="4742571"/>
              <a:ext cx="167270" cy="54651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8" name="グループ化 57">
            <a:extLst>
              <a:ext uri="{FF2B5EF4-FFF2-40B4-BE49-F238E27FC236}">
                <a16:creationId xmlns:a16="http://schemas.microsoft.com/office/drawing/2014/main" id="{B99583CB-C74E-2BE7-B108-1F8E82E469E7}"/>
              </a:ext>
            </a:extLst>
          </p:cNvPr>
          <p:cNvGrpSpPr/>
          <p:nvPr/>
        </p:nvGrpSpPr>
        <p:grpSpPr>
          <a:xfrm>
            <a:off x="493043" y="3437801"/>
            <a:ext cx="2356139" cy="2537530"/>
            <a:chOff x="243260" y="3458413"/>
            <a:chExt cx="2356139" cy="2537530"/>
          </a:xfrm>
        </p:grpSpPr>
        <p:sp>
          <p:nvSpPr>
            <p:cNvPr id="15" name="テキスト ボックス 14">
              <a:extLst>
                <a:ext uri="{FF2B5EF4-FFF2-40B4-BE49-F238E27FC236}">
                  <a16:creationId xmlns:a16="http://schemas.microsoft.com/office/drawing/2014/main" id="{4DDD61BF-59D2-8642-7EA6-2F9CF2D320AF}"/>
                </a:ext>
              </a:extLst>
            </p:cNvPr>
            <p:cNvSpPr txBox="1"/>
            <p:nvPr/>
          </p:nvSpPr>
          <p:spPr>
            <a:xfrm>
              <a:off x="740156" y="3458413"/>
              <a:ext cx="1586013" cy="461665"/>
            </a:xfrm>
            <a:prstGeom prst="rect">
              <a:avLst/>
            </a:prstGeom>
            <a:noFill/>
          </p:spPr>
          <p:txBody>
            <a:bodyPr wrap="square" rtlCol="0">
              <a:spAutoFit/>
            </a:bodyPr>
            <a:lstStyle/>
            <a:p>
              <a:pPr algn="l"/>
              <a:r>
                <a:rPr kumimoji="1" lang="ja-JP" altLang="en-US" sz="2400" i="0" dirty="0">
                  <a:latin typeface="+mj-ea"/>
                  <a:ea typeface="+mj-ea"/>
                </a:rPr>
                <a:t>未知環境</a:t>
              </a:r>
            </a:p>
          </p:txBody>
        </p:sp>
        <p:sp>
          <p:nvSpPr>
            <p:cNvPr id="37" name="フリーフォーム: 図形 36">
              <a:extLst>
                <a:ext uri="{FF2B5EF4-FFF2-40B4-BE49-F238E27FC236}">
                  <a16:creationId xmlns:a16="http://schemas.microsoft.com/office/drawing/2014/main" id="{CA6C01E1-A751-F8A4-BB82-F40D87503BE0}"/>
                </a:ext>
              </a:extLst>
            </p:cNvPr>
            <p:cNvSpPr/>
            <p:nvPr/>
          </p:nvSpPr>
          <p:spPr bwMode="auto">
            <a:xfrm>
              <a:off x="500631" y="4367317"/>
              <a:ext cx="1825538" cy="1628626"/>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正方形/長方形 37">
              <a:extLst>
                <a:ext uri="{FF2B5EF4-FFF2-40B4-BE49-F238E27FC236}">
                  <a16:creationId xmlns:a16="http://schemas.microsoft.com/office/drawing/2014/main" id="{0698F240-B887-29C3-87C8-8D4577E6332E}"/>
                </a:ext>
              </a:extLst>
            </p:cNvPr>
            <p:cNvSpPr/>
            <p:nvPr/>
          </p:nvSpPr>
          <p:spPr bwMode="auto">
            <a:xfrm>
              <a:off x="243260" y="4382519"/>
              <a:ext cx="2356139" cy="1443823"/>
            </a:xfrm>
            <a:prstGeom prst="rect">
              <a:avLst/>
            </a:prstGeom>
            <a:solidFill>
              <a:schemeClr val="accent3">
                <a:lumMod val="40000"/>
                <a:lumOff val="60000"/>
              </a:schemeClr>
            </a:solidFill>
            <a:ln>
              <a:solidFill>
                <a:schemeClr val="accent3"/>
              </a:solidFill>
              <a:headEnd type="none" w="med" len="med"/>
              <a:tailEnd type="none" w="med" len="med"/>
            </a:ln>
            <a:effectLst>
              <a:softEdge rad="2413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テキスト ボックス 8">
              <a:extLst>
                <a:ext uri="{FF2B5EF4-FFF2-40B4-BE49-F238E27FC236}">
                  <a16:creationId xmlns:a16="http://schemas.microsoft.com/office/drawing/2014/main" id="{A8B7A31A-5129-31C6-F0E8-AA9B39C54505}"/>
                </a:ext>
              </a:extLst>
            </p:cNvPr>
            <p:cNvSpPr txBox="1"/>
            <p:nvPr/>
          </p:nvSpPr>
          <p:spPr>
            <a:xfrm>
              <a:off x="1131643" y="4836965"/>
              <a:ext cx="579372" cy="830997"/>
            </a:xfrm>
            <a:prstGeom prst="rect">
              <a:avLst/>
            </a:prstGeom>
            <a:noFill/>
          </p:spPr>
          <p:txBody>
            <a:bodyPr wrap="square" rtlCol="0">
              <a:spAutoFit/>
            </a:bodyPr>
            <a:lstStyle/>
            <a:p>
              <a:pPr algn="l"/>
              <a:r>
                <a:rPr kumimoji="1" lang="en-US" altLang="ja-JP" sz="4800" i="0" dirty="0">
                  <a:latin typeface="+mn-ea"/>
                  <a:ea typeface="+mn-ea"/>
                </a:rPr>
                <a:t>?</a:t>
              </a:r>
              <a:endParaRPr kumimoji="1" lang="ja-JP" altLang="en-US" sz="4800" i="0" dirty="0">
                <a:latin typeface="+mn-ea"/>
                <a:ea typeface="+mn-ea"/>
              </a:endParaRPr>
            </a:p>
          </p:txBody>
        </p:sp>
      </p:grpSp>
      <p:grpSp>
        <p:nvGrpSpPr>
          <p:cNvPr id="59" name="グループ化 58">
            <a:extLst>
              <a:ext uri="{FF2B5EF4-FFF2-40B4-BE49-F238E27FC236}">
                <a16:creationId xmlns:a16="http://schemas.microsoft.com/office/drawing/2014/main" id="{BBC7C7AD-2FFD-4636-F375-EAC924938653}"/>
              </a:ext>
            </a:extLst>
          </p:cNvPr>
          <p:cNvGrpSpPr/>
          <p:nvPr/>
        </p:nvGrpSpPr>
        <p:grpSpPr>
          <a:xfrm>
            <a:off x="1696278" y="1236267"/>
            <a:ext cx="8812695" cy="2051129"/>
            <a:chOff x="1735305" y="1240794"/>
            <a:chExt cx="7548147" cy="2051129"/>
          </a:xfrm>
        </p:grpSpPr>
        <p:sp>
          <p:nvSpPr>
            <p:cNvPr id="40" name="正方形/長方形 39">
              <a:extLst>
                <a:ext uri="{FF2B5EF4-FFF2-40B4-BE49-F238E27FC236}">
                  <a16:creationId xmlns:a16="http://schemas.microsoft.com/office/drawing/2014/main" id="{FDA70587-C70D-7A5B-001C-800E8BE0B4BF}"/>
                </a:ext>
              </a:extLst>
            </p:cNvPr>
            <p:cNvSpPr/>
            <p:nvPr/>
          </p:nvSpPr>
          <p:spPr bwMode="auto">
            <a:xfrm>
              <a:off x="1735305" y="1504326"/>
              <a:ext cx="7548147" cy="1787597"/>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 name="テキスト ボックス 1">
              <a:extLst>
                <a:ext uri="{FF2B5EF4-FFF2-40B4-BE49-F238E27FC236}">
                  <a16:creationId xmlns:a16="http://schemas.microsoft.com/office/drawing/2014/main" id="{25328E7B-6AB9-07B8-F54D-1880BD24FDD7}"/>
                </a:ext>
              </a:extLst>
            </p:cNvPr>
            <p:cNvSpPr txBox="1"/>
            <p:nvPr/>
          </p:nvSpPr>
          <p:spPr>
            <a:xfrm>
              <a:off x="2087272" y="1240794"/>
              <a:ext cx="1388363" cy="523220"/>
            </a:xfrm>
            <a:prstGeom prst="rect">
              <a:avLst/>
            </a:prstGeom>
            <a:solidFill>
              <a:schemeClr val="bg1"/>
            </a:solidFill>
            <a:ln>
              <a:solidFill>
                <a:schemeClr val="tx1"/>
              </a:solidFill>
            </a:ln>
          </p:spPr>
          <p:txBody>
            <a:bodyPr wrap="none" rtlCol="0" anchor="ctr">
              <a:spAutoFit/>
            </a:bodyPr>
            <a:lstStyle/>
            <a:p>
              <a:pPr algn="ctr"/>
              <a:r>
                <a:rPr kumimoji="1" lang="ja-JP" altLang="en-US" sz="2800" b="1" i="0" dirty="0">
                  <a:latin typeface="+mn-ea"/>
                  <a:ea typeface="+mn-ea"/>
                </a:rPr>
                <a:t>仮説理論</a:t>
              </a:r>
            </a:p>
          </p:txBody>
        </p:sp>
        <p:sp>
          <p:nvSpPr>
            <p:cNvPr id="7" name="テキスト ボックス 6">
              <a:extLst>
                <a:ext uri="{FF2B5EF4-FFF2-40B4-BE49-F238E27FC236}">
                  <a16:creationId xmlns:a16="http://schemas.microsoft.com/office/drawing/2014/main" id="{CF5C091B-262D-EE4D-9F02-3C4A26AF3B35}"/>
                </a:ext>
              </a:extLst>
            </p:cNvPr>
            <p:cNvSpPr txBox="1"/>
            <p:nvPr/>
          </p:nvSpPr>
          <p:spPr>
            <a:xfrm>
              <a:off x="1971487" y="1785606"/>
              <a:ext cx="7205254" cy="1384995"/>
            </a:xfrm>
            <a:prstGeom prst="rect">
              <a:avLst/>
            </a:prstGeom>
            <a:noFill/>
          </p:spPr>
          <p:txBody>
            <a:bodyPr wrap="square" rtlCol="0">
              <a:spAutoFit/>
            </a:bodyPr>
            <a:lstStyle/>
            <a:p>
              <a:pPr algn="l"/>
              <a:r>
                <a:rPr kumimoji="1" lang="ja-JP" altLang="en-US" sz="2800" i="0" dirty="0">
                  <a:latin typeface="+mn-ea"/>
                  <a:ea typeface="+mn-ea"/>
                </a:rPr>
                <a:t>フーリエ変換の考え方を応用して</a:t>
              </a:r>
              <a:r>
                <a:rPr kumimoji="1" lang="ja-JP" altLang="en-US" sz="2800" b="1" i="0" dirty="0">
                  <a:solidFill>
                    <a:srgbClr val="FF0000"/>
                  </a:solidFill>
                  <a:latin typeface="+mn-ea"/>
                  <a:ea typeface="+mn-ea"/>
                </a:rPr>
                <a:t>不整地を分解</a:t>
              </a:r>
              <a:r>
                <a:rPr kumimoji="1" lang="ja-JP" altLang="en-US" sz="2800" i="0" dirty="0">
                  <a:latin typeface="+mn-ea"/>
                  <a:ea typeface="+mn-ea"/>
                </a:rPr>
                <a:t>し</a:t>
              </a:r>
              <a:endParaRPr kumimoji="1" lang="en-US" altLang="ja-JP" sz="2800" i="0" dirty="0">
                <a:latin typeface="+mn-ea"/>
                <a:ea typeface="+mn-ea"/>
              </a:endParaRPr>
            </a:p>
            <a:p>
              <a:r>
                <a:rPr kumimoji="1" lang="ja-JP" altLang="en-US" sz="2800" i="0" dirty="0">
                  <a:latin typeface="+mn-ea"/>
                  <a:ea typeface="+mn-ea"/>
                </a:rPr>
                <a:t>各正弦波地形での</a:t>
              </a:r>
              <a:r>
                <a:rPr kumimoji="1" lang="ja-JP" altLang="en-US" sz="2800" b="1" i="0" u="sng" dirty="0">
                  <a:solidFill>
                    <a:srgbClr val="FF0000"/>
                  </a:solidFill>
                  <a:latin typeface="+mn-ea"/>
                  <a:ea typeface="+mn-ea"/>
                </a:rPr>
                <a:t>走行性能を重ね合わせれば</a:t>
              </a:r>
              <a:endParaRPr kumimoji="1" lang="en-US" altLang="ja-JP" sz="2800" b="1" i="0" u="sng" dirty="0">
                <a:solidFill>
                  <a:srgbClr val="FF0000"/>
                </a:solidFill>
                <a:latin typeface="+mn-ea"/>
                <a:ea typeface="+mn-ea"/>
              </a:endParaRPr>
            </a:p>
            <a:p>
              <a:pPr algn="l"/>
              <a:r>
                <a:rPr kumimoji="1" lang="ja-JP" altLang="en-US" sz="2800" b="1" i="0" dirty="0">
                  <a:solidFill>
                    <a:srgbClr val="FF0000"/>
                  </a:solidFill>
                  <a:latin typeface="+mn-ea"/>
                  <a:ea typeface="+mn-ea"/>
                </a:rPr>
                <a:t>未知環境での走行性能を事前に予測</a:t>
              </a:r>
              <a:r>
                <a:rPr kumimoji="1" lang="ja-JP" altLang="en-US" sz="2800" i="0" dirty="0">
                  <a:latin typeface="+mn-ea"/>
                  <a:ea typeface="+mn-ea"/>
                </a:rPr>
                <a:t>できるのでは？</a:t>
              </a:r>
            </a:p>
          </p:txBody>
        </p:sp>
      </p:grpSp>
      <p:grpSp>
        <p:nvGrpSpPr>
          <p:cNvPr id="60" name="グループ化 59">
            <a:extLst>
              <a:ext uri="{FF2B5EF4-FFF2-40B4-BE49-F238E27FC236}">
                <a16:creationId xmlns:a16="http://schemas.microsoft.com/office/drawing/2014/main" id="{0DC7F2E1-CE52-1442-CD47-575A229DB01B}"/>
              </a:ext>
            </a:extLst>
          </p:cNvPr>
          <p:cNvGrpSpPr/>
          <p:nvPr/>
        </p:nvGrpSpPr>
        <p:grpSpPr>
          <a:xfrm>
            <a:off x="2731231" y="4307239"/>
            <a:ext cx="605316" cy="1379718"/>
            <a:chOff x="2505542" y="4359968"/>
            <a:chExt cx="605316" cy="1379718"/>
          </a:xfrm>
        </p:grpSpPr>
        <p:sp>
          <p:nvSpPr>
            <p:cNvPr id="22" name="矢印: 上下 21">
              <a:extLst>
                <a:ext uri="{FF2B5EF4-FFF2-40B4-BE49-F238E27FC236}">
                  <a16:creationId xmlns:a16="http://schemas.microsoft.com/office/drawing/2014/main" id="{B9582793-40BD-BE84-62A6-CE6998977898}"/>
                </a:ext>
              </a:extLst>
            </p:cNvPr>
            <p:cNvSpPr/>
            <p:nvPr/>
          </p:nvSpPr>
          <p:spPr bwMode="auto">
            <a:xfrm rot="4039425">
              <a:off x="2716192" y="4159012"/>
              <a:ext cx="179230" cy="581142"/>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4" name="矢印: 上下 23">
              <a:extLst>
                <a:ext uri="{FF2B5EF4-FFF2-40B4-BE49-F238E27FC236}">
                  <a16:creationId xmlns:a16="http://schemas.microsoft.com/office/drawing/2014/main" id="{662E678E-F318-1D23-452B-F51C0C9AADDA}"/>
                </a:ext>
              </a:extLst>
            </p:cNvPr>
            <p:cNvSpPr/>
            <p:nvPr/>
          </p:nvSpPr>
          <p:spPr bwMode="auto">
            <a:xfrm rot="16200000">
              <a:off x="2709432" y="4742671"/>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9" name="矢印: 上下 18">
              <a:extLst>
                <a:ext uri="{FF2B5EF4-FFF2-40B4-BE49-F238E27FC236}">
                  <a16:creationId xmlns:a16="http://schemas.microsoft.com/office/drawing/2014/main" id="{41799CBB-3A57-03FB-1B8A-954881F02074}"/>
                </a:ext>
              </a:extLst>
            </p:cNvPr>
            <p:cNvSpPr/>
            <p:nvPr/>
          </p:nvSpPr>
          <p:spPr bwMode="auto">
            <a:xfrm rot="6762938">
              <a:off x="2711061" y="5359500"/>
              <a:ext cx="179230" cy="581142"/>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7" name="グループ化 56">
            <a:extLst>
              <a:ext uri="{FF2B5EF4-FFF2-40B4-BE49-F238E27FC236}">
                <a16:creationId xmlns:a16="http://schemas.microsoft.com/office/drawing/2014/main" id="{24568713-FC17-198E-ADD8-CBF0BB98398D}"/>
              </a:ext>
            </a:extLst>
          </p:cNvPr>
          <p:cNvGrpSpPr/>
          <p:nvPr/>
        </p:nvGrpSpPr>
        <p:grpSpPr>
          <a:xfrm>
            <a:off x="3385363" y="3414610"/>
            <a:ext cx="2175613" cy="3035170"/>
            <a:chOff x="3156989" y="3444748"/>
            <a:chExt cx="2175613" cy="3035170"/>
          </a:xfrm>
        </p:grpSpPr>
        <p:graphicFrame>
          <p:nvGraphicFramePr>
            <p:cNvPr id="23" name="グラフ 22">
              <a:extLst>
                <a:ext uri="{FF2B5EF4-FFF2-40B4-BE49-F238E27FC236}">
                  <a16:creationId xmlns:a16="http://schemas.microsoft.com/office/drawing/2014/main" id="{E76DCDF9-732A-69FA-849F-27E5A20C840B}"/>
                </a:ext>
              </a:extLst>
            </p:cNvPr>
            <p:cNvGraphicFramePr>
              <a:graphicFrameLocks/>
            </p:cNvGraphicFramePr>
            <p:nvPr>
              <p:extLst>
                <p:ext uri="{D42A27DB-BD31-4B8C-83A1-F6EECF244321}">
                  <p14:modId xmlns:p14="http://schemas.microsoft.com/office/powerpoint/2010/main" val="3699402750"/>
                </p:ext>
              </p:extLst>
            </p:nvPr>
          </p:nvGraphicFramePr>
          <p:xfrm>
            <a:off x="4195890" y="5279589"/>
            <a:ext cx="1115570" cy="1200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グラフ 9">
              <a:extLst>
                <a:ext uri="{FF2B5EF4-FFF2-40B4-BE49-F238E27FC236}">
                  <a16:creationId xmlns:a16="http://schemas.microsoft.com/office/drawing/2014/main" id="{4C4C639B-91E4-337F-F1AE-6BAE46C482A1}"/>
                </a:ext>
              </a:extLst>
            </p:cNvPr>
            <p:cNvGraphicFramePr>
              <a:graphicFrameLocks/>
            </p:cNvGraphicFramePr>
            <p:nvPr>
              <p:extLst>
                <p:ext uri="{D42A27DB-BD31-4B8C-83A1-F6EECF244321}">
                  <p14:modId xmlns:p14="http://schemas.microsoft.com/office/powerpoint/2010/main" val="419015330"/>
                </p:ext>
              </p:extLst>
            </p:nvPr>
          </p:nvGraphicFramePr>
          <p:xfrm>
            <a:off x="4293523" y="4351495"/>
            <a:ext cx="1039079" cy="1148352"/>
          </p:xfrm>
          <a:graphic>
            <a:graphicData uri="http://schemas.openxmlformats.org/drawingml/2006/chart">
              <c:chart xmlns:c="http://schemas.openxmlformats.org/drawingml/2006/chart" xmlns:r="http://schemas.openxmlformats.org/officeDocument/2006/relationships" r:id="rId4"/>
            </a:graphicData>
          </a:graphic>
        </p:graphicFrame>
        <p:sp>
          <p:nvSpPr>
            <p:cNvPr id="13" name="テキスト ボックス 12">
              <a:extLst>
                <a:ext uri="{FF2B5EF4-FFF2-40B4-BE49-F238E27FC236}">
                  <a16:creationId xmlns:a16="http://schemas.microsoft.com/office/drawing/2014/main" id="{74097799-146A-60F2-FD5D-1789CC953394}"/>
                </a:ext>
              </a:extLst>
            </p:cNvPr>
            <p:cNvSpPr txBox="1"/>
            <p:nvPr/>
          </p:nvSpPr>
          <p:spPr>
            <a:xfrm>
              <a:off x="3499793" y="5206691"/>
              <a:ext cx="476884"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4" name="テキスト ボックス 13">
              <a:extLst>
                <a:ext uri="{FF2B5EF4-FFF2-40B4-BE49-F238E27FC236}">
                  <a16:creationId xmlns:a16="http://schemas.microsoft.com/office/drawing/2014/main" id="{11F67BFE-D95E-A0A0-FA75-116078DB6838}"/>
                </a:ext>
              </a:extLst>
            </p:cNvPr>
            <p:cNvSpPr txBox="1"/>
            <p:nvPr/>
          </p:nvSpPr>
          <p:spPr>
            <a:xfrm>
              <a:off x="3481491" y="4392570"/>
              <a:ext cx="487530"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6" name="テキスト ボックス 15">
              <a:extLst>
                <a:ext uri="{FF2B5EF4-FFF2-40B4-BE49-F238E27FC236}">
                  <a16:creationId xmlns:a16="http://schemas.microsoft.com/office/drawing/2014/main" id="{BE825CDD-61F6-DF6B-EBED-A7CF6D39B0E5}"/>
                </a:ext>
              </a:extLst>
            </p:cNvPr>
            <p:cNvSpPr txBox="1"/>
            <p:nvPr/>
          </p:nvSpPr>
          <p:spPr>
            <a:xfrm>
              <a:off x="3157772" y="5679169"/>
              <a:ext cx="1365387" cy="369332"/>
            </a:xfrm>
            <a:prstGeom prst="rect">
              <a:avLst/>
            </a:prstGeom>
            <a:noFill/>
          </p:spPr>
          <p:txBody>
            <a:bodyPr wrap="square" rtlCol="0">
              <a:spAutoFit/>
            </a:bodyPr>
            <a:lstStyle/>
            <a:p>
              <a:pPr algn="l"/>
              <a:r>
                <a:rPr kumimoji="1" lang="ja-JP" altLang="en-US" sz="1800" i="0" dirty="0">
                  <a:latin typeface="+mj-ea"/>
                  <a:ea typeface="+mj-ea"/>
                </a:rPr>
                <a:t>高周波数</a:t>
              </a:r>
            </a:p>
          </p:txBody>
        </p:sp>
        <p:sp>
          <p:nvSpPr>
            <p:cNvPr id="17" name="テキスト ボックス 16">
              <a:extLst>
                <a:ext uri="{FF2B5EF4-FFF2-40B4-BE49-F238E27FC236}">
                  <a16:creationId xmlns:a16="http://schemas.microsoft.com/office/drawing/2014/main" id="{AAEEFB3B-3CFE-68B8-FFB1-1C46642D90A1}"/>
                </a:ext>
              </a:extLst>
            </p:cNvPr>
            <p:cNvSpPr txBox="1"/>
            <p:nvPr/>
          </p:nvSpPr>
          <p:spPr>
            <a:xfrm>
              <a:off x="3156989" y="4878420"/>
              <a:ext cx="1177906" cy="369332"/>
            </a:xfrm>
            <a:prstGeom prst="rect">
              <a:avLst/>
            </a:prstGeom>
            <a:noFill/>
          </p:spPr>
          <p:txBody>
            <a:bodyPr wrap="square" rtlCol="0">
              <a:spAutoFit/>
            </a:bodyPr>
            <a:lstStyle/>
            <a:p>
              <a:pPr algn="l"/>
              <a:r>
                <a:rPr lang="ja-JP" altLang="en-US" sz="1800" i="0" dirty="0">
                  <a:latin typeface="+mj-ea"/>
                  <a:ea typeface="+mj-ea"/>
                </a:rPr>
                <a:t>中周波数</a:t>
              </a:r>
              <a:endParaRPr kumimoji="1" lang="ja-JP" altLang="en-US" sz="1800" i="0" dirty="0">
                <a:latin typeface="+mj-ea"/>
                <a:ea typeface="+mj-ea"/>
              </a:endParaRPr>
            </a:p>
          </p:txBody>
        </p:sp>
        <p:sp>
          <p:nvSpPr>
            <p:cNvPr id="18" name="テキスト ボックス 17">
              <a:extLst>
                <a:ext uri="{FF2B5EF4-FFF2-40B4-BE49-F238E27FC236}">
                  <a16:creationId xmlns:a16="http://schemas.microsoft.com/office/drawing/2014/main" id="{4467F765-EA19-B9BD-3C18-C6B03ABFC05F}"/>
                </a:ext>
              </a:extLst>
            </p:cNvPr>
            <p:cNvSpPr txBox="1"/>
            <p:nvPr/>
          </p:nvSpPr>
          <p:spPr>
            <a:xfrm>
              <a:off x="3156989" y="4066459"/>
              <a:ext cx="1460483" cy="369332"/>
            </a:xfrm>
            <a:prstGeom prst="rect">
              <a:avLst/>
            </a:prstGeom>
            <a:noFill/>
          </p:spPr>
          <p:txBody>
            <a:bodyPr wrap="square" rtlCol="0">
              <a:spAutoFit/>
            </a:bodyPr>
            <a:lstStyle/>
            <a:p>
              <a:pPr algn="l"/>
              <a:r>
                <a:rPr lang="ja-JP" altLang="en-US" sz="1800" i="0" dirty="0">
                  <a:latin typeface="+mj-ea"/>
                  <a:ea typeface="+mj-ea"/>
                </a:rPr>
                <a:t>低周波数</a:t>
              </a:r>
              <a:endParaRPr kumimoji="1" lang="ja-JP" altLang="en-US" sz="1800" i="0" dirty="0">
                <a:latin typeface="+mj-ea"/>
                <a:ea typeface="+mj-ea"/>
              </a:endParaRPr>
            </a:p>
          </p:txBody>
        </p:sp>
        <p:pic>
          <p:nvPicPr>
            <p:cNvPr id="11" name="図 10">
              <a:extLst>
                <a:ext uri="{FF2B5EF4-FFF2-40B4-BE49-F238E27FC236}">
                  <a16:creationId xmlns:a16="http://schemas.microsoft.com/office/drawing/2014/main" id="{7BA27717-8A08-F042-3E0F-398DA3C9491A}"/>
                </a:ext>
              </a:extLst>
            </p:cNvPr>
            <p:cNvPicPr>
              <a:picLocks noChangeAspect="1"/>
            </p:cNvPicPr>
            <p:nvPr/>
          </p:nvPicPr>
          <p:blipFill>
            <a:blip r:embed="rId5"/>
            <a:stretch>
              <a:fillRect/>
            </a:stretch>
          </p:blipFill>
          <p:spPr>
            <a:xfrm>
              <a:off x="4293523" y="3920078"/>
              <a:ext cx="789926" cy="657317"/>
            </a:xfrm>
            <a:prstGeom prst="rect">
              <a:avLst/>
            </a:prstGeom>
          </p:spPr>
        </p:pic>
        <p:sp>
          <p:nvSpPr>
            <p:cNvPr id="6" name="テキスト ボックス 5">
              <a:extLst>
                <a:ext uri="{FF2B5EF4-FFF2-40B4-BE49-F238E27FC236}">
                  <a16:creationId xmlns:a16="http://schemas.microsoft.com/office/drawing/2014/main" id="{A5F98D87-AAD6-C561-472D-89CF9D4BF5D1}"/>
                </a:ext>
              </a:extLst>
            </p:cNvPr>
            <p:cNvSpPr txBox="1"/>
            <p:nvPr/>
          </p:nvSpPr>
          <p:spPr>
            <a:xfrm>
              <a:off x="3367570" y="3444748"/>
              <a:ext cx="1415772" cy="461665"/>
            </a:xfrm>
            <a:prstGeom prst="rect">
              <a:avLst/>
            </a:prstGeom>
            <a:noFill/>
          </p:spPr>
          <p:txBody>
            <a:bodyPr wrap="none" rtlCol="0">
              <a:spAutoFit/>
            </a:bodyPr>
            <a:lstStyle/>
            <a:p>
              <a:pPr algn="l"/>
              <a:r>
                <a:rPr kumimoji="1" lang="ja-JP" altLang="en-US" sz="2400" i="0" dirty="0">
                  <a:latin typeface="+mn-ea"/>
                  <a:ea typeface="+mn-ea"/>
                </a:rPr>
                <a:t>基礎地形</a:t>
              </a:r>
            </a:p>
          </p:txBody>
        </p:sp>
      </p:grpSp>
      <p:grpSp>
        <p:nvGrpSpPr>
          <p:cNvPr id="53" name="グループ化 52">
            <a:extLst>
              <a:ext uri="{FF2B5EF4-FFF2-40B4-BE49-F238E27FC236}">
                <a16:creationId xmlns:a16="http://schemas.microsoft.com/office/drawing/2014/main" id="{B47F043D-E423-0115-09C0-A4445C890F25}"/>
              </a:ext>
            </a:extLst>
          </p:cNvPr>
          <p:cNvGrpSpPr/>
          <p:nvPr/>
        </p:nvGrpSpPr>
        <p:grpSpPr>
          <a:xfrm>
            <a:off x="5470699" y="4086238"/>
            <a:ext cx="608270" cy="1720645"/>
            <a:chOff x="5427830" y="4174259"/>
            <a:chExt cx="608270" cy="1720645"/>
          </a:xfrm>
        </p:grpSpPr>
        <p:sp>
          <p:nvSpPr>
            <p:cNvPr id="20" name="矢印: 上下 19">
              <a:extLst>
                <a:ext uri="{FF2B5EF4-FFF2-40B4-BE49-F238E27FC236}">
                  <a16:creationId xmlns:a16="http://schemas.microsoft.com/office/drawing/2014/main" id="{54CB0CB7-C85A-3FB6-C7E5-465FD568AED3}"/>
                </a:ext>
              </a:extLst>
            </p:cNvPr>
            <p:cNvSpPr/>
            <p:nvPr/>
          </p:nvSpPr>
          <p:spPr bwMode="auto">
            <a:xfrm rot="16200000">
              <a:off x="5631720" y="3970369"/>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1" name="矢印: 上下 20">
              <a:extLst>
                <a:ext uri="{FF2B5EF4-FFF2-40B4-BE49-F238E27FC236}">
                  <a16:creationId xmlns:a16="http://schemas.microsoft.com/office/drawing/2014/main" id="{89A67D26-35D8-8F5E-9E71-6929A1506692}"/>
                </a:ext>
              </a:extLst>
            </p:cNvPr>
            <p:cNvSpPr/>
            <p:nvPr/>
          </p:nvSpPr>
          <p:spPr bwMode="auto">
            <a:xfrm rot="16200000">
              <a:off x="5634674" y="4737133"/>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5" name="矢印: 上下 24">
              <a:extLst>
                <a:ext uri="{FF2B5EF4-FFF2-40B4-BE49-F238E27FC236}">
                  <a16:creationId xmlns:a16="http://schemas.microsoft.com/office/drawing/2014/main" id="{7545A514-A689-C84E-3343-386664DA55EB}"/>
                </a:ext>
              </a:extLst>
            </p:cNvPr>
            <p:cNvSpPr/>
            <p:nvPr/>
          </p:nvSpPr>
          <p:spPr bwMode="auto">
            <a:xfrm rot="16200000">
              <a:off x="5631720" y="5493478"/>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5" name="グループ化 54">
            <a:extLst>
              <a:ext uri="{FF2B5EF4-FFF2-40B4-BE49-F238E27FC236}">
                <a16:creationId xmlns:a16="http://schemas.microsoft.com/office/drawing/2014/main" id="{D938A2A8-E3E6-A885-B5F2-1205BBD7B55D}"/>
              </a:ext>
            </a:extLst>
          </p:cNvPr>
          <p:cNvGrpSpPr/>
          <p:nvPr/>
        </p:nvGrpSpPr>
        <p:grpSpPr>
          <a:xfrm>
            <a:off x="5922100" y="3429000"/>
            <a:ext cx="2646878" cy="3038287"/>
            <a:chOff x="5914621" y="3441543"/>
            <a:chExt cx="2646878" cy="3038287"/>
          </a:xfrm>
        </p:grpSpPr>
        <p:pic>
          <p:nvPicPr>
            <p:cNvPr id="5" name="図 4">
              <a:extLst>
                <a:ext uri="{FF2B5EF4-FFF2-40B4-BE49-F238E27FC236}">
                  <a16:creationId xmlns:a16="http://schemas.microsoft.com/office/drawing/2014/main" id="{BB2696FE-5949-3E4F-6D30-C54A9E675D6E}"/>
                </a:ext>
              </a:extLst>
            </p:cNvPr>
            <p:cNvPicPr>
              <a:picLocks noChangeAspect="1"/>
            </p:cNvPicPr>
            <p:nvPr/>
          </p:nvPicPr>
          <p:blipFill>
            <a:blip r:embed="rId5"/>
            <a:stretch>
              <a:fillRect/>
            </a:stretch>
          </p:blipFill>
          <p:spPr>
            <a:xfrm>
              <a:off x="7116434" y="3920078"/>
              <a:ext cx="789926" cy="657317"/>
            </a:xfrm>
            <a:prstGeom prst="rect">
              <a:avLst/>
            </a:prstGeom>
          </p:spPr>
        </p:pic>
        <p:graphicFrame>
          <p:nvGraphicFramePr>
            <p:cNvPr id="8" name="グラフ 7">
              <a:extLst>
                <a:ext uri="{FF2B5EF4-FFF2-40B4-BE49-F238E27FC236}">
                  <a16:creationId xmlns:a16="http://schemas.microsoft.com/office/drawing/2014/main" id="{743D7374-B0CC-0A1D-AB3C-2560B0FD1F6A}"/>
                </a:ext>
              </a:extLst>
            </p:cNvPr>
            <p:cNvGraphicFramePr>
              <a:graphicFrameLocks/>
            </p:cNvGraphicFramePr>
            <p:nvPr>
              <p:extLst>
                <p:ext uri="{D42A27DB-BD31-4B8C-83A1-F6EECF244321}">
                  <p14:modId xmlns:p14="http://schemas.microsoft.com/office/powerpoint/2010/main" val="2059095158"/>
                </p:ext>
              </p:extLst>
            </p:nvPr>
          </p:nvGraphicFramePr>
          <p:xfrm>
            <a:off x="7110081" y="4377020"/>
            <a:ext cx="1039079" cy="114835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グラフ 11">
              <a:extLst>
                <a:ext uri="{FF2B5EF4-FFF2-40B4-BE49-F238E27FC236}">
                  <a16:creationId xmlns:a16="http://schemas.microsoft.com/office/drawing/2014/main" id="{603CB0B5-C87B-EAC7-69B0-66BDDA2CAA1E}"/>
                </a:ext>
              </a:extLst>
            </p:cNvPr>
            <p:cNvGraphicFramePr>
              <a:graphicFrameLocks/>
            </p:cNvGraphicFramePr>
            <p:nvPr>
              <p:extLst>
                <p:ext uri="{D42A27DB-BD31-4B8C-83A1-F6EECF244321}">
                  <p14:modId xmlns:p14="http://schemas.microsoft.com/office/powerpoint/2010/main" val="2134617206"/>
                </p:ext>
              </p:extLst>
            </p:nvPr>
          </p:nvGraphicFramePr>
          <p:xfrm>
            <a:off x="7054949" y="5279501"/>
            <a:ext cx="1115570" cy="1200329"/>
          </p:xfrm>
          <a:graphic>
            <a:graphicData uri="http://schemas.openxmlformats.org/drawingml/2006/chart">
              <c:chart xmlns:c="http://schemas.openxmlformats.org/drawingml/2006/chart" xmlns:r="http://schemas.openxmlformats.org/officeDocument/2006/relationships" r:id="rId7"/>
            </a:graphicData>
          </a:graphic>
        </p:graphicFrame>
        <p:sp>
          <p:nvSpPr>
            <p:cNvPr id="34" name="テキスト ボックス 33">
              <a:extLst>
                <a:ext uri="{FF2B5EF4-FFF2-40B4-BE49-F238E27FC236}">
                  <a16:creationId xmlns:a16="http://schemas.microsoft.com/office/drawing/2014/main" id="{F0455F94-0085-54AF-D84F-640ABE6D08A9}"/>
                </a:ext>
              </a:extLst>
            </p:cNvPr>
            <p:cNvSpPr txBox="1"/>
            <p:nvPr/>
          </p:nvSpPr>
          <p:spPr>
            <a:xfrm>
              <a:off x="5914621" y="3441543"/>
              <a:ext cx="2646878" cy="461665"/>
            </a:xfrm>
            <a:prstGeom prst="rect">
              <a:avLst/>
            </a:prstGeom>
            <a:noFill/>
          </p:spPr>
          <p:txBody>
            <a:bodyPr wrap="none" rtlCol="0">
              <a:spAutoFit/>
            </a:bodyPr>
            <a:lstStyle/>
            <a:p>
              <a:pPr algn="l"/>
              <a:r>
                <a:rPr kumimoji="1" lang="ja-JP" altLang="en-US" sz="2400" i="0" dirty="0">
                  <a:latin typeface="+mn-ea"/>
                  <a:ea typeface="+mn-ea"/>
                </a:rPr>
                <a:t>各走行性能を調査</a:t>
              </a:r>
            </a:p>
          </p:txBody>
        </p:sp>
        <p:grpSp>
          <p:nvGrpSpPr>
            <p:cNvPr id="3" name="グループ化 2">
              <a:extLst>
                <a:ext uri="{FF2B5EF4-FFF2-40B4-BE49-F238E27FC236}">
                  <a16:creationId xmlns:a16="http://schemas.microsoft.com/office/drawing/2014/main" id="{B8C77B3B-E785-7B07-F028-D9FE2FAB05B7}"/>
                </a:ext>
              </a:extLst>
            </p:cNvPr>
            <p:cNvGrpSpPr/>
            <p:nvPr/>
          </p:nvGrpSpPr>
          <p:grpSpPr>
            <a:xfrm>
              <a:off x="6249418" y="3976038"/>
              <a:ext cx="765661" cy="615316"/>
              <a:chOff x="2123507" y="3298269"/>
              <a:chExt cx="1033019" cy="897643"/>
            </a:xfrm>
          </p:grpSpPr>
          <p:sp>
            <p:nvSpPr>
              <p:cNvPr id="4" name="正方形/長方形 3">
                <a:extLst>
                  <a:ext uri="{FF2B5EF4-FFF2-40B4-BE49-F238E27FC236}">
                    <a16:creationId xmlns:a16="http://schemas.microsoft.com/office/drawing/2014/main" id="{414998EC-6C77-354A-3E85-9793FABA4700}"/>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7" name="フローチャート: 結合子 26">
                <a:extLst>
                  <a:ext uri="{FF2B5EF4-FFF2-40B4-BE49-F238E27FC236}">
                    <a16:creationId xmlns:a16="http://schemas.microsoft.com/office/drawing/2014/main" id="{3FBDEFBE-7937-16DC-75D0-332932CD031B}"/>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CCF8164B-DA1C-C8EF-7DCD-2D6310CC282E}"/>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9" name="グループ化 38">
              <a:extLst>
                <a:ext uri="{FF2B5EF4-FFF2-40B4-BE49-F238E27FC236}">
                  <a16:creationId xmlns:a16="http://schemas.microsoft.com/office/drawing/2014/main" id="{5AAF4C0D-E6A0-9C4D-6FE1-0BE227B6A46E}"/>
                </a:ext>
              </a:extLst>
            </p:cNvPr>
            <p:cNvGrpSpPr/>
            <p:nvPr/>
          </p:nvGrpSpPr>
          <p:grpSpPr>
            <a:xfrm>
              <a:off x="6252495" y="4755428"/>
              <a:ext cx="765661" cy="615316"/>
              <a:chOff x="2123507" y="3298269"/>
              <a:chExt cx="1033019" cy="897643"/>
            </a:xfrm>
          </p:grpSpPr>
          <p:sp>
            <p:nvSpPr>
              <p:cNvPr id="41" name="正方形/長方形 40">
                <a:extLst>
                  <a:ext uri="{FF2B5EF4-FFF2-40B4-BE49-F238E27FC236}">
                    <a16:creationId xmlns:a16="http://schemas.microsoft.com/office/drawing/2014/main" id="{60238467-253D-F23C-384F-BA4B926D1EEB}"/>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54391825-CACB-B9FA-202D-9ABCA9271A88}"/>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1A6A0E01-A27F-08B3-5B9D-C3F5B11A1623}"/>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4" name="グループ化 43">
              <a:extLst>
                <a:ext uri="{FF2B5EF4-FFF2-40B4-BE49-F238E27FC236}">
                  <a16:creationId xmlns:a16="http://schemas.microsoft.com/office/drawing/2014/main" id="{AF2F724E-34EC-456D-08FA-F4DA780BC2E7}"/>
                </a:ext>
              </a:extLst>
            </p:cNvPr>
            <p:cNvGrpSpPr/>
            <p:nvPr/>
          </p:nvGrpSpPr>
          <p:grpSpPr>
            <a:xfrm>
              <a:off x="6244980" y="5556177"/>
              <a:ext cx="765661" cy="615316"/>
              <a:chOff x="2123507" y="3298269"/>
              <a:chExt cx="1033019" cy="897643"/>
            </a:xfrm>
          </p:grpSpPr>
          <p:sp>
            <p:nvSpPr>
              <p:cNvPr id="45" name="正方形/長方形 44">
                <a:extLst>
                  <a:ext uri="{FF2B5EF4-FFF2-40B4-BE49-F238E27FC236}">
                    <a16:creationId xmlns:a16="http://schemas.microsoft.com/office/drawing/2014/main" id="{30AF259A-5F2E-031F-A110-8AF67E36E5EF}"/>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6" name="フローチャート: 結合子 45">
                <a:extLst>
                  <a:ext uri="{FF2B5EF4-FFF2-40B4-BE49-F238E27FC236}">
                    <a16:creationId xmlns:a16="http://schemas.microsoft.com/office/drawing/2014/main" id="{4CE2C7C3-984C-4373-7B85-A6F8FBAFD859}"/>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7" name="フローチャート: 結合子 46">
                <a:extLst>
                  <a:ext uri="{FF2B5EF4-FFF2-40B4-BE49-F238E27FC236}">
                    <a16:creationId xmlns:a16="http://schemas.microsoft.com/office/drawing/2014/main" id="{3FF335BB-0C45-E745-63DE-FF1E2B35A15C}"/>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56" name="グループ化 55">
            <a:extLst>
              <a:ext uri="{FF2B5EF4-FFF2-40B4-BE49-F238E27FC236}">
                <a16:creationId xmlns:a16="http://schemas.microsoft.com/office/drawing/2014/main" id="{FE191B01-D3E0-2D86-92AA-0D3C4CA3DC2B}"/>
              </a:ext>
            </a:extLst>
          </p:cNvPr>
          <p:cNvGrpSpPr/>
          <p:nvPr/>
        </p:nvGrpSpPr>
        <p:grpSpPr>
          <a:xfrm>
            <a:off x="8666637" y="3458413"/>
            <a:ext cx="2954655" cy="2366369"/>
            <a:chOff x="8889048" y="3436515"/>
            <a:chExt cx="2954655" cy="2366369"/>
          </a:xfrm>
        </p:grpSpPr>
        <p:sp>
          <p:nvSpPr>
            <p:cNvPr id="49" name="テキスト ボックス 48">
              <a:extLst>
                <a:ext uri="{FF2B5EF4-FFF2-40B4-BE49-F238E27FC236}">
                  <a16:creationId xmlns:a16="http://schemas.microsoft.com/office/drawing/2014/main" id="{A73C2FF3-1AD3-505A-8F30-0901FACF4698}"/>
                </a:ext>
              </a:extLst>
            </p:cNvPr>
            <p:cNvSpPr txBox="1"/>
            <p:nvPr/>
          </p:nvSpPr>
          <p:spPr>
            <a:xfrm>
              <a:off x="8889048" y="3436515"/>
              <a:ext cx="2954655" cy="461665"/>
            </a:xfrm>
            <a:prstGeom prst="rect">
              <a:avLst/>
            </a:prstGeom>
            <a:noFill/>
          </p:spPr>
          <p:txBody>
            <a:bodyPr wrap="none" rtlCol="0">
              <a:spAutoFit/>
            </a:bodyPr>
            <a:lstStyle/>
            <a:p>
              <a:pPr algn="l"/>
              <a:r>
                <a:rPr kumimoji="1" lang="ja-JP" altLang="en-US" sz="2400" i="0" dirty="0">
                  <a:latin typeface="+mj-ea"/>
                  <a:ea typeface="+mj-ea"/>
                </a:rPr>
                <a:t>未知環境の走行性能</a:t>
              </a:r>
            </a:p>
          </p:txBody>
        </p:sp>
        <p:sp>
          <p:nvSpPr>
            <p:cNvPr id="35" name="フリーフォーム: 図形 34">
              <a:extLst>
                <a:ext uri="{FF2B5EF4-FFF2-40B4-BE49-F238E27FC236}">
                  <a16:creationId xmlns:a16="http://schemas.microsoft.com/office/drawing/2014/main" id="{66461386-A621-198D-7348-C4ECD0349AEF}"/>
                </a:ext>
              </a:extLst>
            </p:cNvPr>
            <p:cNvSpPr/>
            <p:nvPr/>
          </p:nvSpPr>
          <p:spPr bwMode="auto">
            <a:xfrm>
              <a:off x="9870981" y="4174258"/>
              <a:ext cx="1825538" cy="1628626"/>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48" name="グループ化 47">
              <a:extLst>
                <a:ext uri="{FF2B5EF4-FFF2-40B4-BE49-F238E27FC236}">
                  <a16:creationId xmlns:a16="http://schemas.microsoft.com/office/drawing/2014/main" id="{0292CD77-935E-6E55-F267-83A29D282673}"/>
                </a:ext>
              </a:extLst>
            </p:cNvPr>
            <p:cNvGrpSpPr/>
            <p:nvPr/>
          </p:nvGrpSpPr>
          <p:grpSpPr>
            <a:xfrm>
              <a:off x="9011019" y="4755428"/>
              <a:ext cx="765661" cy="615316"/>
              <a:chOff x="2123507" y="3298269"/>
              <a:chExt cx="1033019" cy="897643"/>
            </a:xfrm>
          </p:grpSpPr>
          <p:sp>
            <p:nvSpPr>
              <p:cNvPr id="50" name="正方形/長方形 49">
                <a:extLst>
                  <a:ext uri="{FF2B5EF4-FFF2-40B4-BE49-F238E27FC236}">
                    <a16:creationId xmlns:a16="http://schemas.microsoft.com/office/drawing/2014/main" id="{91410BF5-A4A8-F3A4-F4DE-FDA578B74F39}"/>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1" name="フローチャート: 結合子 50">
                <a:extLst>
                  <a:ext uri="{FF2B5EF4-FFF2-40B4-BE49-F238E27FC236}">
                    <a16:creationId xmlns:a16="http://schemas.microsoft.com/office/drawing/2014/main" id="{F29014C8-2183-A4F5-F2A8-743E9FB848C8}"/>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2" name="フローチャート: 結合子 51">
                <a:extLst>
                  <a:ext uri="{FF2B5EF4-FFF2-40B4-BE49-F238E27FC236}">
                    <a16:creationId xmlns:a16="http://schemas.microsoft.com/office/drawing/2014/main" id="{CC56D85C-6527-9F07-ADF7-C4141BDB9A6F}"/>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Tree>
    <p:extLst>
      <p:ext uri="{BB962C8B-B14F-4D97-AF65-F5344CB8AC3E}">
        <p14:creationId xmlns:p14="http://schemas.microsoft.com/office/powerpoint/2010/main" val="13103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5C7-0013-B1C3-2628-0A607996823A}"/>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9EFDC488-4976-962E-682E-A5D76D55C329}"/>
              </a:ext>
            </a:extLst>
          </p:cNvPr>
          <p:cNvSpPr>
            <a:spLocks noGrp="1" noChangeArrowheads="1"/>
          </p:cNvSpPr>
          <p:nvPr>
            <p:ph type="title"/>
          </p:nvPr>
        </p:nvSpPr>
        <p:spPr/>
        <p:txBody>
          <a:bodyPr/>
          <a:lstStyle/>
          <a:p>
            <a:r>
              <a:rPr lang="ja-JP" altLang="en-US" sz="3200" b="1" dirty="0"/>
              <a:t>本研究の目的</a:t>
            </a:r>
            <a:endParaRPr lang="ja-JP" altLang="en-US" sz="3200" dirty="0"/>
          </a:p>
        </p:txBody>
      </p:sp>
      <p:grpSp>
        <p:nvGrpSpPr>
          <p:cNvPr id="25" name="グループ化 24">
            <a:extLst>
              <a:ext uri="{FF2B5EF4-FFF2-40B4-BE49-F238E27FC236}">
                <a16:creationId xmlns:a16="http://schemas.microsoft.com/office/drawing/2014/main" id="{5C9AA3A0-D48C-C31E-FEF0-F345D219182A}"/>
              </a:ext>
            </a:extLst>
          </p:cNvPr>
          <p:cNvGrpSpPr/>
          <p:nvPr/>
        </p:nvGrpSpPr>
        <p:grpSpPr>
          <a:xfrm>
            <a:off x="1943064" y="1332572"/>
            <a:ext cx="8000261" cy="1801360"/>
            <a:chOff x="1943064" y="1332572"/>
            <a:chExt cx="8000261" cy="1801360"/>
          </a:xfrm>
        </p:grpSpPr>
        <p:sp>
          <p:nvSpPr>
            <p:cNvPr id="20" name="正方形/長方形 19">
              <a:extLst>
                <a:ext uri="{FF2B5EF4-FFF2-40B4-BE49-F238E27FC236}">
                  <a16:creationId xmlns:a16="http://schemas.microsoft.com/office/drawing/2014/main" id="{0FD03367-6996-80DB-5DCB-E00DB6A1187D}"/>
                </a:ext>
              </a:extLst>
            </p:cNvPr>
            <p:cNvSpPr/>
            <p:nvPr/>
          </p:nvSpPr>
          <p:spPr bwMode="auto">
            <a:xfrm>
              <a:off x="1943064" y="1652350"/>
              <a:ext cx="8000261" cy="1481582"/>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8" name="テキスト ボックス 17">
              <a:extLst>
                <a:ext uri="{FF2B5EF4-FFF2-40B4-BE49-F238E27FC236}">
                  <a16:creationId xmlns:a16="http://schemas.microsoft.com/office/drawing/2014/main" id="{3FF0B924-6ACC-4191-3FAC-404706EB51C2}"/>
                </a:ext>
              </a:extLst>
            </p:cNvPr>
            <p:cNvSpPr txBox="1"/>
            <p:nvPr/>
          </p:nvSpPr>
          <p:spPr>
            <a:xfrm>
              <a:off x="2124081" y="1929483"/>
              <a:ext cx="7606872" cy="1077218"/>
            </a:xfrm>
            <a:prstGeom prst="rect">
              <a:avLst/>
            </a:prstGeom>
            <a:noFill/>
          </p:spPr>
          <p:txBody>
            <a:bodyPr wrap="square" rtlCol="0">
              <a:spAutoFit/>
            </a:bodyPr>
            <a:lstStyle/>
            <a:p>
              <a:pPr algn="ctr"/>
              <a:r>
                <a:rPr kumimoji="1" lang="ja-JP" altLang="en-US" sz="3200" b="1" i="0" dirty="0">
                  <a:latin typeface="+mn-ea"/>
                  <a:ea typeface="+mn-ea"/>
                </a:rPr>
                <a:t>未知環境におけるロボットの走行性能を</a:t>
              </a:r>
              <a:endParaRPr kumimoji="1" lang="en-US" altLang="ja-JP" sz="3200" b="1" i="0" dirty="0">
                <a:latin typeface="+mn-ea"/>
                <a:ea typeface="+mn-ea"/>
              </a:endParaRPr>
            </a:p>
            <a:p>
              <a:pPr algn="ctr"/>
              <a:r>
                <a:rPr kumimoji="1" lang="ja-JP" altLang="en-US" sz="3200" b="1" i="0" dirty="0">
                  <a:latin typeface="+mn-ea"/>
                  <a:ea typeface="+mn-ea"/>
                </a:rPr>
                <a:t>予測する</a:t>
              </a:r>
              <a:r>
                <a:rPr kumimoji="1" lang="ja-JP" altLang="en-US" sz="3200" b="1" i="0" dirty="0">
                  <a:solidFill>
                    <a:srgbClr val="FF0000"/>
                  </a:solidFill>
                  <a:latin typeface="+mn-ea"/>
                  <a:ea typeface="+mn-ea"/>
                </a:rPr>
                <a:t>手法</a:t>
              </a:r>
              <a:r>
                <a:rPr kumimoji="1" lang="ja-JP" altLang="en-US" sz="3200" b="1" i="0" dirty="0">
                  <a:latin typeface="+mn-ea"/>
                  <a:ea typeface="+mn-ea"/>
                </a:rPr>
                <a:t>を確立する</a:t>
              </a:r>
            </a:p>
          </p:txBody>
        </p:sp>
        <p:sp>
          <p:nvSpPr>
            <p:cNvPr id="21" name="テキスト ボックス 20">
              <a:extLst>
                <a:ext uri="{FF2B5EF4-FFF2-40B4-BE49-F238E27FC236}">
                  <a16:creationId xmlns:a16="http://schemas.microsoft.com/office/drawing/2014/main" id="{CC97037A-F383-6EC7-D463-3EDD418741F8}"/>
                </a:ext>
              </a:extLst>
            </p:cNvPr>
            <p:cNvSpPr txBox="1"/>
            <p:nvPr/>
          </p:nvSpPr>
          <p:spPr>
            <a:xfrm>
              <a:off x="2233465" y="1332572"/>
              <a:ext cx="2714242" cy="584775"/>
            </a:xfrm>
            <a:prstGeom prst="rect">
              <a:avLst/>
            </a:prstGeom>
            <a:solidFill>
              <a:schemeClr val="bg1"/>
            </a:solidFill>
            <a:ln>
              <a:solidFill>
                <a:schemeClr val="tx1"/>
              </a:solidFill>
            </a:ln>
          </p:spPr>
          <p:txBody>
            <a:bodyPr wrap="square" rtlCol="0" anchor="ctr">
              <a:spAutoFit/>
            </a:bodyPr>
            <a:lstStyle/>
            <a:p>
              <a:pPr algn="ctr"/>
              <a:r>
                <a:rPr kumimoji="1" lang="ja-JP" altLang="en-US" sz="3200" b="1" i="0" dirty="0">
                  <a:latin typeface="+mn-ea"/>
                  <a:ea typeface="+mn-ea"/>
                </a:rPr>
                <a:t>本研究の目的</a:t>
              </a:r>
              <a:endParaRPr kumimoji="1" lang="en-US" altLang="ja-JP" sz="3200" b="1" i="0" dirty="0">
                <a:latin typeface="+mn-ea"/>
                <a:ea typeface="+mn-ea"/>
              </a:endParaRPr>
            </a:p>
          </p:txBody>
        </p:sp>
      </p:grpSp>
      <p:sp>
        <p:nvSpPr>
          <p:cNvPr id="5" name="テキスト ボックス 4">
            <a:extLst>
              <a:ext uri="{FF2B5EF4-FFF2-40B4-BE49-F238E27FC236}">
                <a16:creationId xmlns:a16="http://schemas.microsoft.com/office/drawing/2014/main" id="{BF8DB756-3E6C-F36F-8CFE-46585FE85E1C}"/>
              </a:ext>
            </a:extLst>
          </p:cNvPr>
          <p:cNvSpPr txBox="1"/>
          <p:nvPr/>
        </p:nvSpPr>
        <p:spPr>
          <a:xfrm>
            <a:off x="1029945" y="5667652"/>
            <a:ext cx="10443885" cy="584775"/>
          </a:xfrm>
          <a:prstGeom prst="rect">
            <a:avLst/>
          </a:prstGeom>
          <a:noFill/>
        </p:spPr>
        <p:txBody>
          <a:bodyPr wrap="none" rtlCol="0">
            <a:spAutoFit/>
          </a:bodyPr>
          <a:lstStyle/>
          <a:p>
            <a:pPr algn="l"/>
            <a:r>
              <a:rPr kumimoji="1" lang="ja-JP" altLang="en-US" sz="3200" b="1" i="0" dirty="0">
                <a:latin typeface="+mn-ea"/>
                <a:ea typeface="+mn-ea"/>
              </a:rPr>
              <a:t>正弦波の基礎地形における</a:t>
            </a:r>
            <a:r>
              <a:rPr kumimoji="1" lang="ja-JP" altLang="en-US" sz="3200" b="1" i="0" u="sng" dirty="0">
                <a:solidFill>
                  <a:srgbClr val="FF0000"/>
                </a:solidFill>
                <a:latin typeface="+mn-ea"/>
                <a:ea typeface="+mn-ea"/>
              </a:rPr>
              <a:t>走行性能の重ね合わせの可否</a:t>
            </a:r>
            <a:endParaRPr kumimoji="1" lang="ja-JP" altLang="en-US" sz="2400" i="0" u="sng" dirty="0">
              <a:solidFill>
                <a:srgbClr val="FF0000"/>
              </a:solidFill>
              <a:latin typeface="+mn-ea"/>
              <a:ea typeface="+mn-ea"/>
            </a:endParaRPr>
          </a:p>
        </p:txBody>
      </p:sp>
      <p:grpSp>
        <p:nvGrpSpPr>
          <p:cNvPr id="31" name="グループ化 30">
            <a:extLst>
              <a:ext uri="{FF2B5EF4-FFF2-40B4-BE49-F238E27FC236}">
                <a16:creationId xmlns:a16="http://schemas.microsoft.com/office/drawing/2014/main" id="{AED29D1B-50EE-FF41-1244-0F0E8A7E359A}"/>
              </a:ext>
            </a:extLst>
          </p:cNvPr>
          <p:cNvGrpSpPr/>
          <p:nvPr/>
        </p:nvGrpSpPr>
        <p:grpSpPr>
          <a:xfrm>
            <a:off x="5657938" y="3634476"/>
            <a:ext cx="642118" cy="1366150"/>
            <a:chOff x="5584253" y="3772438"/>
            <a:chExt cx="642118" cy="1366150"/>
          </a:xfrm>
        </p:grpSpPr>
        <p:sp>
          <p:nvSpPr>
            <p:cNvPr id="16" name="矢印: 上下 15">
              <a:extLst>
                <a:ext uri="{FF2B5EF4-FFF2-40B4-BE49-F238E27FC236}">
                  <a16:creationId xmlns:a16="http://schemas.microsoft.com/office/drawing/2014/main" id="{E50B0485-CAC5-40D0-BC7C-BEC84399E3F2}"/>
                </a:ext>
              </a:extLst>
            </p:cNvPr>
            <p:cNvSpPr/>
            <p:nvPr/>
          </p:nvSpPr>
          <p:spPr bwMode="auto">
            <a:xfrm rot="6424514">
              <a:off x="5819109" y="3547092"/>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2" name="矢印: 上下 31">
              <a:extLst>
                <a:ext uri="{FF2B5EF4-FFF2-40B4-BE49-F238E27FC236}">
                  <a16:creationId xmlns:a16="http://schemas.microsoft.com/office/drawing/2014/main" id="{F93479F8-BD5D-8AD5-9FA5-8AF9EDBED1EE}"/>
                </a:ext>
              </a:extLst>
            </p:cNvPr>
            <p:cNvSpPr/>
            <p:nvPr/>
          </p:nvSpPr>
          <p:spPr bwMode="auto">
            <a:xfrm rot="5400000">
              <a:off x="5809599" y="4146932"/>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3" name="矢印: 上下 32">
              <a:extLst>
                <a:ext uri="{FF2B5EF4-FFF2-40B4-BE49-F238E27FC236}">
                  <a16:creationId xmlns:a16="http://schemas.microsoft.com/office/drawing/2014/main" id="{900E0C2F-6DA0-34E6-F4A6-D4313E39D4F9}"/>
                </a:ext>
              </a:extLst>
            </p:cNvPr>
            <p:cNvSpPr/>
            <p:nvPr/>
          </p:nvSpPr>
          <p:spPr bwMode="auto">
            <a:xfrm rot="4307940">
              <a:off x="5809599" y="4731326"/>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DF25C45D-09B5-5909-E45A-E84782D36CC7}"/>
              </a:ext>
            </a:extLst>
          </p:cNvPr>
          <p:cNvGrpSpPr/>
          <p:nvPr/>
        </p:nvGrpSpPr>
        <p:grpSpPr>
          <a:xfrm>
            <a:off x="6534063" y="3864826"/>
            <a:ext cx="3409262" cy="905450"/>
            <a:chOff x="6321691" y="4051708"/>
            <a:chExt cx="3409262" cy="905450"/>
          </a:xfrm>
        </p:grpSpPr>
        <p:sp>
          <p:nvSpPr>
            <p:cNvPr id="30" name="フリーフォーム: 図形 29">
              <a:extLst>
                <a:ext uri="{FF2B5EF4-FFF2-40B4-BE49-F238E27FC236}">
                  <a16:creationId xmlns:a16="http://schemas.microsoft.com/office/drawing/2014/main" id="{10D58F00-75C2-DD5D-3B3E-A36FF9129099}"/>
                </a:ext>
              </a:extLst>
            </p:cNvPr>
            <p:cNvSpPr/>
            <p:nvPr/>
          </p:nvSpPr>
          <p:spPr bwMode="auto">
            <a:xfrm>
              <a:off x="8637148" y="4051708"/>
              <a:ext cx="1093805" cy="905450"/>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9" name="テキスト ボックス 38">
              <a:extLst>
                <a:ext uri="{FF2B5EF4-FFF2-40B4-BE49-F238E27FC236}">
                  <a16:creationId xmlns:a16="http://schemas.microsoft.com/office/drawing/2014/main" id="{C4A0DBF2-9930-C390-D06F-C0F03590265B}"/>
                </a:ext>
              </a:extLst>
            </p:cNvPr>
            <p:cNvSpPr txBox="1"/>
            <p:nvPr/>
          </p:nvSpPr>
          <p:spPr>
            <a:xfrm>
              <a:off x="6321691" y="4263863"/>
              <a:ext cx="1415772" cy="461665"/>
            </a:xfrm>
            <a:prstGeom prst="rect">
              <a:avLst/>
            </a:prstGeom>
            <a:noFill/>
          </p:spPr>
          <p:txBody>
            <a:bodyPr wrap="none" rtlCol="0">
              <a:spAutoFit/>
            </a:bodyPr>
            <a:lstStyle/>
            <a:p>
              <a:pPr algn="l"/>
              <a:r>
                <a:rPr kumimoji="1" lang="ja-JP" altLang="en-US" sz="2400" i="0" dirty="0">
                  <a:latin typeface="+mn-ea"/>
                  <a:ea typeface="+mn-ea"/>
                </a:rPr>
                <a:t>未知環境</a:t>
              </a:r>
            </a:p>
          </p:txBody>
        </p:sp>
        <p:grpSp>
          <p:nvGrpSpPr>
            <p:cNvPr id="2" name="グループ化 1">
              <a:extLst>
                <a:ext uri="{FF2B5EF4-FFF2-40B4-BE49-F238E27FC236}">
                  <a16:creationId xmlns:a16="http://schemas.microsoft.com/office/drawing/2014/main" id="{BEC5CD41-C2B6-CA13-DA8A-292857D97079}"/>
                </a:ext>
              </a:extLst>
            </p:cNvPr>
            <p:cNvGrpSpPr/>
            <p:nvPr/>
          </p:nvGrpSpPr>
          <p:grpSpPr>
            <a:xfrm>
              <a:off x="7759708" y="4227517"/>
              <a:ext cx="765661" cy="615316"/>
              <a:chOff x="2123507" y="3298269"/>
              <a:chExt cx="1033019" cy="897643"/>
            </a:xfrm>
          </p:grpSpPr>
          <p:sp>
            <p:nvSpPr>
              <p:cNvPr id="3" name="正方形/長方形 2">
                <a:extLst>
                  <a:ext uri="{FF2B5EF4-FFF2-40B4-BE49-F238E27FC236}">
                    <a16:creationId xmlns:a16="http://schemas.microsoft.com/office/drawing/2014/main" id="{CBF01695-9A50-8F7A-C7AE-226591C1CAE0}"/>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 name="フローチャート: 結合子 3">
                <a:extLst>
                  <a:ext uri="{FF2B5EF4-FFF2-40B4-BE49-F238E27FC236}">
                    <a16:creationId xmlns:a16="http://schemas.microsoft.com/office/drawing/2014/main" id="{866B492A-3A1F-1B2D-75C4-C9EE2ACA02A0}"/>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 name="フローチャート: 結合子 5">
                <a:extLst>
                  <a:ext uri="{FF2B5EF4-FFF2-40B4-BE49-F238E27FC236}">
                    <a16:creationId xmlns:a16="http://schemas.microsoft.com/office/drawing/2014/main" id="{635133F0-5544-A60B-1306-DC0393CEF527}"/>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29" name="グループ化 28">
            <a:extLst>
              <a:ext uri="{FF2B5EF4-FFF2-40B4-BE49-F238E27FC236}">
                <a16:creationId xmlns:a16="http://schemas.microsoft.com/office/drawing/2014/main" id="{E27760C5-11A9-835A-F571-25C0096014F5}"/>
              </a:ext>
            </a:extLst>
          </p:cNvPr>
          <p:cNvGrpSpPr/>
          <p:nvPr/>
        </p:nvGrpSpPr>
        <p:grpSpPr>
          <a:xfrm>
            <a:off x="1943063" y="3350969"/>
            <a:ext cx="3411192" cy="2168645"/>
            <a:chOff x="1963256" y="3554968"/>
            <a:chExt cx="3411192" cy="2168645"/>
          </a:xfrm>
        </p:grpSpPr>
        <p:pic>
          <p:nvPicPr>
            <p:cNvPr id="22" name="図 21">
              <a:extLst>
                <a:ext uri="{FF2B5EF4-FFF2-40B4-BE49-F238E27FC236}">
                  <a16:creationId xmlns:a16="http://schemas.microsoft.com/office/drawing/2014/main" id="{E12C948F-2F0C-7AC1-4582-DD01D279754C}"/>
                </a:ext>
              </a:extLst>
            </p:cNvPr>
            <p:cNvPicPr>
              <a:picLocks noChangeAspect="1"/>
            </p:cNvPicPr>
            <p:nvPr/>
          </p:nvPicPr>
          <p:blipFill>
            <a:blip r:embed="rId3"/>
            <a:stretch>
              <a:fillRect/>
            </a:stretch>
          </p:blipFill>
          <p:spPr>
            <a:xfrm>
              <a:off x="4444992" y="3618742"/>
              <a:ext cx="702749" cy="584775"/>
            </a:xfrm>
            <a:prstGeom prst="rect">
              <a:avLst/>
            </a:prstGeom>
          </p:spPr>
        </p:pic>
        <p:graphicFrame>
          <p:nvGraphicFramePr>
            <p:cNvPr id="23" name="グラフ 22">
              <a:extLst>
                <a:ext uri="{FF2B5EF4-FFF2-40B4-BE49-F238E27FC236}">
                  <a16:creationId xmlns:a16="http://schemas.microsoft.com/office/drawing/2014/main" id="{6083BC1A-B07C-F182-D0CC-7EF78E70B8EC}"/>
                </a:ext>
              </a:extLst>
            </p:cNvPr>
            <p:cNvGraphicFramePr>
              <a:graphicFrameLocks/>
            </p:cNvGraphicFramePr>
            <p:nvPr>
              <p:extLst>
                <p:ext uri="{D42A27DB-BD31-4B8C-83A1-F6EECF244321}">
                  <p14:modId xmlns:p14="http://schemas.microsoft.com/office/powerpoint/2010/main" val="1531387849"/>
                </p:ext>
              </p:extLst>
            </p:nvPr>
          </p:nvGraphicFramePr>
          <p:xfrm>
            <a:off x="4482862" y="3910709"/>
            <a:ext cx="865726" cy="10216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グラフ 23">
              <a:extLst>
                <a:ext uri="{FF2B5EF4-FFF2-40B4-BE49-F238E27FC236}">
                  <a16:creationId xmlns:a16="http://schemas.microsoft.com/office/drawing/2014/main" id="{AB925012-C845-4B6A-E266-31444969819B}"/>
                </a:ext>
              </a:extLst>
            </p:cNvPr>
            <p:cNvGraphicFramePr>
              <a:graphicFrameLocks/>
            </p:cNvGraphicFramePr>
            <p:nvPr>
              <p:extLst>
                <p:ext uri="{D42A27DB-BD31-4B8C-83A1-F6EECF244321}">
                  <p14:modId xmlns:p14="http://schemas.microsoft.com/office/powerpoint/2010/main" val="1628572498"/>
                </p:ext>
              </p:extLst>
            </p:nvPr>
          </p:nvGraphicFramePr>
          <p:xfrm>
            <a:off x="4444992" y="4655753"/>
            <a:ext cx="929456" cy="1067860"/>
          </p:xfrm>
          <a:graphic>
            <a:graphicData uri="http://schemas.openxmlformats.org/drawingml/2006/chart">
              <c:chart xmlns:c="http://schemas.openxmlformats.org/drawingml/2006/chart" xmlns:r="http://schemas.openxmlformats.org/officeDocument/2006/relationships" r:id="rId5"/>
            </a:graphicData>
          </a:graphic>
        </p:graphicFrame>
        <p:sp>
          <p:nvSpPr>
            <p:cNvPr id="38" name="テキスト ボックス 37">
              <a:extLst>
                <a:ext uri="{FF2B5EF4-FFF2-40B4-BE49-F238E27FC236}">
                  <a16:creationId xmlns:a16="http://schemas.microsoft.com/office/drawing/2014/main" id="{603B5EF2-B0F2-7FA4-D5B4-5B9A06F77876}"/>
                </a:ext>
              </a:extLst>
            </p:cNvPr>
            <p:cNvSpPr txBox="1"/>
            <p:nvPr/>
          </p:nvSpPr>
          <p:spPr>
            <a:xfrm>
              <a:off x="1963256" y="4263863"/>
              <a:ext cx="1415772" cy="461665"/>
            </a:xfrm>
            <a:prstGeom prst="rect">
              <a:avLst/>
            </a:prstGeom>
            <a:noFill/>
          </p:spPr>
          <p:txBody>
            <a:bodyPr wrap="none" rtlCol="0">
              <a:spAutoFit/>
            </a:bodyPr>
            <a:lstStyle/>
            <a:p>
              <a:pPr algn="l"/>
              <a:r>
                <a:rPr kumimoji="1" lang="ja-JP" altLang="en-US" sz="2400" i="0" dirty="0">
                  <a:latin typeface="+mn-ea"/>
                  <a:ea typeface="+mn-ea"/>
                </a:rPr>
                <a:t>基礎地形</a:t>
              </a:r>
            </a:p>
          </p:txBody>
        </p:sp>
        <p:grpSp>
          <p:nvGrpSpPr>
            <p:cNvPr id="7" name="グループ化 6">
              <a:extLst>
                <a:ext uri="{FF2B5EF4-FFF2-40B4-BE49-F238E27FC236}">
                  <a16:creationId xmlns:a16="http://schemas.microsoft.com/office/drawing/2014/main" id="{630E8654-1885-3B24-20F1-92100A3F53EC}"/>
                </a:ext>
              </a:extLst>
            </p:cNvPr>
            <p:cNvGrpSpPr/>
            <p:nvPr/>
          </p:nvGrpSpPr>
          <p:grpSpPr>
            <a:xfrm>
              <a:off x="3546048" y="4904187"/>
              <a:ext cx="765661" cy="615316"/>
              <a:chOff x="2123507" y="3298269"/>
              <a:chExt cx="1033019" cy="897643"/>
            </a:xfrm>
          </p:grpSpPr>
          <p:sp>
            <p:nvSpPr>
              <p:cNvPr id="8" name="正方形/長方形 7">
                <a:extLst>
                  <a:ext uri="{FF2B5EF4-FFF2-40B4-BE49-F238E27FC236}">
                    <a16:creationId xmlns:a16="http://schemas.microsoft.com/office/drawing/2014/main" id="{A974AF46-A7FF-8AC1-478C-9A63A7097B9F}"/>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フローチャート: 結合子 8">
                <a:extLst>
                  <a:ext uri="{FF2B5EF4-FFF2-40B4-BE49-F238E27FC236}">
                    <a16:creationId xmlns:a16="http://schemas.microsoft.com/office/drawing/2014/main" id="{F1207269-06FF-C4EF-7884-B31613C19394}"/>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0" name="フローチャート: 結合子 9">
                <a:extLst>
                  <a:ext uri="{FF2B5EF4-FFF2-40B4-BE49-F238E27FC236}">
                    <a16:creationId xmlns:a16="http://schemas.microsoft.com/office/drawing/2014/main" id="{C1302D13-AA6B-8E95-B4E8-297DC2AAA536}"/>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1" name="グループ化 10">
              <a:extLst>
                <a:ext uri="{FF2B5EF4-FFF2-40B4-BE49-F238E27FC236}">
                  <a16:creationId xmlns:a16="http://schemas.microsoft.com/office/drawing/2014/main" id="{A32EB83E-F333-9D98-F37B-FDE287456236}"/>
                </a:ext>
              </a:extLst>
            </p:cNvPr>
            <p:cNvGrpSpPr/>
            <p:nvPr/>
          </p:nvGrpSpPr>
          <p:grpSpPr>
            <a:xfrm>
              <a:off x="3539743" y="4230288"/>
              <a:ext cx="765661" cy="615316"/>
              <a:chOff x="2123507" y="3298269"/>
              <a:chExt cx="1033019" cy="897643"/>
            </a:xfrm>
          </p:grpSpPr>
          <p:sp>
            <p:nvSpPr>
              <p:cNvPr id="12" name="正方形/長方形 11">
                <a:extLst>
                  <a:ext uri="{FF2B5EF4-FFF2-40B4-BE49-F238E27FC236}">
                    <a16:creationId xmlns:a16="http://schemas.microsoft.com/office/drawing/2014/main" id="{BE1791F0-78CF-1014-FC3A-A2469CA7D885}"/>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3" name="フローチャート: 結合子 12">
                <a:extLst>
                  <a:ext uri="{FF2B5EF4-FFF2-40B4-BE49-F238E27FC236}">
                    <a16:creationId xmlns:a16="http://schemas.microsoft.com/office/drawing/2014/main" id="{88A26A49-B8FC-CF49-0BE6-FA33DFE550A5}"/>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4" name="フローチャート: 結合子 13">
                <a:extLst>
                  <a:ext uri="{FF2B5EF4-FFF2-40B4-BE49-F238E27FC236}">
                    <a16:creationId xmlns:a16="http://schemas.microsoft.com/office/drawing/2014/main" id="{1C1BD317-24C5-892E-4F59-DD302A552C54}"/>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5" name="グループ化 14">
              <a:extLst>
                <a:ext uri="{FF2B5EF4-FFF2-40B4-BE49-F238E27FC236}">
                  <a16:creationId xmlns:a16="http://schemas.microsoft.com/office/drawing/2014/main" id="{F029F2E6-246D-8D3F-FB2E-082C7633CC6A}"/>
                </a:ext>
              </a:extLst>
            </p:cNvPr>
            <p:cNvGrpSpPr/>
            <p:nvPr/>
          </p:nvGrpSpPr>
          <p:grpSpPr>
            <a:xfrm>
              <a:off x="3539742" y="3554968"/>
              <a:ext cx="765661" cy="615316"/>
              <a:chOff x="2123507" y="3298269"/>
              <a:chExt cx="1033019" cy="897643"/>
            </a:xfrm>
          </p:grpSpPr>
          <p:sp>
            <p:nvSpPr>
              <p:cNvPr id="17" name="正方形/長方形 16">
                <a:extLst>
                  <a:ext uri="{FF2B5EF4-FFF2-40B4-BE49-F238E27FC236}">
                    <a16:creationId xmlns:a16="http://schemas.microsoft.com/office/drawing/2014/main" id="{B3F5FFD6-BEBB-4998-39C4-2A5350D72674}"/>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9" name="フローチャート: 結合子 18">
                <a:extLst>
                  <a:ext uri="{FF2B5EF4-FFF2-40B4-BE49-F238E27FC236}">
                    <a16:creationId xmlns:a16="http://schemas.microsoft.com/office/drawing/2014/main" id="{3AA308E1-1303-01AC-A5BC-CD0C4E76E970}"/>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A4C4781D-A20C-FC8A-7ED2-0CA2FE4990BE}"/>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Tree>
    <p:extLst>
      <p:ext uri="{BB962C8B-B14F-4D97-AF65-F5344CB8AC3E}">
        <p14:creationId xmlns:p14="http://schemas.microsoft.com/office/powerpoint/2010/main" val="4056047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69CF42-CBA1-A534-BC37-010EB9F411F5}"/>
              </a:ext>
            </a:extLst>
          </p:cNvPr>
          <p:cNvSpPr>
            <a:spLocks noGrp="1"/>
          </p:cNvSpPr>
          <p:nvPr>
            <p:ph type="title"/>
          </p:nvPr>
        </p:nvSpPr>
        <p:spPr/>
        <p:txBody>
          <a:bodyPr/>
          <a:lstStyle/>
          <a:p>
            <a:r>
              <a:rPr kumimoji="1" lang="ja-JP" altLang="en-US" sz="3200" b="1" dirty="0"/>
              <a:t>実験方法</a:t>
            </a:r>
          </a:p>
        </p:txBody>
      </p:sp>
      <p:sp>
        <p:nvSpPr>
          <p:cNvPr id="3" name="テキスト ボックス 2">
            <a:extLst>
              <a:ext uri="{FF2B5EF4-FFF2-40B4-BE49-F238E27FC236}">
                <a16:creationId xmlns:a16="http://schemas.microsoft.com/office/drawing/2014/main" id="{02AAEF62-39E9-A300-7681-1853184AE4F7}"/>
              </a:ext>
            </a:extLst>
          </p:cNvPr>
          <p:cNvSpPr txBox="1"/>
          <p:nvPr/>
        </p:nvSpPr>
        <p:spPr>
          <a:xfrm>
            <a:off x="2743510" y="1321535"/>
            <a:ext cx="6750566" cy="584775"/>
          </a:xfrm>
          <a:prstGeom prst="rect">
            <a:avLst/>
          </a:prstGeom>
          <a:noFill/>
        </p:spPr>
        <p:txBody>
          <a:bodyPr wrap="none" rtlCol="0">
            <a:spAutoFit/>
          </a:bodyPr>
          <a:lstStyle/>
          <a:p>
            <a:pPr algn="l"/>
            <a:r>
              <a:rPr kumimoji="1" lang="ja-JP" altLang="en-US" sz="3200" b="1" i="0" u="sng" dirty="0">
                <a:solidFill>
                  <a:srgbClr val="FF0000"/>
                </a:solidFill>
                <a:latin typeface="+mn-ea"/>
                <a:ea typeface="+mn-ea"/>
              </a:rPr>
              <a:t>走行性能の重ね合わせの可否</a:t>
            </a:r>
            <a:r>
              <a:rPr kumimoji="1" lang="ja-JP" altLang="en-US" sz="3200" i="0" dirty="0">
                <a:latin typeface="+mn-ea"/>
                <a:ea typeface="+mn-ea"/>
              </a:rPr>
              <a:t>を検証</a:t>
            </a:r>
          </a:p>
        </p:txBody>
      </p:sp>
      <p:sp>
        <p:nvSpPr>
          <p:cNvPr id="4" name="テキスト ボックス 3">
            <a:extLst>
              <a:ext uri="{FF2B5EF4-FFF2-40B4-BE49-F238E27FC236}">
                <a16:creationId xmlns:a16="http://schemas.microsoft.com/office/drawing/2014/main" id="{08579BCF-909A-5CAD-848D-EE7C642ADE4C}"/>
              </a:ext>
            </a:extLst>
          </p:cNvPr>
          <p:cNvSpPr txBox="1"/>
          <p:nvPr/>
        </p:nvSpPr>
        <p:spPr>
          <a:xfrm>
            <a:off x="2086833" y="1894610"/>
            <a:ext cx="8392041" cy="584775"/>
          </a:xfrm>
          <a:prstGeom prst="rect">
            <a:avLst/>
          </a:prstGeom>
          <a:noFill/>
        </p:spPr>
        <p:txBody>
          <a:bodyPr wrap="none" rtlCol="0">
            <a:spAutoFit/>
          </a:bodyPr>
          <a:lstStyle/>
          <a:p>
            <a:pPr algn="l"/>
            <a:r>
              <a:rPr kumimoji="1" lang="ja-JP" altLang="en-US" sz="3200" i="0" dirty="0">
                <a:latin typeface="+mn-ea"/>
                <a:ea typeface="+mn-ea"/>
              </a:rPr>
              <a:t>まずは</a:t>
            </a:r>
            <a:r>
              <a:rPr kumimoji="1" lang="ja-JP" altLang="en-US" sz="3200" b="1" i="0" dirty="0">
                <a:latin typeface="+mn-ea"/>
                <a:ea typeface="+mn-ea"/>
              </a:rPr>
              <a:t>二次元空間</a:t>
            </a:r>
            <a:r>
              <a:rPr kumimoji="1" lang="ja-JP" altLang="en-US" sz="3200" i="0" dirty="0">
                <a:latin typeface="+mn-ea"/>
                <a:ea typeface="+mn-ea"/>
              </a:rPr>
              <a:t>で仮説が成立するかどうか</a:t>
            </a:r>
          </a:p>
        </p:txBody>
      </p:sp>
      <p:sp>
        <p:nvSpPr>
          <p:cNvPr id="8" name="テキスト ボックス 7">
            <a:extLst>
              <a:ext uri="{FF2B5EF4-FFF2-40B4-BE49-F238E27FC236}">
                <a16:creationId xmlns:a16="http://schemas.microsoft.com/office/drawing/2014/main" id="{33AA0398-3828-4A9A-6DA0-0071D6DC8A2E}"/>
              </a:ext>
            </a:extLst>
          </p:cNvPr>
          <p:cNvSpPr txBox="1"/>
          <p:nvPr/>
        </p:nvSpPr>
        <p:spPr>
          <a:xfrm>
            <a:off x="1564701" y="5617076"/>
            <a:ext cx="9414285" cy="584775"/>
          </a:xfrm>
          <a:prstGeom prst="rect">
            <a:avLst/>
          </a:prstGeom>
          <a:noFill/>
        </p:spPr>
        <p:txBody>
          <a:bodyPr wrap="square" rtlCol="0">
            <a:spAutoFit/>
          </a:bodyPr>
          <a:lstStyle/>
          <a:p>
            <a:pPr algn="l"/>
            <a:r>
              <a:rPr kumimoji="1" lang="ja-JP" altLang="en-US" sz="3200" i="0" dirty="0">
                <a:latin typeface="+mn-ea"/>
                <a:ea typeface="+mn-ea"/>
              </a:rPr>
              <a:t>組み合わせが多いので</a:t>
            </a:r>
            <a:r>
              <a:rPr kumimoji="1" lang="ja-JP" altLang="en-US" sz="3200" b="1" i="0" dirty="0">
                <a:solidFill>
                  <a:schemeClr val="accent1">
                    <a:lumMod val="75000"/>
                  </a:schemeClr>
                </a:solidFill>
                <a:latin typeface="+mn-ea"/>
                <a:ea typeface="+mn-ea"/>
              </a:rPr>
              <a:t>シミュレーション</a:t>
            </a:r>
            <a:r>
              <a:rPr kumimoji="1" lang="ja-JP" altLang="en-US" sz="3200" i="0" dirty="0">
                <a:latin typeface="+mn-ea"/>
                <a:ea typeface="+mn-ea"/>
              </a:rPr>
              <a:t>を用いる</a:t>
            </a:r>
          </a:p>
        </p:txBody>
      </p:sp>
      <p:grpSp>
        <p:nvGrpSpPr>
          <p:cNvPr id="51" name="グループ化 50">
            <a:extLst>
              <a:ext uri="{FF2B5EF4-FFF2-40B4-BE49-F238E27FC236}">
                <a16:creationId xmlns:a16="http://schemas.microsoft.com/office/drawing/2014/main" id="{42893590-9DB2-50F9-9AE2-BB701C9BEE25}"/>
              </a:ext>
            </a:extLst>
          </p:cNvPr>
          <p:cNvGrpSpPr/>
          <p:nvPr/>
        </p:nvGrpSpPr>
        <p:grpSpPr>
          <a:xfrm>
            <a:off x="2982872" y="4190810"/>
            <a:ext cx="1639733" cy="1029243"/>
            <a:chOff x="2982872" y="4190810"/>
            <a:chExt cx="1639733" cy="1029243"/>
          </a:xfrm>
        </p:grpSpPr>
        <p:sp>
          <p:nvSpPr>
            <p:cNvPr id="14" name="正方形/長方形 13">
              <a:extLst>
                <a:ext uri="{FF2B5EF4-FFF2-40B4-BE49-F238E27FC236}">
                  <a16:creationId xmlns:a16="http://schemas.microsoft.com/office/drawing/2014/main" id="{C612423F-1CE4-2758-D9BC-02AF6ADC3AD2}"/>
                </a:ext>
              </a:extLst>
            </p:cNvPr>
            <p:cNvSpPr/>
            <p:nvPr/>
          </p:nvSpPr>
          <p:spPr bwMode="auto">
            <a:xfrm>
              <a:off x="3286229" y="4190810"/>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7" name="フローチャート: 結合子 6">
              <a:extLst>
                <a:ext uri="{FF2B5EF4-FFF2-40B4-BE49-F238E27FC236}">
                  <a16:creationId xmlns:a16="http://schemas.microsoft.com/office/drawing/2014/main" id="{F91500B2-24A1-F86C-793D-B74BBBA71F5E}"/>
                </a:ext>
              </a:extLst>
            </p:cNvPr>
            <p:cNvSpPr/>
            <p:nvPr/>
          </p:nvSpPr>
          <p:spPr bwMode="auto">
            <a:xfrm>
              <a:off x="2982872" y="4403860"/>
              <a:ext cx="825792" cy="8161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6" name="フローチャート: 結合子 15">
              <a:extLst>
                <a:ext uri="{FF2B5EF4-FFF2-40B4-BE49-F238E27FC236}">
                  <a16:creationId xmlns:a16="http://schemas.microsoft.com/office/drawing/2014/main" id="{0F6094DE-C6CB-A72B-237E-47A403572381}"/>
                </a:ext>
              </a:extLst>
            </p:cNvPr>
            <p:cNvSpPr/>
            <p:nvPr/>
          </p:nvSpPr>
          <p:spPr bwMode="auto">
            <a:xfrm>
              <a:off x="3796813" y="4378914"/>
              <a:ext cx="825792" cy="8161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50" name="グループ化 49">
            <a:extLst>
              <a:ext uri="{FF2B5EF4-FFF2-40B4-BE49-F238E27FC236}">
                <a16:creationId xmlns:a16="http://schemas.microsoft.com/office/drawing/2014/main" id="{5ED24305-11FE-5ED9-8575-35DF69D00DC8}"/>
              </a:ext>
            </a:extLst>
          </p:cNvPr>
          <p:cNvGrpSpPr/>
          <p:nvPr/>
        </p:nvGrpSpPr>
        <p:grpSpPr>
          <a:xfrm>
            <a:off x="924072" y="4303572"/>
            <a:ext cx="1312649" cy="881147"/>
            <a:chOff x="924072" y="4303572"/>
            <a:chExt cx="1312649" cy="881147"/>
          </a:xfrm>
        </p:grpSpPr>
        <p:sp>
          <p:nvSpPr>
            <p:cNvPr id="15" name="正方形/長方形 14">
              <a:extLst>
                <a:ext uri="{FF2B5EF4-FFF2-40B4-BE49-F238E27FC236}">
                  <a16:creationId xmlns:a16="http://schemas.microsoft.com/office/drawing/2014/main" id="{78FB7D0D-CE2B-9D1F-1F4E-F593FCF9805D}"/>
                </a:ext>
              </a:extLst>
            </p:cNvPr>
            <p:cNvSpPr/>
            <p:nvPr/>
          </p:nvSpPr>
          <p:spPr bwMode="auto">
            <a:xfrm>
              <a:off x="1053181" y="4303572"/>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0" name="フローチャート: 結合子 9">
              <a:extLst>
                <a:ext uri="{FF2B5EF4-FFF2-40B4-BE49-F238E27FC236}">
                  <a16:creationId xmlns:a16="http://schemas.microsoft.com/office/drawing/2014/main" id="{2725FE39-A7A7-EF8C-B48E-98773D703BC4}"/>
                </a:ext>
              </a:extLst>
            </p:cNvPr>
            <p:cNvSpPr/>
            <p:nvPr/>
          </p:nvSpPr>
          <p:spPr bwMode="auto">
            <a:xfrm>
              <a:off x="924072" y="4599944"/>
              <a:ext cx="581064" cy="584775"/>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7" name="フローチャート: 結合子 16">
              <a:extLst>
                <a:ext uri="{FF2B5EF4-FFF2-40B4-BE49-F238E27FC236}">
                  <a16:creationId xmlns:a16="http://schemas.microsoft.com/office/drawing/2014/main" id="{457661CD-83AC-7925-9162-04849B58CC11}"/>
                </a:ext>
              </a:extLst>
            </p:cNvPr>
            <p:cNvSpPr/>
            <p:nvPr/>
          </p:nvSpPr>
          <p:spPr bwMode="auto">
            <a:xfrm>
              <a:off x="1655657" y="4599944"/>
              <a:ext cx="581064" cy="584775"/>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9" name="グループ化 48">
            <a:extLst>
              <a:ext uri="{FF2B5EF4-FFF2-40B4-BE49-F238E27FC236}">
                <a16:creationId xmlns:a16="http://schemas.microsoft.com/office/drawing/2014/main" id="{332997C1-34FD-65B2-140A-C13442260436}"/>
              </a:ext>
            </a:extLst>
          </p:cNvPr>
          <p:cNvGrpSpPr/>
          <p:nvPr/>
        </p:nvGrpSpPr>
        <p:grpSpPr>
          <a:xfrm>
            <a:off x="2123507" y="3298269"/>
            <a:ext cx="1033019" cy="897643"/>
            <a:chOff x="2123507" y="3298269"/>
            <a:chExt cx="1033019" cy="897643"/>
          </a:xfrm>
        </p:grpSpPr>
        <p:sp>
          <p:nvSpPr>
            <p:cNvPr id="13" name="正方形/長方形 12">
              <a:extLst>
                <a:ext uri="{FF2B5EF4-FFF2-40B4-BE49-F238E27FC236}">
                  <a16:creationId xmlns:a16="http://schemas.microsoft.com/office/drawing/2014/main" id="{8BE2352B-DDEB-B3FF-CD97-9C8199D56B1C}"/>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1" name="フローチャート: 結合子 10">
              <a:extLst>
                <a:ext uri="{FF2B5EF4-FFF2-40B4-BE49-F238E27FC236}">
                  <a16:creationId xmlns:a16="http://schemas.microsoft.com/office/drawing/2014/main" id="{766928FA-09A3-E4CC-E6EB-139FD1EA8E7F}"/>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8" name="フローチャート: 結合子 17">
              <a:extLst>
                <a:ext uri="{FF2B5EF4-FFF2-40B4-BE49-F238E27FC236}">
                  <a16:creationId xmlns:a16="http://schemas.microsoft.com/office/drawing/2014/main" id="{ECB63BFE-038E-4C63-DA56-274F1563EC21}"/>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pic>
        <p:nvPicPr>
          <p:cNvPr id="19" name="図 18">
            <a:extLst>
              <a:ext uri="{FF2B5EF4-FFF2-40B4-BE49-F238E27FC236}">
                <a16:creationId xmlns:a16="http://schemas.microsoft.com/office/drawing/2014/main" id="{1E9CF98C-2E34-EE03-5C5B-A9E5A3A5081F}"/>
              </a:ext>
            </a:extLst>
          </p:cNvPr>
          <p:cNvPicPr>
            <a:picLocks noChangeAspect="1"/>
          </p:cNvPicPr>
          <p:nvPr/>
        </p:nvPicPr>
        <p:blipFill>
          <a:blip r:embed="rId3"/>
          <a:stretch>
            <a:fillRect/>
          </a:stretch>
        </p:blipFill>
        <p:spPr>
          <a:xfrm>
            <a:off x="5917194" y="3097213"/>
            <a:ext cx="1087270" cy="904745"/>
          </a:xfrm>
          <a:prstGeom prst="rect">
            <a:avLst/>
          </a:prstGeom>
        </p:spPr>
      </p:pic>
      <p:graphicFrame>
        <p:nvGraphicFramePr>
          <p:cNvPr id="20" name="グラフ 19">
            <a:extLst>
              <a:ext uri="{FF2B5EF4-FFF2-40B4-BE49-F238E27FC236}">
                <a16:creationId xmlns:a16="http://schemas.microsoft.com/office/drawing/2014/main" id="{F237DD69-2BB5-A021-B0F0-A0E5F59144A6}"/>
              </a:ext>
            </a:extLst>
          </p:cNvPr>
          <p:cNvGraphicFramePr>
            <a:graphicFrameLocks/>
          </p:cNvGraphicFramePr>
          <p:nvPr>
            <p:extLst>
              <p:ext uri="{D42A27DB-BD31-4B8C-83A1-F6EECF244321}">
                <p14:modId xmlns:p14="http://schemas.microsoft.com/office/powerpoint/2010/main" val="1570946539"/>
              </p:ext>
            </p:extLst>
          </p:nvPr>
        </p:nvGraphicFramePr>
        <p:xfrm>
          <a:off x="6713780" y="3899198"/>
          <a:ext cx="1701288" cy="14747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グラフ 20">
            <a:extLst>
              <a:ext uri="{FF2B5EF4-FFF2-40B4-BE49-F238E27FC236}">
                <a16:creationId xmlns:a16="http://schemas.microsoft.com/office/drawing/2014/main" id="{EA59A596-E470-6205-D12F-4FDCDCBB5EBB}"/>
              </a:ext>
            </a:extLst>
          </p:cNvPr>
          <p:cNvGraphicFramePr>
            <a:graphicFrameLocks/>
          </p:cNvGraphicFramePr>
          <p:nvPr>
            <p:extLst>
              <p:ext uri="{D42A27DB-BD31-4B8C-83A1-F6EECF244321}">
                <p14:modId xmlns:p14="http://schemas.microsoft.com/office/powerpoint/2010/main" val="4161605012"/>
              </p:ext>
            </p:extLst>
          </p:nvPr>
        </p:nvGraphicFramePr>
        <p:xfrm>
          <a:off x="5076270" y="3907263"/>
          <a:ext cx="1569833" cy="1514102"/>
        </p:xfrm>
        <a:graphic>
          <a:graphicData uri="http://schemas.openxmlformats.org/drawingml/2006/chart">
            <c:chart xmlns:c="http://schemas.openxmlformats.org/drawingml/2006/chart" xmlns:r="http://schemas.openxmlformats.org/officeDocument/2006/relationships" r:id="rId5"/>
          </a:graphicData>
        </a:graphic>
      </p:graphicFrame>
      <p:sp>
        <p:nvSpPr>
          <p:cNvPr id="22" name="テキスト ボックス 21">
            <a:extLst>
              <a:ext uri="{FF2B5EF4-FFF2-40B4-BE49-F238E27FC236}">
                <a16:creationId xmlns:a16="http://schemas.microsoft.com/office/drawing/2014/main" id="{6BA2E202-E89B-8072-B030-185C143AE812}"/>
              </a:ext>
            </a:extLst>
          </p:cNvPr>
          <p:cNvSpPr txBox="1"/>
          <p:nvPr/>
        </p:nvSpPr>
        <p:spPr>
          <a:xfrm>
            <a:off x="2077238" y="2723418"/>
            <a:ext cx="1256527" cy="461665"/>
          </a:xfrm>
          <a:prstGeom prst="rect">
            <a:avLst/>
          </a:prstGeom>
          <a:noFill/>
        </p:spPr>
        <p:txBody>
          <a:bodyPr wrap="square" rtlCol="0">
            <a:spAutoFit/>
          </a:bodyPr>
          <a:lstStyle/>
          <a:p>
            <a:pPr algn="l"/>
            <a:r>
              <a:rPr kumimoji="1" lang="ja-JP" altLang="en-US" sz="2400" i="0" dirty="0">
                <a:latin typeface="+mn-ea"/>
                <a:ea typeface="+mn-ea"/>
              </a:rPr>
              <a:t>車輪径</a:t>
            </a:r>
          </a:p>
        </p:txBody>
      </p:sp>
      <p:sp>
        <p:nvSpPr>
          <p:cNvPr id="23" name="テキスト ボックス 22">
            <a:extLst>
              <a:ext uri="{FF2B5EF4-FFF2-40B4-BE49-F238E27FC236}">
                <a16:creationId xmlns:a16="http://schemas.microsoft.com/office/drawing/2014/main" id="{C16C1FF5-27A0-CCB1-C724-AB613C143D58}"/>
              </a:ext>
            </a:extLst>
          </p:cNvPr>
          <p:cNvSpPr txBox="1"/>
          <p:nvPr/>
        </p:nvSpPr>
        <p:spPr>
          <a:xfrm>
            <a:off x="5464402" y="2694482"/>
            <a:ext cx="1992853" cy="461665"/>
          </a:xfrm>
          <a:prstGeom prst="rect">
            <a:avLst/>
          </a:prstGeom>
          <a:noFill/>
        </p:spPr>
        <p:txBody>
          <a:bodyPr wrap="none" rtlCol="0">
            <a:spAutoFit/>
          </a:bodyPr>
          <a:lstStyle/>
          <a:p>
            <a:pPr algn="l"/>
            <a:r>
              <a:rPr kumimoji="1" lang="ja-JP" altLang="en-US" sz="2400" i="0" dirty="0">
                <a:latin typeface="+mn-ea"/>
                <a:ea typeface="+mn-ea"/>
              </a:rPr>
              <a:t>波長</a:t>
            </a:r>
            <a:r>
              <a:rPr kumimoji="1" lang="en-US" altLang="ja-JP" sz="2400" i="0" dirty="0">
                <a:latin typeface="+mn-ea"/>
                <a:ea typeface="+mn-ea"/>
              </a:rPr>
              <a:t>(</a:t>
            </a:r>
            <a:r>
              <a:rPr kumimoji="1" lang="ja-JP" altLang="en-US" sz="2400" i="0" dirty="0">
                <a:latin typeface="+mn-ea"/>
                <a:ea typeface="+mn-ea"/>
              </a:rPr>
              <a:t>周波数</a:t>
            </a:r>
            <a:r>
              <a:rPr kumimoji="1" lang="en-US" altLang="ja-JP" sz="2400" i="0" dirty="0">
                <a:latin typeface="+mn-ea"/>
                <a:ea typeface="+mn-ea"/>
              </a:rPr>
              <a:t>)</a:t>
            </a:r>
            <a:endParaRPr kumimoji="1" lang="ja-JP" altLang="en-US" sz="2400" i="0" dirty="0">
              <a:latin typeface="+mn-ea"/>
              <a:ea typeface="+mn-ea"/>
            </a:endParaRPr>
          </a:p>
        </p:txBody>
      </p:sp>
      <p:grpSp>
        <p:nvGrpSpPr>
          <p:cNvPr id="52" name="グループ化 51">
            <a:extLst>
              <a:ext uri="{FF2B5EF4-FFF2-40B4-BE49-F238E27FC236}">
                <a16:creationId xmlns:a16="http://schemas.microsoft.com/office/drawing/2014/main" id="{E81DBD5D-CBD9-7E75-2B88-BC2857D7CDA1}"/>
              </a:ext>
            </a:extLst>
          </p:cNvPr>
          <p:cNvGrpSpPr/>
          <p:nvPr/>
        </p:nvGrpSpPr>
        <p:grpSpPr>
          <a:xfrm>
            <a:off x="9101728" y="3216798"/>
            <a:ext cx="1221737" cy="902778"/>
            <a:chOff x="9101728" y="3216798"/>
            <a:chExt cx="1221737" cy="902778"/>
          </a:xfrm>
        </p:grpSpPr>
        <p:grpSp>
          <p:nvGrpSpPr>
            <p:cNvPr id="33" name="グループ化 32">
              <a:extLst>
                <a:ext uri="{FF2B5EF4-FFF2-40B4-BE49-F238E27FC236}">
                  <a16:creationId xmlns:a16="http://schemas.microsoft.com/office/drawing/2014/main" id="{13D5CEF5-1BD3-FA20-EC68-96A065DA68A5}"/>
                </a:ext>
              </a:extLst>
            </p:cNvPr>
            <p:cNvGrpSpPr/>
            <p:nvPr/>
          </p:nvGrpSpPr>
          <p:grpSpPr>
            <a:xfrm>
              <a:off x="9101728" y="3216798"/>
              <a:ext cx="1033019" cy="897643"/>
              <a:chOff x="8624577" y="2961321"/>
              <a:chExt cx="1033019" cy="897643"/>
            </a:xfrm>
          </p:grpSpPr>
          <p:sp>
            <p:nvSpPr>
              <p:cNvPr id="24" name="正方形/長方形 23">
                <a:extLst>
                  <a:ext uri="{FF2B5EF4-FFF2-40B4-BE49-F238E27FC236}">
                    <a16:creationId xmlns:a16="http://schemas.microsoft.com/office/drawing/2014/main" id="{58D4347B-0574-FA5E-6F9D-4AE17F768CA5}"/>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フローチャート: 結合子 24">
                <a:extLst>
                  <a:ext uri="{FF2B5EF4-FFF2-40B4-BE49-F238E27FC236}">
                    <a16:creationId xmlns:a16="http://schemas.microsoft.com/office/drawing/2014/main" id="{E7C2FA7C-0385-AE55-225E-E2CB8476C412}"/>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6" name="フローチャート: 結合子 25">
                <a:extLst>
                  <a:ext uri="{FF2B5EF4-FFF2-40B4-BE49-F238E27FC236}">
                    <a16:creationId xmlns:a16="http://schemas.microsoft.com/office/drawing/2014/main" id="{B11642A3-AF68-921F-802B-F9214CE17CAD}"/>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4" name="グループ化 33">
              <a:extLst>
                <a:ext uri="{FF2B5EF4-FFF2-40B4-BE49-F238E27FC236}">
                  <a16:creationId xmlns:a16="http://schemas.microsoft.com/office/drawing/2014/main" id="{BA37652D-0066-73DA-5FAE-AA6F3B7CD8DF}"/>
                </a:ext>
              </a:extLst>
            </p:cNvPr>
            <p:cNvGrpSpPr/>
            <p:nvPr/>
          </p:nvGrpSpPr>
          <p:grpSpPr>
            <a:xfrm>
              <a:off x="9192911" y="3221933"/>
              <a:ext cx="1033019" cy="897643"/>
              <a:chOff x="10799190" y="2671132"/>
              <a:chExt cx="1033019" cy="897643"/>
            </a:xfrm>
          </p:grpSpPr>
          <p:sp>
            <p:nvSpPr>
              <p:cNvPr id="30" name="正方形/長方形 29">
                <a:extLst>
                  <a:ext uri="{FF2B5EF4-FFF2-40B4-BE49-F238E27FC236}">
                    <a16:creationId xmlns:a16="http://schemas.microsoft.com/office/drawing/2014/main" id="{CB56BE90-4FE0-3C2A-0BC9-9D33B5F84C89}"/>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E3111EF4-DCBB-D8D1-D1E2-A216DC4AC581}"/>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2" name="フローチャート: 結合子 31">
                <a:extLst>
                  <a:ext uri="{FF2B5EF4-FFF2-40B4-BE49-F238E27FC236}">
                    <a16:creationId xmlns:a16="http://schemas.microsoft.com/office/drawing/2014/main" id="{BFEADE85-5DBA-F735-5C4F-169B6576AE16}"/>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5E2510E0-9B11-CEF5-6A97-EAC90D3FFA0C}"/>
                </a:ext>
              </a:extLst>
            </p:cNvPr>
            <p:cNvGrpSpPr/>
            <p:nvPr/>
          </p:nvGrpSpPr>
          <p:grpSpPr>
            <a:xfrm>
              <a:off x="9290446" y="3220821"/>
              <a:ext cx="1033019" cy="897643"/>
              <a:chOff x="10749795" y="4534948"/>
              <a:chExt cx="1033019" cy="897643"/>
            </a:xfrm>
          </p:grpSpPr>
          <p:sp>
            <p:nvSpPr>
              <p:cNvPr id="27" name="正方形/長方形 26">
                <a:extLst>
                  <a:ext uri="{FF2B5EF4-FFF2-40B4-BE49-F238E27FC236}">
                    <a16:creationId xmlns:a16="http://schemas.microsoft.com/office/drawing/2014/main" id="{ACD26036-8A8F-FF44-CEF8-DEAC801ACB8E}"/>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E32B63AB-4252-C203-ACA6-5273E5003DC5}"/>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9" name="フローチャート: 結合子 28">
                <a:extLst>
                  <a:ext uri="{FF2B5EF4-FFF2-40B4-BE49-F238E27FC236}">
                    <a16:creationId xmlns:a16="http://schemas.microsoft.com/office/drawing/2014/main" id="{044A6F11-60E6-2E2C-5727-6131E20D4A09}"/>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53" name="グループ化 52">
            <a:extLst>
              <a:ext uri="{FF2B5EF4-FFF2-40B4-BE49-F238E27FC236}">
                <a16:creationId xmlns:a16="http://schemas.microsoft.com/office/drawing/2014/main" id="{99DBD7BD-46F2-E228-4F16-EDFFD59B48D2}"/>
              </a:ext>
            </a:extLst>
          </p:cNvPr>
          <p:cNvGrpSpPr/>
          <p:nvPr/>
        </p:nvGrpSpPr>
        <p:grpSpPr>
          <a:xfrm>
            <a:off x="8433630" y="4250516"/>
            <a:ext cx="2672842" cy="897761"/>
            <a:chOff x="8433630" y="4250516"/>
            <a:chExt cx="2672842" cy="897761"/>
          </a:xfrm>
        </p:grpSpPr>
        <p:grpSp>
          <p:nvGrpSpPr>
            <p:cNvPr id="44" name="グループ化 43">
              <a:extLst>
                <a:ext uri="{FF2B5EF4-FFF2-40B4-BE49-F238E27FC236}">
                  <a16:creationId xmlns:a16="http://schemas.microsoft.com/office/drawing/2014/main" id="{657D682E-3596-41FC-F4C0-7E2172B7494B}"/>
                </a:ext>
              </a:extLst>
            </p:cNvPr>
            <p:cNvGrpSpPr/>
            <p:nvPr/>
          </p:nvGrpSpPr>
          <p:grpSpPr>
            <a:xfrm>
              <a:off x="8433630" y="4250516"/>
              <a:ext cx="1033019" cy="897643"/>
              <a:chOff x="8624577" y="2961321"/>
              <a:chExt cx="1033019" cy="897643"/>
            </a:xfrm>
          </p:grpSpPr>
          <p:sp>
            <p:nvSpPr>
              <p:cNvPr id="45" name="正方形/長方形 44">
                <a:extLst>
                  <a:ext uri="{FF2B5EF4-FFF2-40B4-BE49-F238E27FC236}">
                    <a16:creationId xmlns:a16="http://schemas.microsoft.com/office/drawing/2014/main" id="{41DE66D7-0351-5767-CE37-B693A27F284E}"/>
                  </a:ext>
                </a:extLst>
              </p:cNvPr>
              <p:cNvSpPr/>
              <p:nvPr/>
            </p:nvSpPr>
            <p:spPr bwMode="auto">
              <a:xfrm>
                <a:off x="8624577" y="2961321"/>
                <a:ext cx="1033019" cy="701360"/>
              </a:xfrm>
              <a:prstGeom prst="rect">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6" name="フローチャート: 結合子 45">
                <a:extLst>
                  <a:ext uri="{FF2B5EF4-FFF2-40B4-BE49-F238E27FC236}">
                    <a16:creationId xmlns:a16="http://schemas.microsoft.com/office/drawing/2014/main" id="{A64570D6-77E0-2E3C-712D-370BD1E2445B}"/>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7" name="フローチャート: 結合子 46">
                <a:extLst>
                  <a:ext uri="{FF2B5EF4-FFF2-40B4-BE49-F238E27FC236}">
                    <a16:creationId xmlns:a16="http://schemas.microsoft.com/office/drawing/2014/main" id="{4EA31131-D170-E3B0-5C53-1549F102F217}"/>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0" name="グループ化 39">
              <a:extLst>
                <a:ext uri="{FF2B5EF4-FFF2-40B4-BE49-F238E27FC236}">
                  <a16:creationId xmlns:a16="http://schemas.microsoft.com/office/drawing/2014/main" id="{DE9769D6-4902-44DA-EC86-E735C70DA414}"/>
                </a:ext>
              </a:extLst>
            </p:cNvPr>
            <p:cNvGrpSpPr/>
            <p:nvPr/>
          </p:nvGrpSpPr>
          <p:grpSpPr>
            <a:xfrm>
              <a:off x="9256590" y="4250516"/>
              <a:ext cx="1033019" cy="897643"/>
              <a:chOff x="10799190" y="2671132"/>
              <a:chExt cx="1033019" cy="897643"/>
            </a:xfrm>
          </p:grpSpPr>
          <p:sp>
            <p:nvSpPr>
              <p:cNvPr id="41" name="正方形/長方形 40">
                <a:extLst>
                  <a:ext uri="{FF2B5EF4-FFF2-40B4-BE49-F238E27FC236}">
                    <a16:creationId xmlns:a16="http://schemas.microsoft.com/office/drawing/2014/main" id="{CFCDD67B-04F8-4AF4-69E3-C29E5C1E1B4F}"/>
                  </a:ext>
                </a:extLst>
              </p:cNvPr>
              <p:cNvSpPr/>
              <p:nvPr/>
            </p:nvSpPr>
            <p:spPr bwMode="auto">
              <a:xfrm>
                <a:off x="10799190" y="2671132"/>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D91AF977-B9D6-B86B-EDC8-D01955F2DEAC}"/>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CF3CB3F6-E8D7-2583-EBD2-2E989BDBAEDD}"/>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6" name="グループ化 35">
              <a:extLst>
                <a:ext uri="{FF2B5EF4-FFF2-40B4-BE49-F238E27FC236}">
                  <a16:creationId xmlns:a16="http://schemas.microsoft.com/office/drawing/2014/main" id="{3FB65E44-9DDC-BF57-AAD4-1ED55697819E}"/>
                </a:ext>
              </a:extLst>
            </p:cNvPr>
            <p:cNvGrpSpPr/>
            <p:nvPr/>
          </p:nvGrpSpPr>
          <p:grpSpPr>
            <a:xfrm>
              <a:off x="10073453" y="4250634"/>
              <a:ext cx="1033019" cy="897643"/>
              <a:chOff x="10749795" y="4534948"/>
              <a:chExt cx="1033019" cy="897643"/>
            </a:xfrm>
          </p:grpSpPr>
          <p:sp>
            <p:nvSpPr>
              <p:cNvPr id="37" name="正方形/長方形 36">
                <a:extLst>
                  <a:ext uri="{FF2B5EF4-FFF2-40B4-BE49-F238E27FC236}">
                    <a16:creationId xmlns:a16="http://schemas.microsoft.com/office/drawing/2014/main" id="{B5E6FFDA-86DB-3A37-FB35-BE6001A4282F}"/>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フローチャート: 結合子 37">
                <a:extLst>
                  <a:ext uri="{FF2B5EF4-FFF2-40B4-BE49-F238E27FC236}">
                    <a16:creationId xmlns:a16="http://schemas.microsoft.com/office/drawing/2014/main" id="{985B55CC-202B-AA21-C3FE-913B2811B5F7}"/>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9" name="フローチャート: 結合子 38">
                <a:extLst>
                  <a:ext uri="{FF2B5EF4-FFF2-40B4-BE49-F238E27FC236}">
                    <a16:creationId xmlns:a16="http://schemas.microsoft.com/office/drawing/2014/main" id="{D7F828D2-EFCD-ADD8-751B-FFEE6109AD19}"/>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
        <p:nvSpPr>
          <p:cNvPr id="48" name="テキスト ボックス 47">
            <a:extLst>
              <a:ext uri="{FF2B5EF4-FFF2-40B4-BE49-F238E27FC236}">
                <a16:creationId xmlns:a16="http://schemas.microsoft.com/office/drawing/2014/main" id="{5D545B40-2C9B-656B-20B9-541AF7B800DD}"/>
              </a:ext>
            </a:extLst>
          </p:cNvPr>
          <p:cNvSpPr txBox="1"/>
          <p:nvPr/>
        </p:nvSpPr>
        <p:spPr>
          <a:xfrm>
            <a:off x="9063102" y="2675095"/>
            <a:ext cx="1415772" cy="461665"/>
          </a:xfrm>
          <a:prstGeom prst="rect">
            <a:avLst/>
          </a:prstGeom>
          <a:noFill/>
        </p:spPr>
        <p:txBody>
          <a:bodyPr wrap="none" rtlCol="0">
            <a:spAutoFit/>
          </a:bodyPr>
          <a:lstStyle/>
          <a:p>
            <a:pPr algn="l"/>
            <a:r>
              <a:rPr kumimoji="1" lang="ja-JP" altLang="en-US" sz="2400" i="0" dirty="0">
                <a:latin typeface="+mn-ea"/>
                <a:ea typeface="+mn-ea"/>
              </a:rPr>
              <a:t>走行速度</a:t>
            </a:r>
          </a:p>
        </p:txBody>
      </p:sp>
    </p:spTree>
    <p:extLst>
      <p:ext uri="{BB962C8B-B14F-4D97-AF65-F5344CB8AC3E}">
        <p14:creationId xmlns:p14="http://schemas.microsoft.com/office/powerpoint/2010/main" val="423317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C3BE3-29EE-FFDF-5047-A0A0B1BE1423}"/>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DF8579E9-8892-0559-D919-F1E028494EF1}"/>
              </a:ext>
            </a:extLst>
          </p:cNvPr>
          <p:cNvSpPr/>
          <p:nvPr/>
        </p:nvSpPr>
        <p:spPr bwMode="auto">
          <a:xfrm>
            <a:off x="683527" y="1794372"/>
            <a:ext cx="5801194" cy="1634627"/>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正方形/長方形 8">
            <a:extLst>
              <a:ext uri="{FF2B5EF4-FFF2-40B4-BE49-F238E27FC236}">
                <a16:creationId xmlns:a16="http://schemas.microsoft.com/office/drawing/2014/main" id="{FADABA68-BD27-F479-BBED-DF683B739ACC}"/>
              </a:ext>
            </a:extLst>
          </p:cNvPr>
          <p:cNvSpPr/>
          <p:nvPr/>
        </p:nvSpPr>
        <p:spPr bwMode="auto">
          <a:xfrm>
            <a:off x="683527" y="4123251"/>
            <a:ext cx="5801194" cy="1634628"/>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 name="タイトル 1">
            <a:extLst>
              <a:ext uri="{FF2B5EF4-FFF2-40B4-BE49-F238E27FC236}">
                <a16:creationId xmlns:a16="http://schemas.microsoft.com/office/drawing/2014/main" id="{562E60F0-0E22-4FCC-C1BB-A4166DFE40D4}"/>
              </a:ext>
            </a:extLst>
          </p:cNvPr>
          <p:cNvSpPr>
            <a:spLocks noGrp="1"/>
          </p:cNvSpPr>
          <p:nvPr>
            <p:ph type="title"/>
          </p:nvPr>
        </p:nvSpPr>
        <p:spPr/>
        <p:txBody>
          <a:bodyPr/>
          <a:lstStyle/>
          <a:p>
            <a:r>
              <a:rPr kumimoji="1" lang="ja-JP" altLang="en-US" sz="3200" b="1" dirty="0"/>
              <a:t>現状</a:t>
            </a:r>
          </a:p>
        </p:txBody>
      </p:sp>
      <p:sp>
        <p:nvSpPr>
          <p:cNvPr id="8" name="テキスト ボックス 7">
            <a:extLst>
              <a:ext uri="{FF2B5EF4-FFF2-40B4-BE49-F238E27FC236}">
                <a16:creationId xmlns:a16="http://schemas.microsoft.com/office/drawing/2014/main" id="{67C45B29-F03F-512B-E7FB-48B18CF2058D}"/>
              </a:ext>
            </a:extLst>
          </p:cNvPr>
          <p:cNvSpPr txBox="1"/>
          <p:nvPr/>
        </p:nvSpPr>
        <p:spPr>
          <a:xfrm>
            <a:off x="876803" y="1570847"/>
            <a:ext cx="3602851" cy="461666"/>
          </a:xfrm>
          <a:prstGeom prst="rect">
            <a:avLst/>
          </a:prstGeom>
          <a:solidFill>
            <a:schemeClr val="bg1"/>
          </a:solidFill>
          <a:ln>
            <a:solidFill>
              <a:schemeClr val="tx1"/>
            </a:solidFill>
          </a:ln>
        </p:spPr>
        <p:txBody>
          <a:bodyPr wrap="square" rtlCol="0">
            <a:spAutoFit/>
          </a:bodyPr>
          <a:lstStyle/>
          <a:p>
            <a:pPr algn="l"/>
            <a:r>
              <a:rPr kumimoji="1" lang="ja-JP" altLang="en-US" sz="2400" i="0" dirty="0">
                <a:latin typeface="+mn-ea"/>
                <a:ea typeface="+mn-ea"/>
              </a:rPr>
              <a:t>シミュレーションソフト</a:t>
            </a:r>
          </a:p>
        </p:txBody>
      </p:sp>
      <p:sp>
        <p:nvSpPr>
          <p:cNvPr id="13" name="テキスト ボックス 12">
            <a:extLst>
              <a:ext uri="{FF2B5EF4-FFF2-40B4-BE49-F238E27FC236}">
                <a16:creationId xmlns:a16="http://schemas.microsoft.com/office/drawing/2014/main" id="{EBEF0AAF-D9BD-E615-AD5B-C9D35759DD0B}"/>
              </a:ext>
            </a:extLst>
          </p:cNvPr>
          <p:cNvSpPr txBox="1"/>
          <p:nvPr/>
        </p:nvSpPr>
        <p:spPr>
          <a:xfrm>
            <a:off x="6669027" y="5105808"/>
            <a:ext cx="5114211" cy="830997"/>
          </a:xfrm>
          <a:prstGeom prst="rect">
            <a:avLst/>
          </a:prstGeom>
          <a:noFill/>
        </p:spPr>
        <p:txBody>
          <a:bodyPr wrap="square" rtlCol="0">
            <a:spAutoFit/>
          </a:bodyPr>
          <a:lstStyle/>
          <a:p>
            <a:pPr algn="l"/>
            <a:r>
              <a:rPr kumimoji="1" lang="ja-JP" altLang="en-US" sz="2400" i="0" dirty="0">
                <a:latin typeface="+mn-ea"/>
                <a:ea typeface="+mn-ea"/>
              </a:rPr>
              <a:t>車体長と同じ波長の正弦波地形での</a:t>
            </a:r>
            <a:endParaRPr kumimoji="1" lang="en-US" altLang="ja-JP" sz="2400" i="0" dirty="0">
              <a:latin typeface="+mn-ea"/>
              <a:ea typeface="+mn-ea"/>
            </a:endParaRPr>
          </a:p>
          <a:p>
            <a:pPr algn="l"/>
            <a:r>
              <a:rPr kumimoji="1" lang="ja-JP" altLang="en-US" sz="2400" i="0" dirty="0">
                <a:latin typeface="+mn-ea"/>
                <a:ea typeface="+mn-ea"/>
              </a:rPr>
              <a:t>走行シミュレーション</a:t>
            </a:r>
          </a:p>
        </p:txBody>
      </p:sp>
      <p:grpSp>
        <p:nvGrpSpPr>
          <p:cNvPr id="11" name="グループ化 10">
            <a:extLst>
              <a:ext uri="{FF2B5EF4-FFF2-40B4-BE49-F238E27FC236}">
                <a16:creationId xmlns:a16="http://schemas.microsoft.com/office/drawing/2014/main" id="{99BBD113-62E9-27EC-BB6B-389AAD0CE4A1}"/>
              </a:ext>
            </a:extLst>
          </p:cNvPr>
          <p:cNvGrpSpPr/>
          <p:nvPr/>
        </p:nvGrpSpPr>
        <p:grpSpPr>
          <a:xfrm>
            <a:off x="1016653" y="2142734"/>
            <a:ext cx="5324103" cy="1176044"/>
            <a:chOff x="922073" y="2090627"/>
            <a:chExt cx="5324103" cy="1176044"/>
          </a:xfrm>
        </p:grpSpPr>
        <p:sp>
          <p:nvSpPr>
            <p:cNvPr id="7" name="テキスト ボックス 6">
              <a:extLst>
                <a:ext uri="{FF2B5EF4-FFF2-40B4-BE49-F238E27FC236}">
                  <a16:creationId xmlns:a16="http://schemas.microsoft.com/office/drawing/2014/main" id="{85051A89-1B55-71A0-C26C-F8DD9FAD4906}"/>
                </a:ext>
              </a:extLst>
            </p:cNvPr>
            <p:cNvSpPr txBox="1"/>
            <p:nvPr/>
          </p:nvSpPr>
          <p:spPr>
            <a:xfrm>
              <a:off x="1481135" y="2090627"/>
              <a:ext cx="3927678" cy="830997"/>
            </a:xfrm>
            <a:prstGeom prst="rect">
              <a:avLst/>
            </a:prstGeom>
            <a:noFill/>
          </p:spPr>
          <p:txBody>
            <a:bodyPr wrap="none" rtlCol="0">
              <a:spAutoFit/>
            </a:bodyPr>
            <a:lstStyle/>
            <a:p>
              <a:r>
                <a:rPr lang="ja-JP" altLang="en-US" sz="4800" b="1" i="0" dirty="0">
                  <a:solidFill>
                    <a:srgbClr val="FF0000"/>
                  </a:solidFill>
                  <a:latin typeface="+mn-ea"/>
                  <a:ea typeface="+mn-ea"/>
                </a:rPr>
                <a:t>「</a:t>
              </a:r>
              <a:r>
                <a:rPr lang="en-US" altLang="ja-JP" sz="4800" b="1" i="0" dirty="0" err="1">
                  <a:solidFill>
                    <a:srgbClr val="FF0000"/>
                  </a:solidFill>
                  <a:latin typeface="+mn-ea"/>
                  <a:ea typeface="+mn-ea"/>
                </a:rPr>
                <a:t>MuJoCo</a:t>
              </a:r>
              <a:r>
                <a:rPr lang="ja-JP" altLang="en-US" sz="4800" b="1" i="0" dirty="0">
                  <a:solidFill>
                    <a:srgbClr val="FF0000"/>
                  </a:solidFill>
                  <a:latin typeface="+mn-ea"/>
                  <a:ea typeface="+mn-ea"/>
                </a:rPr>
                <a:t>」</a:t>
              </a:r>
            </a:p>
          </p:txBody>
        </p:sp>
        <p:sp>
          <p:nvSpPr>
            <p:cNvPr id="14" name="テキスト ボックス 13">
              <a:extLst>
                <a:ext uri="{FF2B5EF4-FFF2-40B4-BE49-F238E27FC236}">
                  <a16:creationId xmlns:a16="http://schemas.microsoft.com/office/drawing/2014/main" id="{1E0EDAB7-2208-76B4-5FAB-622240F7D73D}"/>
                </a:ext>
              </a:extLst>
            </p:cNvPr>
            <p:cNvSpPr txBox="1"/>
            <p:nvPr/>
          </p:nvSpPr>
          <p:spPr>
            <a:xfrm>
              <a:off x="922073" y="2805006"/>
              <a:ext cx="5324103" cy="461665"/>
            </a:xfrm>
            <a:prstGeom prst="rect">
              <a:avLst/>
            </a:prstGeom>
            <a:noFill/>
          </p:spPr>
          <p:txBody>
            <a:bodyPr wrap="square" rtlCol="0">
              <a:spAutoFit/>
            </a:bodyPr>
            <a:lstStyle/>
            <a:p>
              <a:r>
                <a:rPr lang="en-US" altLang="ja-JP" sz="2400" dirty="0">
                  <a:latin typeface="+mn-ea"/>
                  <a:ea typeface="+mn-ea"/>
                </a:rPr>
                <a:t>Multi-Joint dynamics with Contact</a:t>
              </a:r>
            </a:p>
          </p:txBody>
        </p:sp>
      </p:grpSp>
      <p:sp>
        <p:nvSpPr>
          <p:cNvPr id="3" name="テキスト ボックス 2">
            <a:extLst>
              <a:ext uri="{FF2B5EF4-FFF2-40B4-BE49-F238E27FC236}">
                <a16:creationId xmlns:a16="http://schemas.microsoft.com/office/drawing/2014/main" id="{08FC105D-C664-0D78-3E07-DFB8563488C5}"/>
              </a:ext>
            </a:extLst>
          </p:cNvPr>
          <p:cNvSpPr txBox="1"/>
          <p:nvPr/>
        </p:nvSpPr>
        <p:spPr>
          <a:xfrm>
            <a:off x="876803" y="3882531"/>
            <a:ext cx="1723549" cy="461665"/>
          </a:xfrm>
          <a:prstGeom prst="rect">
            <a:avLst/>
          </a:prstGeom>
          <a:solidFill>
            <a:schemeClr val="bg1"/>
          </a:solidFill>
          <a:ln>
            <a:solidFill>
              <a:schemeClr val="tx1"/>
            </a:solidFill>
          </a:ln>
        </p:spPr>
        <p:txBody>
          <a:bodyPr wrap="none" rtlCol="0">
            <a:spAutoFit/>
          </a:bodyPr>
          <a:lstStyle/>
          <a:p>
            <a:pPr algn="l"/>
            <a:r>
              <a:rPr kumimoji="1" lang="ja-JP" altLang="en-US" sz="2400" i="0" dirty="0">
                <a:latin typeface="+mn-ea"/>
                <a:ea typeface="+mn-ea"/>
              </a:rPr>
              <a:t>特徴と強み</a:t>
            </a:r>
          </a:p>
        </p:txBody>
      </p:sp>
      <p:sp>
        <p:nvSpPr>
          <p:cNvPr id="5" name="テキスト ボックス 4">
            <a:extLst>
              <a:ext uri="{FF2B5EF4-FFF2-40B4-BE49-F238E27FC236}">
                <a16:creationId xmlns:a16="http://schemas.microsoft.com/office/drawing/2014/main" id="{B1B60F44-A678-DA45-254B-546CC97ECCD8}"/>
              </a:ext>
            </a:extLst>
          </p:cNvPr>
          <p:cNvSpPr txBox="1"/>
          <p:nvPr/>
        </p:nvSpPr>
        <p:spPr>
          <a:xfrm>
            <a:off x="876803" y="4426063"/>
            <a:ext cx="4532010" cy="1200329"/>
          </a:xfrm>
          <a:prstGeom prst="rect">
            <a:avLst/>
          </a:prstGeom>
          <a:noFill/>
        </p:spPr>
        <p:txBody>
          <a:bodyPr wrap="none" rtlCol="0">
            <a:spAutoFit/>
          </a:bodyPr>
          <a:lstStyle/>
          <a:p>
            <a:pPr marL="342900" indent="-342900" algn="l">
              <a:buFont typeface="Arial" panose="020B0604020202020204" pitchFamily="34" charset="0"/>
              <a:buChar char="•"/>
            </a:pPr>
            <a:r>
              <a:rPr kumimoji="1" lang="ja-JP" altLang="en-US" sz="2400" i="0" dirty="0">
                <a:latin typeface="+mn-ea"/>
                <a:ea typeface="+mn-ea"/>
              </a:rPr>
              <a:t>無料オープンソース</a:t>
            </a:r>
            <a:endParaRPr kumimoji="1" lang="en-US" altLang="ja-JP" sz="2400" i="0" dirty="0">
              <a:latin typeface="+mn-ea"/>
              <a:ea typeface="+mn-ea"/>
            </a:endParaRPr>
          </a:p>
          <a:p>
            <a:pPr marL="342900" indent="-342900" algn="l">
              <a:buFont typeface="Arial" panose="020B0604020202020204" pitchFamily="34" charset="0"/>
              <a:buChar char="•"/>
            </a:pPr>
            <a:r>
              <a:rPr kumimoji="1" lang="ja-JP" altLang="en-US" sz="2400" i="0" dirty="0">
                <a:latin typeface="+mn-ea"/>
                <a:ea typeface="+mn-ea"/>
              </a:rPr>
              <a:t>物理現象を視覚的に確認可能</a:t>
            </a:r>
            <a:endParaRPr kumimoji="1" lang="en-US" altLang="ja-JP" sz="2400" i="0" dirty="0">
              <a:latin typeface="+mn-ea"/>
              <a:ea typeface="+mn-ea"/>
            </a:endParaRPr>
          </a:p>
          <a:p>
            <a:pPr marL="342900" indent="-342900" algn="l">
              <a:buFont typeface="Arial" panose="020B0604020202020204" pitchFamily="34" charset="0"/>
              <a:buChar char="•"/>
            </a:pPr>
            <a:r>
              <a:rPr kumimoji="1" lang="en-US" altLang="ja-JP" sz="2400" i="0" dirty="0">
                <a:latin typeface="+mn-ea"/>
                <a:ea typeface="+mn-ea"/>
              </a:rPr>
              <a:t>python</a:t>
            </a:r>
            <a:r>
              <a:rPr kumimoji="1" lang="ja-JP" altLang="en-US" sz="2400" i="0" dirty="0">
                <a:latin typeface="+mn-ea"/>
                <a:ea typeface="+mn-ea"/>
              </a:rPr>
              <a:t>と連携可能</a:t>
            </a:r>
          </a:p>
        </p:txBody>
      </p:sp>
      <p:pic>
        <p:nvPicPr>
          <p:cNvPr id="10" name="2025.9.9 中間発表用　車体長と同じ波長sim">
            <a:hlinkClick r:id="" action="ppaction://media"/>
            <a:extLst>
              <a:ext uri="{FF2B5EF4-FFF2-40B4-BE49-F238E27FC236}">
                <a16:creationId xmlns:a16="http://schemas.microsoft.com/office/drawing/2014/main" id="{7CFDFEDF-4FCB-A3E7-6251-246B51E927F3}"/>
              </a:ext>
            </a:extLst>
          </p:cNvPr>
          <p:cNvPicPr>
            <a:picLocks noChangeAspect="1"/>
          </p:cNvPicPr>
          <p:nvPr>
            <a:videoFile r:link="rId2"/>
            <p:extLst>
              <p:ext uri="{DAA4B4D4-6D71-4841-9C94-3DE7FCFB9230}">
                <p14:media xmlns:p14="http://schemas.microsoft.com/office/powerpoint/2010/main" r:embed="rId1"/>
              </p:ext>
            </p:extLst>
          </p:nvPr>
        </p:nvPicPr>
        <p:blipFill>
          <a:blip r:embed="rId5">
            <a:lum bright="20000" contrast="40000"/>
          </a:blip>
          <a:srcRect l="7794" t="5911" r="21625" b="5316"/>
          <a:stretch>
            <a:fillRect/>
          </a:stretch>
        </p:blipFill>
        <p:spPr>
          <a:xfrm>
            <a:off x="6899818" y="1794372"/>
            <a:ext cx="4535179" cy="3213261"/>
          </a:xfrm>
          <a:prstGeom prst="rect">
            <a:avLst/>
          </a:prstGeom>
        </p:spPr>
      </p:pic>
    </p:spTree>
    <p:extLst>
      <p:ext uri="{BB962C8B-B14F-4D97-AF65-F5344CB8AC3E}">
        <p14:creationId xmlns:p14="http://schemas.microsoft.com/office/powerpoint/2010/main" val="296093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7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remove"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C3FDE-3BFF-8C40-E723-B896E9A4AB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0656FB-966A-925E-E088-53D8589C4B21}"/>
              </a:ext>
            </a:extLst>
          </p:cNvPr>
          <p:cNvSpPr>
            <a:spLocks noGrp="1"/>
          </p:cNvSpPr>
          <p:nvPr>
            <p:ph type="title"/>
          </p:nvPr>
        </p:nvSpPr>
        <p:spPr/>
        <p:txBody>
          <a:bodyPr/>
          <a:lstStyle/>
          <a:p>
            <a:r>
              <a:rPr kumimoji="1" lang="ja-JP" altLang="en-US" sz="3200" b="1" dirty="0"/>
              <a:t>まとめと今後の展望</a:t>
            </a:r>
          </a:p>
        </p:txBody>
      </p:sp>
      <p:sp>
        <p:nvSpPr>
          <p:cNvPr id="8" name="テキスト ボックス 7">
            <a:extLst>
              <a:ext uri="{FF2B5EF4-FFF2-40B4-BE49-F238E27FC236}">
                <a16:creationId xmlns:a16="http://schemas.microsoft.com/office/drawing/2014/main" id="{2EF91301-467A-6715-C447-06B47EA5F7F7}"/>
              </a:ext>
            </a:extLst>
          </p:cNvPr>
          <p:cNvSpPr txBox="1"/>
          <p:nvPr/>
        </p:nvSpPr>
        <p:spPr>
          <a:xfrm>
            <a:off x="2975853" y="5212683"/>
            <a:ext cx="6647974" cy="954107"/>
          </a:xfrm>
          <a:prstGeom prst="rect">
            <a:avLst/>
          </a:prstGeom>
          <a:noFill/>
        </p:spPr>
        <p:txBody>
          <a:bodyPr wrap="none" rtlCol="0">
            <a:spAutoFit/>
          </a:bodyPr>
          <a:lstStyle/>
          <a:p>
            <a:pPr algn="l"/>
            <a:r>
              <a:rPr kumimoji="1" lang="ja-JP" altLang="en-US" sz="2800" b="1" i="0" dirty="0">
                <a:latin typeface="+mn-ea"/>
                <a:ea typeface="+mn-ea"/>
              </a:rPr>
              <a:t>卒業研究</a:t>
            </a:r>
            <a:r>
              <a:rPr kumimoji="1" lang="ja-JP" altLang="en-US" sz="2800" i="0" dirty="0">
                <a:latin typeface="+mn-ea"/>
                <a:ea typeface="+mn-ea"/>
              </a:rPr>
              <a:t>での理論の</a:t>
            </a:r>
            <a:r>
              <a:rPr kumimoji="1" lang="ja-JP" altLang="en-US" sz="2800" b="1" i="0" dirty="0">
                <a:latin typeface="+mn-ea"/>
                <a:ea typeface="+mn-ea"/>
              </a:rPr>
              <a:t>成立可否の検証</a:t>
            </a:r>
            <a:r>
              <a:rPr kumimoji="1" lang="ja-JP" altLang="en-US" sz="2800" i="0" dirty="0">
                <a:latin typeface="+mn-ea"/>
                <a:ea typeface="+mn-ea"/>
              </a:rPr>
              <a:t>の後</a:t>
            </a:r>
            <a:endParaRPr kumimoji="1" lang="en-US" altLang="ja-JP" sz="2800" i="0" dirty="0">
              <a:latin typeface="+mn-ea"/>
              <a:ea typeface="+mn-ea"/>
            </a:endParaRPr>
          </a:p>
          <a:p>
            <a:pPr algn="l"/>
            <a:r>
              <a:rPr kumimoji="1" lang="ja-JP" altLang="en-US" sz="2800" i="0" dirty="0">
                <a:latin typeface="+mn-ea"/>
                <a:ea typeface="+mn-ea"/>
              </a:rPr>
              <a:t>将来的には実機による走行実験を予定</a:t>
            </a:r>
          </a:p>
        </p:txBody>
      </p:sp>
      <p:sp>
        <p:nvSpPr>
          <p:cNvPr id="15" name="テキスト ボックス 14">
            <a:extLst>
              <a:ext uri="{FF2B5EF4-FFF2-40B4-BE49-F238E27FC236}">
                <a16:creationId xmlns:a16="http://schemas.microsoft.com/office/drawing/2014/main" id="{46E56279-B8EF-0610-1587-3637AD3566F7}"/>
              </a:ext>
            </a:extLst>
          </p:cNvPr>
          <p:cNvSpPr txBox="1"/>
          <p:nvPr/>
        </p:nvSpPr>
        <p:spPr>
          <a:xfrm>
            <a:off x="2975853" y="2650791"/>
            <a:ext cx="7725192" cy="954107"/>
          </a:xfrm>
          <a:prstGeom prst="rect">
            <a:avLst/>
          </a:prstGeom>
          <a:noFill/>
        </p:spPr>
        <p:txBody>
          <a:bodyPr wrap="none" rtlCol="0">
            <a:spAutoFit/>
          </a:bodyPr>
          <a:lstStyle/>
          <a:p>
            <a:r>
              <a:rPr kumimoji="1" lang="ja-JP" altLang="en-US" sz="2800" i="0" dirty="0">
                <a:latin typeface="+mn-ea"/>
                <a:ea typeface="+mn-ea"/>
              </a:rPr>
              <a:t>フーリエ変換を応用して不整地を</a:t>
            </a:r>
            <a:r>
              <a:rPr kumimoji="1" lang="ja-JP" altLang="en-US" sz="2800" b="1" i="0" dirty="0">
                <a:latin typeface="+mn-ea"/>
                <a:ea typeface="+mn-ea"/>
              </a:rPr>
              <a:t>分解</a:t>
            </a:r>
            <a:r>
              <a:rPr kumimoji="1" lang="ja-JP" altLang="en-US" sz="2800" i="0" dirty="0">
                <a:latin typeface="+mn-ea"/>
                <a:ea typeface="+mn-ea"/>
              </a:rPr>
              <a:t>し</a:t>
            </a:r>
            <a:endParaRPr kumimoji="1" lang="en-US" altLang="ja-JP" sz="2800" i="0" dirty="0">
              <a:latin typeface="+mn-ea"/>
              <a:ea typeface="+mn-ea"/>
            </a:endParaRPr>
          </a:p>
          <a:p>
            <a:r>
              <a:rPr kumimoji="1" lang="ja-JP" altLang="en-US" sz="2800" b="1" i="0" dirty="0">
                <a:latin typeface="+mn-ea"/>
                <a:ea typeface="+mn-ea"/>
              </a:rPr>
              <a:t>重ね合わせ</a:t>
            </a:r>
            <a:r>
              <a:rPr kumimoji="1" lang="ja-JP" altLang="en-US" sz="2800" i="0" dirty="0">
                <a:latin typeface="+mn-ea"/>
                <a:ea typeface="+mn-ea"/>
              </a:rPr>
              <a:t>によって</a:t>
            </a:r>
            <a:r>
              <a:rPr kumimoji="1" lang="ja-JP" altLang="en-US" sz="2800" b="1" i="0" dirty="0">
                <a:solidFill>
                  <a:srgbClr val="FF0000"/>
                </a:solidFill>
                <a:latin typeface="+mn-ea"/>
                <a:ea typeface="+mn-ea"/>
              </a:rPr>
              <a:t>走行性能を事前に予測</a:t>
            </a:r>
            <a:r>
              <a:rPr kumimoji="1" lang="ja-JP" altLang="en-US" sz="2800" i="0" dirty="0">
                <a:latin typeface="+mn-ea"/>
                <a:ea typeface="+mn-ea"/>
              </a:rPr>
              <a:t>する</a:t>
            </a:r>
          </a:p>
        </p:txBody>
      </p:sp>
      <p:sp>
        <p:nvSpPr>
          <p:cNvPr id="16" name="テキスト ボックス 15">
            <a:extLst>
              <a:ext uri="{FF2B5EF4-FFF2-40B4-BE49-F238E27FC236}">
                <a16:creationId xmlns:a16="http://schemas.microsoft.com/office/drawing/2014/main" id="{34CBC437-D989-561F-BDD6-BB40C8BFCC79}"/>
              </a:ext>
            </a:extLst>
          </p:cNvPr>
          <p:cNvSpPr txBox="1"/>
          <p:nvPr/>
        </p:nvSpPr>
        <p:spPr>
          <a:xfrm>
            <a:off x="995824" y="1573775"/>
            <a:ext cx="1620957" cy="523220"/>
          </a:xfrm>
          <a:prstGeom prst="rect">
            <a:avLst/>
          </a:prstGeom>
          <a:noFill/>
        </p:spPr>
        <p:txBody>
          <a:bodyPr wrap="none" rtlCol="0">
            <a:spAutoFit/>
          </a:bodyPr>
          <a:lstStyle/>
          <a:p>
            <a:pPr algn="l"/>
            <a:r>
              <a:rPr kumimoji="1" lang="ja-JP" altLang="en-US" sz="2800" i="0" dirty="0">
                <a:latin typeface="+mn-ea"/>
                <a:ea typeface="+mn-ea"/>
              </a:rPr>
              <a:t>研究目的</a:t>
            </a:r>
          </a:p>
        </p:txBody>
      </p:sp>
      <p:sp>
        <p:nvSpPr>
          <p:cNvPr id="18" name="テキスト ボックス 17">
            <a:extLst>
              <a:ext uri="{FF2B5EF4-FFF2-40B4-BE49-F238E27FC236}">
                <a16:creationId xmlns:a16="http://schemas.microsoft.com/office/drawing/2014/main" id="{0657122E-1913-F48B-56C1-C2377F033893}"/>
              </a:ext>
            </a:extLst>
          </p:cNvPr>
          <p:cNvSpPr txBox="1"/>
          <p:nvPr/>
        </p:nvSpPr>
        <p:spPr>
          <a:xfrm>
            <a:off x="995824" y="2651635"/>
            <a:ext cx="1620957" cy="523220"/>
          </a:xfrm>
          <a:prstGeom prst="rect">
            <a:avLst/>
          </a:prstGeom>
          <a:noFill/>
        </p:spPr>
        <p:txBody>
          <a:bodyPr wrap="none" rtlCol="0">
            <a:spAutoFit/>
          </a:bodyPr>
          <a:lstStyle/>
          <a:p>
            <a:pPr algn="l"/>
            <a:r>
              <a:rPr kumimoji="1" lang="ja-JP" altLang="en-US" sz="2800" i="0" dirty="0">
                <a:latin typeface="+mn-ea"/>
                <a:ea typeface="+mn-ea"/>
              </a:rPr>
              <a:t>仮説理論</a:t>
            </a:r>
          </a:p>
        </p:txBody>
      </p:sp>
      <p:sp>
        <p:nvSpPr>
          <p:cNvPr id="19" name="テキスト ボックス 18">
            <a:extLst>
              <a:ext uri="{FF2B5EF4-FFF2-40B4-BE49-F238E27FC236}">
                <a16:creationId xmlns:a16="http://schemas.microsoft.com/office/drawing/2014/main" id="{29E60A78-9FE6-47B6-24B3-1403719F4A7D}"/>
              </a:ext>
            </a:extLst>
          </p:cNvPr>
          <p:cNvSpPr txBox="1"/>
          <p:nvPr/>
        </p:nvSpPr>
        <p:spPr>
          <a:xfrm>
            <a:off x="2975853" y="3726906"/>
            <a:ext cx="5939111" cy="954107"/>
          </a:xfrm>
          <a:prstGeom prst="rect">
            <a:avLst/>
          </a:prstGeom>
          <a:noFill/>
        </p:spPr>
        <p:txBody>
          <a:bodyPr wrap="square" rtlCol="0">
            <a:spAutoFit/>
          </a:bodyPr>
          <a:lstStyle/>
          <a:p>
            <a:pPr algn="l"/>
            <a:r>
              <a:rPr kumimoji="1" lang="en-US" altLang="ja-JP" sz="2800" i="0" dirty="0" err="1">
                <a:latin typeface="+mn-ea"/>
                <a:ea typeface="+mn-ea"/>
              </a:rPr>
              <a:t>MuJoCo</a:t>
            </a:r>
            <a:r>
              <a:rPr kumimoji="1" lang="ja-JP" altLang="en-US" sz="2800" i="0" dirty="0">
                <a:latin typeface="+mn-ea"/>
                <a:ea typeface="+mn-ea"/>
              </a:rPr>
              <a:t>でシミュレーションを行い</a:t>
            </a:r>
            <a:endParaRPr kumimoji="1" lang="en-US" altLang="ja-JP" sz="2800" i="0" dirty="0">
              <a:latin typeface="+mn-ea"/>
              <a:ea typeface="+mn-ea"/>
            </a:endParaRPr>
          </a:p>
          <a:p>
            <a:pPr algn="l"/>
            <a:r>
              <a:rPr kumimoji="1" lang="ja-JP" altLang="en-US" sz="2800" b="1" i="0" dirty="0">
                <a:latin typeface="+mn-ea"/>
                <a:ea typeface="+mn-ea"/>
              </a:rPr>
              <a:t>仮説理論が成立するか検証</a:t>
            </a:r>
            <a:r>
              <a:rPr kumimoji="1" lang="ja-JP" altLang="en-US" sz="2800" i="0" dirty="0">
                <a:latin typeface="+mn-ea"/>
                <a:ea typeface="+mn-ea"/>
              </a:rPr>
              <a:t>する</a:t>
            </a:r>
            <a:endParaRPr kumimoji="1" lang="en-US" altLang="ja-JP" sz="2800" i="0" dirty="0">
              <a:latin typeface="+mn-ea"/>
              <a:ea typeface="+mn-ea"/>
            </a:endParaRPr>
          </a:p>
        </p:txBody>
      </p:sp>
      <p:sp>
        <p:nvSpPr>
          <p:cNvPr id="20" name="テキスト ボックス 19">
            <a:extLst>
              <a:ext uri="{FF2B5EF4-FFF2-40B4-BE49-F238E27FC236}">
                <a16:creationId xmlns:a16="http://schemas.microsoft.com/office/drawing/2014/main" id="{8F67DC8B-6838-4874-F20C-8828D98B7643}"/>
              </a:ext>
            </a:extLst>
          </p:cNvPr>
          <p:cNvSpPr txBox="1"/>
          <p:nvPr/>
        </p:nvSpPr>
        <p:spPr>
          <a:xfrm>
            <a:off x="995823" y="3680740"/>
            <a:ext cx="1620957" cy="523220"/>
          </a:xfrm>
          <a:prstGeom prst="rect">
            <a:avLst/>
          </a:prstGeom>
          <a:noFill/>
        </p:spPr>
        <p:txBody>
          <a:bodyPr wrap="none" rtlCol="0">
            <a:spAutoFit/>
          </a:bodyPr>
          <a:lstStyle/>
          <a:p>
            <a:pPr algn="l"/>
            <a:r>
              <a:rPr kumimoji="1" lang="ja-JP" altLang="en-US" sz="2800" i="0" dirty="0">
                <a:latin typeface="+mn-ea"/>
                <a:ea typeface="+mn-ea"/>
              </a:rPr>
              <a:t>実験方法</a:t>
            </a:r>
          </a:p>
        </p:txBody>
      </p:sp>
      <p:sp>
        <p:nvSpPr>
          <p:cNvPr id="6" name="テキスト ボックス 5">
            <a:extLst>
              <a:ext uri="{FF2B5EF4-FFF2-40B4-BE49-F238E27FC236}">
                <a16:creationId xmlns:a16="http://schemas.microsoft.com/office/drawing/2014/main" id="{351DF1C6-1CC7-95D0-2BA9-112B73A8338A}"/>
              </a:ext>
            </a:extLst>
          </p:cNvPr>
          <p:cNvSpPr txBox="1"/>
          <p:nvPr/>
        </p:nvSpPr>
        <p:spPr>
          <a:xfrm>
            <a:off x="2975853" y="1550608"/>
            <a:ext cx="6781333" cy="954107"/>
          </a:xfrm>
          <a:prstGeom prst="rect">
            <a:avLst/>
          </a:prstGeom>
          <a:noFill/>
        </p:spPr>
        <p:txBody>
          <a:bodyPr wrap="square" rtlCol="0">
            <a:spAutoFit/>
          </a:bodyPr>
          <a:lstStyle/>
          <a:p>
            <a:r>
              <a:rPr kumimoji="1" lang="ja-JP" altLang="en-US" sz="2800" b="1" i="0" dirty="0">
                <a:latin typeface="+mn-ea"/>
                <a:ea typeface="+mn-ea"/>
              </a:rPr>
              <a:t>未知環境におけるロボットの走行性能を</a:t>
            </a:r>
            <a:endParaRPr kumimoji="1" lang="en-US" altLang="ja-JP" sz="2800" b="1" i="0" dirty="0">
              <a:latin typeface="+mn-ea"/>
              <a:ea typeface="+mn-ea"/>
            </a:endParaRPr>
          </a:p>
          <a:p>
            <a:r>
              <a:rPr kumimoji="1" lang="ja-JP" altLang="en-US" sz="2800" b="1" i="0" dirty="0">
                <a:latin typeface="+mn-ea"/>
                <a:ea typeface="+mn-ea"/>
              </a:rPr>
              <a:t>予測する</a:t>
            </a:r>
            <a:r>
              <a:rPr kumimoji="1" lang="ja-JP" altLang="en-US" sz="2800" b="1" i="0" dirty="0">
                <a:solidFill>
                  <a:srgbClr val="FF0000"/>
                </a:solidFill>
                <a:latin typeface="+mn-ea"/>
                <a:ea typeface="+mn-ea"/>
              </a:rPr>
              <a:t>手法</a:t>
            </a:r>
            <a:r>
              <a:rPr kumimoji="1" lang="ja-JP" altLang="en-US" sz="2800" b="1" i="0" dirty="0">
                <a:latin typeface="+mn-ea"/>
                <a:ea typeface="+mn-ea"/>
              </a:rPr>
              <a:t>の確立</a:t>
            </a:r>
          </a:p>
        </p:txBody>
      </p:sp>
      <p:sp>
        <p:nvSpPr>
          <p:cNvPr id="26" name="テキスト ボックス 25">
            <a:extLst>
              <a:ext uri="{FF2B5EF4-FFF2-40B4-BE49-F238E27FC236}">
                <a16:creationId xmlns:a16="http://schemas.microsoft.com/office/drawing/2014/main" id="{8D142667-072F-C874-544B-04913A066835}"/>
              </a:ext>
            </a:extLst>
          </p:cNvPr>
          <p:cNvSpPr txBox="1"/>
          <p:nvPr/>
        </p:nvSpPr>
        <p:spPr>
          <a:xfrm>
            <a:off x="995824" y="5249848"/>
            <a:ext cx="1980029" cy="523220"/>
          </a:xfrm>
          <a:prstGeom prst="rect">
            <a:avLst/>
          </a:prstGeom>
          <a:noFill/>
        </p:spPr>
        <p:txBody>
          <a:bodyPr wrap="none" rtlCol="0">
            <a:spAutoFit/>
          </a:bodyPr>
          <a:lstStyle/>
          <a:p>
            <a:pPr algn="l"/>
            <a:r>
              <a:rPr kumimoji="1" lang="ja-JP" altLang="en-US" sz="2800" i="0" dirty="0">
                <a:latin typeface="+mn-ea"/>
                <a:ea typeface="+mn-ea"/>
              </a:rPr>
              <a:t>今後の展望</a:t>
            </a:r>
          </a:p>
        </p:txBody>
      </p:sp>
    </p:spTree>
    <p:extLst>
      <p:ext uri="{BB962C8B-B14F-4D97-AF65-F5344CB8AC3E}">
        <p14:creationId xmlns:p14="http://schemas.microsoft.com/office/powerpoint/2010/main" val="1419152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E741E1-2A0D-8B51-DD76-64AF066AB051}"/>
              </a:ext>
            </a:extLst>
          </p:cNvPr>
          <p:cNvSpPr>
            <a:spLocks noGrp="1"/>
          </p:cNvSpPr>
          <p:nvPr>
            <p:ph type="title"/>
          </p:nvPr>
        </p:nvSpPr>
        <p:spPr/>
        <p:txBody>
          <a:bodyPr/>
          <a:lstStyle/>
          <a:p>
            <a:endParaRPr kumimoji="1" lang="ja-JP" altLang="en-US"/>
          </a:p>
        </p:txBody>
      </p:sp>
      <p:sp>
        <p:nvSpPr>
          <p:cNvPr id="4" name="テキスト ボックス 3">
            <a:extLst>
              <a:ext uri="{FF2B5EF4-FFF2-40B4-BE49-F238E27FC236}">
                <a16:creationId xmlns:a16="http://schemas.microsoft.com/office/drawing/2014/main" id="{17FA9D26-537E-0562-7A20-7C9B852659BF}"/>
              </a:ext>
            </a:extLst>
          </p:cNvPr>
          <p:cNvSpPr txBox="1"/>
          <p:nvPr/>
        </p:nvSpPr>
        <p:spPr>
          <a:xfrm>
            <a:off x="1512509" y="2449627"/>
            <a:ext cx="8042023" cy="2677656"/>
          </a:xfrm>
          <a:prstGeom prst="rect">
            <a:avLst/>
          </a:prstGeom>
          <a:solidFill>
            <a:schemeClr val="accent2">
              <a:lumMod val="20000"/>
              <a:lumOff val="80000"/>
            </a:schemeClr>
          </a:solidFill>
          <a:ln>
            <a:noFill/>
          </a:ln>
        </p:spPr>
        <p:txBody>
          <a:bodyPr wrap="square" rtlCol="0">
            <a:spAutoFit/>
          </a:bodyPr>
          <a:lstStyle/>
          <a:p>
            <a:pPr algn="ctr"/>
            <a:r>
              <a:rPr kumimoji="1" lang="ja-JP" altLang="en-US" sz="1800" i="0" dirty="0">
                <a:latin typeface="+mn-ea"/>
                <a:ea typeface="+mn-ea"/>
              </a:rPr>
              <a:t>実験に必要な項目</a:t>
            </a:r>
            <a:endParaRPr kumimoji="1" lang="en-US" altLang="ja-JP" sz="1800" i="0" dirty="0">
              <a:latin typeface="+mn-ea"/>
              <a:ea typeface="+mn-ea"/>
            </a:endParaRPr>
          </a:p>
          <a:p>
            <a:pPr algn="l"/>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車両設計パラメータの変更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大量の分解した地形における走行データの収集</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実験条件の変更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計測器（センサ）の実装</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収集したデータの集計・重ね合わせ・比較・グラフ化</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大量の試行回数</a:t>
            </a:r>
            <a:endParaRPr kumimoji="1" lang="en-US" altLang="ja-JP" sz="1800" i="0" dirty="0">
              <a:latin typeface="+mn-ea"/>
              <a:ea typeface="+mn-ea"/>
            </a:endParaRPr>
          </a:p>
          <a:p>
            <a:pPr algn="l"/>
            <a:r>
              <a:rPr kumimoji="1" lang="en-US" altLang="ja-JP" sz="1800" i="0" dirty="0">
                <a:latin typeface="+mn-ea"/>
                <a:ea typeface="+mn-ea"/>
              </a:rPr>
              <a:t>etc.</a:t>
            </a:r>
          </a:p>
        </p:txBody>
      </p:sp>
    </p:spTree>
    <p:extLst>
      <p:ext uri="{BB962C8B-B14F-4D97-AF65-F5344CB8AC3E}">
        <p14:creationId xmlns:p14="http://schemas.microsoft.com/office/powerpoint/2010/main" val="1730517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727AB-3CE0-6F91-B14C-167A42329857}"/>
              </a:ext>
            </a:extLst>
          </p:cNvPr>
          <p:cNvSpPr>
            <a:spLocks noGrp="1"/>
          </p:cNvSpPr>
          <p:nvPr>
            <p:ph type="title"/>
          </p:nvPr>
        </p:nvSpPr>
        <p:spPr/>
        <p:txBody>
          <a:bodyPr/>
          <a:lstStyle/>
          <a:p>
            <a:r>
              <a:rPr kumimoji="1" lang="ja-JP" altLang="en-US" b="1" dirty="0"/>
              <a:t>走行性能とは？</a:t>
            </a:r>
          </a:p>
        </p:txBody>
      </p:sp>
      <p:sp>
        <p:nvSpPr>
          <p:cNvPr id="4" name="テキスト ボックス 3">
            <a:extLst>
              <a:ext uri="{FF2B5EF4-FFF2-40B4-BE49-F238E27FC236}">
                <a16:creationId xmlns:a16="http://schemas.microsoft.com/office/drawing/2014/main" id="{AA421009-8D1C-56CF-5BCE-22FF0419CC36}"/>
              </a:ext>
            </a:extLst>
          </p:cNvPr>
          <p:cNvSpPr txBox="1"/>
          <p:nvPr/>
        </p:nvSpPr>
        <p:spPr>
          <a:xfrm>
            <a:off x="1369630" y="1696664"/>
            <a:ext cx="4801314" cy="461665"/>
          </a:xfrm>
          <a:prstGeom prst="rect">
            <a:avLst/>
          </a:prstGeom>
          <a:noFill/>
        </p:spPr>
        <p:txBody>
          <a:bodyPr wrap="none" rtlCol="0">
            <a:spAutoFit/>
          </a:bodyPr>
          <a:lstStyle/>
          <a:p>
            <a:pPr algn="l"/>
            <a:r>
              <a:rPr kumimoji="1" lang="ja-JP" altLang="en-US" sz="2400" i="0" dirty="0">
                <a:latin typeface="+mn-ea"/>
                <a:ea typeface="+mn-ea"/>
              </a:rPr>
              <a:t>そもそも</a:t>
            </a:r>
            <a:r>
              <a:rPr kumimoji="1" lang="ja-JP" altLang="en-US" sz="2400" b="1" i="0" dirty="0">
                <a:latin typeface="+mn-ea"/>
                <a:ea typeface="+mn-ea"/>
              </a:rPr>
              <a:t>走行性能</a:t>
            </a:r>
            <a:r>
              <a:rPr kumimoji="1" lang="ja-JP" altLang="en-US" sz="2400" i="0" dirty="0">
                <a:latin typeface="+mn-ea"/>
                <a:ea typeface="+mn-ea"/>
              </a:rPr>
              <a:t>とは？　・・・</a:t>
            </a:r>
            <a:endParaRPr kumimoji="1" lang="en-US" altLang="ja-JP" sz="2400" i="0" dirty="0">
              <a:latin typeface="+mn-ea"/>
              <a:ea typeface="+mn-ea"/>
            </a:endParaRPr>
          </a:p>
        </p:txBody>
      </p:sp>
      <p:sp>
        <p:nvSpPr>
          <p:cNvPr id="5" name="テキスト ボックス 4">
            <a:extLst>
              <a:ext uri="{FF2B5EF4-FFF2-40B4-BE49-F238E27FC236}">
                <a16:creationId xmlns:a16="http://schemas.microsoft.com/office/drawing/2014/main" id="{9815068E-4D7A-C177-396E-818C5EA21DB7}"/>
              </a:ext>
            </a:extLst>
          </p:cNvPr>
          <p:cNvSpPr txBox="1"/>
          <p:nvPr/>
        </p:nvSpPr>
        <p:spPr>
          <a:xfrm>
            <a:off x="1981889" y="2730294"/>
            <a:ext cx="6955750" cy="461665"/>
          </a:xfrm>
          <a:prstGeom prst="rect">
            <a:avLst/>
          </a:prstGeom>
          <a:noFill/>
        </p:spPr>
        <p:txBody>
          <a:bodyPr wrap="none" rtlCol="0">
            <a:spAutoFit/>
          </a:bodyPr>
          <a:lstStyle/>
          <a:p>
            <a:pPr algn="l"/>
            <a:r>
              <a:rPr kumimoji="1" lang="ja-JP" altLang="en-US" sz="2400" i="0" dirty="0">
                <a:latin typeface="+mn-ea"/>
                <a:ea typeface="+mn-ea"/>
              </a:rPr>
              <a:t>特に不整地を移動するロボットに求められる性能</a:t>
            </a:r>
          </a:p>
        </p:txBody>
      </p:sp>
      <p:sp>
        <p:nvSpPr>
          <p:cNvPr id="6" name="テキスト ボックス 5">
            <a:extLst>
              <a:ext uri="{FF2B5EF4-FFF2-40B4-BE49-F238E27FC236}">
                <a16:creationId xmlns:a16="http://schemas.microsoft.com/office/drawing/2014/main" id="{FA55A2EB-4236-F51C-1A6B-4690CD65D8F3}"/>
              </a:ext>
            </a:extLst>
          </p:cNvPr>
          <p:cNvSpPr txBox="1"/>
          <p:nvPr/>
        </p:nvSpPr>
        <p:spPr>
          <a:xfrm>
            <a:off x="2734142" y="3425252"/>
            <a:ext cx="6473247" cy="2308324"/>
          </a:xfrm>
          <a:prstGeom prst="rect">
            <a:avLst/>
          </a:prstGeom>
          <a:solidFill>
            <a:schemeClr val="accent2">
              <a:lumMod val="20000"/>
              <a:lumOff val="80000"/>
            </a:schemeClr>
          </a:solidFill>
          <a:ln>
            <a:solidFill>
              <a:schemeClr val="bg1"/>
            </a:solidFill>
          </a:ln>
        </p:spPr>
        <p:txBody>
          <a:bodyPr wrap="none" rtlCol="0">
            <a:spAutoFit/>
          </a:bodyPr>
          <a:lstStyle/>
          <a:p>
            <a:pPr algn="l"/>
            <a:r>
              <a:rPr kumimoji="1" lang="ja-JP" altLang="en-US" sz="2400" i="0" dirty="0">
                <a:latin typeface="+mn-ea"/>
                <a:ea typeface="+mn-ea"/>
              </a:rPr>
              <a:t>　　　　走破性</a:t>
            </a:r>
            <a:r>
              <a:rPr kumimoji="1" lang="en-US" altLang="ja-JP" sz="2400" i="0" dirty="0">
                <a:latin typeface="+mn-ea"/>
                <a:ea typeface="+mn-ea"/>
              </a:rPr>
              <a:t>:</a:t>
            </a:r>
            <a:r>
              <a:rPr kumimoji="1" lang="ja-JP" altLang="en-US" sz="2400" i="0" dirty="0">
                <a:latin typeface="+mn-ea"/>
                <a:ea typeface="+mn-ea"/>
              </a:rPr>
              <a:t>地形を通過できるか</a:t>
            </a:r>
            <a:endParaRPr kumimoji="1" lang="en-US" altLang="ja-JP" sz="2400" i="0" dirty="0">
              <a:latin typeface="+mn-ea"/>
              <a:ea typeface="+mn-ea"/>
            </a:endParaRPr>
          </a:p>
          <a:p>
            <a:pPr algn="l"/>
            <a:r>
              <a:rPr kumimoji="1" lang="ja-JP" altLang="en-US" sz="2400" i="0" dirty="0">
                <a:latin typeface="+mn-ea"/>
                <a:ea typeface="+mn-ea"/>
              </a:rPr>
              <a:t>　　　　安定性</a:t>
            </a:r>
            <a:r>
              <a:rPr kumimoji="1" lang="en-US" altLang="ja-JP" sz="2400" i="0" dirty="0">
                <a:latin typeface="+mn-ea"/>
                <a:ea typeface="+mn-ea"/>
              </a:rPr>
              <a:t>:</a:t>
            </a:r>
            <a:r>
              <a:rPr kumimoji="1" lang="ja-JP" altLang="en-US" sz="2400" i="0" dirty="0">
                <a:latin typeface="+mn-ea"/>
                <a:ea typeface="+mn-ea"/>
              </a:rPr>
              <a:t>転倒，横転しないか</a:t>
            </a:r>
            <a:endParaRPr kumimoji="1" lang="en-US" altLang="ja-JP" sz="2400" i="0" dirty="0">
              <a:latin typeface="+mn-ea"/>
              <a:ea typeface="+mn-ea"/>
            </a:endParaRPr>
          </a:p>
          <a:p>
            <a:pPr algn="l"/>
            <a:r>
              <a:rPr kumimoji="1" lang="ja-JP" altLang="en-US" sz="2400" i="0" dirty="0">
                <a:latin typeface="+mn-ea"/>
                <a:ea typeface="+mn-ea"/>
              </a:rPr>
              <a:t>　　　　　速度</a:t>
            </a:r>
            <a:r>
              <a:rPr kumimoji="1" lang="en-US" altLang="ja-JP" sz="2400" i="0" dirty="0">
                <a:latin typeface="+mn-ea"/>
                <a:ea typeface="+mn-ea"/>
              </a:rPr>
              <a:t>:</a:t>
            </a:r>
            <a:r>
              <a:rPr kumimoji="1" lang="ja-JP" altLang="en-US" sz="2400" i="0" dirty="0">
                <a:latin typeface="+mn-ea"/>
                <a:ea typeface="+mn-ea"/>
              </a:rPr>
              <a:t>通過にかかった時間</a:t>
            </a:r>
            <a:endParaRPr kumimoji="1" lang="en-US" altLang="ja-JP" sz="2400" i="0" dirty="0">
              <a:latin typeface="+mn-ea"/>
              <a:ea typeface="+mn-ea"/>
            </a:endParaRPr>
          </a:p>
          <a:p>
            <a:pPr algn="l"/>
            <a:r>
              <a:rPr kumimoji="1" lang="ja-JP" altLang="en-US" sz="2400" i="0" dirty="0">
                <a:latin typeface="+mn-ea"/>
                <a:ea typeface="+mn-ea"/>
              </a:rPr>
              <a:t>　　　復帰性能</a:t>
            </a:r>
            <a:r>
              <a:rPr kumimoji="1" lang="en-US" altLang="ja-JP" sz="2400" i="0" dirty="0">
                <a:latin typeface="+mn-ea"/>
                <a:ea typeface="+mn-ea"/>
              </a:rPr>
              <a:t>:</a:t>
            </a:r>
            <a:r>
              <a:rPr kumimoji="1" lang="ja-JP" altLang="en-US" sz="2400" i="0" dirty="0">
                <a:latin typeface="+mn-ea"/>
                <a:ea typeface="+mn-ea"/>
              </a:rPr>
              <a:t>転倒，横転時に復帰できるか</a:t>
            </a:r>
            <a:endParaRPr kumimoji="1" lang="en-US" altLang="ja-JP" sz="2400" i="0" dirty="0">
              <a:latin typeface="+mn-ea"/>
              <a:ea typeface="+mn-ea"/>
            </a:endParaRPr>
          </a:p>
          <a:p>
            <a:pPr algn="l"/>
            <a:r>
              <a:rPr kumimoji="1" lang="ja-JP" altLang="en-US" sz="2400" i="0" dirty="0">
                <a:latin typeface="+mn-ea"/>
                <a:ea typeface="+mn-ea"/>
              </a:rPr>
              <a:t>エネルギー効率</a:t>
            </a:r>
            <a:r>
              <a:rPr kumimoji="1" lang="en-US" altLang="ja-JP" sz="2400" i="0" dirty="0">
                <a:latin typeface="+mn-ea"/>
                <a:ea typeface="+mn-ea"/>
              </a:rPr>
              <a:t>:</a:t>
            </a:r>
            <a:r>
              <a:rPr kumimoji="1" lang="ja-JP" altLang="en-US" sz="2400" i="0" dirty="0">
                <a:latin typeface="+mn-ea"/>
                <a:ea typeface="+mn-ea"/>
              </a:rPr>
              <a:t>バッテリー，熱効率</a:t>
            </a:r>
            <a:endParaRPr kumimoji="1" lang="en-US" altLang="ja-JP" sz="2400" i="0" dirty="0">
              <a:latin typeface="+mn-ea"/>
              <a:ea typeface="+mn-ea"/>
            </a:endParaRPr>
          </a:p>
          <a:p>
            <a:pPr algn="l"/>
            <a:r>
              <a:rPr kumimoji="1" lang="ja-JP" altLang="en-US" sz="2400" i="0" dirty="0">
                <a:latin typeface="+mn-ea"/>
                <a:ea typeface="+mn-ea"/>
              </a:rPr>
              <a:t>　　　　　</a:t>
            </a:r>
            <a:r>
              <a:rPr kumimoji="1" lang="en-US" altLang="ja-JP" sz="2400" i="0" dirty="0">
                <a:latin typeface="+mn-ea"/>
                <a:ea typeface="+mn-ea"/>
              </a:rPr>
              <a:t>etc.</a:t>
            </a:r>
          </a:p>
        </p:txBody>
      </p:sp>
      <p:sp>
        <p:nvSpPr>
          <p:cNvPr id="9" name="正方形/長方形 8">
            <a:extLst>
              <a:ext uri="{FF2B5EF4-FFF2-40B4-BE49-F238E27FC236}">
                <a16:creationId xmlns:a16="http://schemas.microsoft.com/office/drawing/2014/main" id="{A96EFEC8-904F-8FEC-4FC4-C265733F6CC9}"/>
              </a:ext>
            </a:extLst>
          </p:cNvPr>
          <p:cNvSpPr/>
          <p:nvPr/>
        </p:nvSpPr>
        <p:spPr bwMode="auto">
          <a:xfrm>
            <a:off x="6383094" y="1346868"/>
            <a:ext cx="5144756" cy="1014495"/>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0" name="テキスト ボックス 9">
            <a:extLst>
              <a:ext uri="{FF2B5EF4-FFF2-40B4-BE49-F238E27FC236}">
                <a16:creationId xmlns:a16="http://schemas.microsoft.com/office/drawing/2014/main" id="{48AE849C-2A53-AACA-E0F7-332F927B1DE1}"/>
              </a:ext>
            </a:extLst>
          </p:cNvPr>
          <p:cNvSpPr txBox="1"/>
          <p:nvPr/>
        </p:nvSpPr>
        <p:spPr>
          <a:xfrm>
            <a:off x="6595244" y="1438561"/>
            <a:ext cx="4720456" cy="1200329"/>
          </a:xfrm>
          <a:prstGeom prst="rect">
            <a:avLst/>
          </a:prstGeom>
          <a:noFill/>
        </p:spPr>
        <p:txBody>
          <a:bodyPr wrap="square" rtlCol="0">
            <a:spAutoFit/>
          </a:bodyPr>
          <a:lstStyle/>
          <a:p>
            <a:pPr algn="ctr"/>
            <a:r>
              <a:rPr kumimoji="1" lang="ja-JP" altLang="en-US" sz="2400" i="0" dirty="0">
                <a:latin typeface="+mn-ea"/>
                <a:ea typeface="+mn-ea"/>
              </a:rPr>
              <a:t>一般に，車両が走行するのに</a:t>
            </a:r>
            <a:endParaRPr kumimoji="1" lang="en-US" altLang="ja-JP" sz="2400" i="0" dirty="0">
              <a:latin typeface="+mn-ea"/>
              <a:ea typeface="+mn-ea"/>
            </a:endParaRPr>
          </a:p>
          <a:p>
            <a:pPr algn="ctr"/>
            <a:r>
              <a:rPr kumimoji="1" lang="ja-JP" altLang="en-US" sz="2400" i="0" dirty="0">
                <a:latin typeface="+mn-ea"/>
                <a:ea typeface="+mn-ea"/>
              </a:rPr>
              <a:t>求められる</a:t>
            </a:r>
            <a:r>
              <a:rPr kumimoji="1" lang="ja-JP" altLang="en-US" sz="2400" b="1" i="0" dirty="0">
                <a:latin typeface="+mn-ea"/>
                <a:ea typeface="+mn-ea"/>
              </a:rPr>
              <a:t>性能全般</a:t>
            </a:r>
            <a:r>
              <a:rPr kumimoji="1" lang="ja-JP" altLang="en-US" sz="2400" i="0" dirty="0">
                <a:latin typeface="+mn-ea"/>
                <a:ea typeface="+mn-ea"/>
              </a:rPr>
              <a:t>のこと</a:t>
            </a:r>
          </a:p>
          <a:p>
            <a:pPr algn="l"/>
            <a:endParaRPr kumimoji="1" lang="ja-JP" altLang="en-US" sz="2400" i="0" dirty="0">
              <a:latin typeface="+mn-ea"/>
              <a:ea typeface="+mn-ea"/>
            </a:endParaRPr>
          </a:p>
        </p:txBody>
      </p:sp>
    </p:spTree>
    <p:extLst>
      <p:ext uri="{BB962C8B-B14F-4D97-AF65-F5344CB8AC3E}">
        <p14:creationId xmlns:p14="http://schemas.microsoft.com/office/powerpoint/2010/main" val="1871261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773EC-1F02-172F-725A-D0B6C12AA1B9}"/>
              </a:ext>
            </a:extLst>
          </p:cNvPr>
          <p:cNvSpPr>
            <a:spLocks noGrp="1"/>
          </p:cNvSpPr>
          <p:nvPr>
            <p:ph type="title"/>
          </p:nvPr>
        </p:nvSpPr>
        <p:spPr/>
        <p:txBody>
          <a:bodyPr/>
          <a:lstStyle/>
          <a:p>
            <a:r>
              <a:rPr kumimoji="1" lang="ja-JP" altLang="en-US" b="1" dirty="0"/>
              <a:t>緒言</a:t>
            </a:r>
          </a:p>
        </p:txBody>
      </p:sp>
      <p:pic>
        <p:nvPicPr>
          <p:cNvPr id="4" name="図 3">
            <a:extLst>
              <a:ext uri="{FF2B5EF4-FFF2-40B4-BE49-F238E27FC236}">
                <a16:creationId xmlns:a16="http://schemas.microsoft.com/office/drawing/2014/main" id="{000B837B-21FF-B5A4-8840-E286D49EEE79}"/>
              </a:ext>
            </a:extLst>
          </p:cNvPr>
          <p:cNvPicPr>
            <a:picLocks noChangeAspect="1"/>
          </p:cNvPicPr>
          <p:nvPr/>
        </p:nvPicPr>
        <p:blipFill>
          <a:blip r:embed="rId2"/>
          <a:stretch>
            <a:fillRect/>
          </a:stretch>
        </p:blipFill>
        <p:spPr>
          <a:xfrm>
            <a:off x="1470586" y="2927589"/>
            <a:ext cx="2846581" cy="2092066"/>
          </a:xfrm>
          <a:prstGeom prst="rect">
            <a:avLst/>
          </a:prstGeom>
        </p:spPr>
      </p:pic>
      <p:pic>
        <p:nvPicPr>
          <p:cNvPr id="6" name="図 5">
            <a:extLst>
              <a:ext uri="{FF2B5EF4-FFF2-40B4-BE49-F238E27FC236}">
                <a16:creationId xmlns:a16="http://schemas.microsoft.com/office/drawing/2014/main" id="{CA03788F-D16C-57EE-4213-7BE5528582D8}"/>
              </a:ext>
            </a:extLst>
          </p:cNvPr>
          <p:cNvPicPr>
            <a:picLocks noChangeAspect="1"/>
          </p:cNvPicPr>
          <p:nvPr/>
        </p:nvPicPr>
        <p:blipFill>
          <a:blip r:embed="rId3"/>
          <a:stretch>
            <a:fillRect/>
          </a:stretch>
        </p:blipFill>
        <p:spPr>
          <a:xfrm>
            <a:off x="7683363" y="2897503"/>
            <a:ext cx="2846581" cy="2122152"/>
          </a:xfrm>
          <a:prstGeom prst="rect">
            <a:avLst/>
          </a:prstGeom>
        </p:spPr>
      </p:pic>
      <p:sp>
        <p:nvSpPr>
          <p:cNvPr id="7" name="テキスト ボックス 6">
            <a:extLst>
              <a:ext uri="{FF2B5EF4-FFF2-40B4-BE49-F238E27FC236}">
                <a16:creationId xmlns:a16="http://schemas.microsoft.com/office/drawing/2014/main" id="{CF5E846F-6309-F6ED-EA24-0FBA6DCF763F}"/>
              </a:ext>
            </a:extLst>
          </p:cNvPr>
          <p:cNvSpPr txBox="1"/>
          <p:nvPr/>
        </p:nvSpPr>
        <p:spPr>
          <a:xfrm>
            <a:off x="867833" y="5085655"/>
            <a:ext cx="4131471" cy="830996"/>
          </a:xfrm>
          <a:prstGeom prst="rect">
            <a:avLst/>
          </a:prstGeom>
          <a:noFill/>
        </p:spPr>
        <p:txBody>
          <a:bodyPr wrap="square" rtlCol="0">
            <a:spAutoFit/>
          </a:bodyPr>
          <a:lstStyle/>
          <a:p>
            <a:pPr algn="ctr"/>
            <a:r>
              <a:rPr kumimoji="1" lang="ja-JP" altLang="en-US" sz="2400" i="0" dirty="0">
                <a:latin typeface="+mn-ea"/>
                <a:ea typeface="+mn-ea"/>
              </a:rPr>
              <a:t>クローラ部分が柔軟に</a:t>
            </a:r>
            <a:endParaRPr kumimoji="1" lang="en-US" altLang="ja-JP" sz="2400" i="0" dirty="0">
              <a:latin typeface="+mn-ea"/>
              <a:ea typeface="+mn-ea"/>
            </a:endParaRPr>
          </a:p>
          <a:p>
            <a:pPr algn="ctr"/>
            <a:r>
              <a:rPr kumimoji="1" lang="ja-JP" altLang="en-US" sz="2400" i="0" dirty="0">
                <a:latin typeface="+mn-ea"/>
                <a:ea typeface="+mn-ea"/>
              </a:rPr>
              <a:t>湾曲できる移動ロボット</a:t>
            </a:r>
            <a:endParaRPr kumimoji="1" lang="en-US" altLang="ja-JP" sz="2400" i="0" dirty="0">
              <a:latin typeface="+mn-ea"/>
              <a:ea typeface="+mn-ea"/>
            </a:endParaRPr>
          </a:p>
        </p:txBody>
      </p:sp>
      <p:sp>
        <p:nvSpPr>
          <p:cNvPr id="8" name="テキスト ボックス 7">
            <a:extLst>
              <a:ext uri="{FF2B5EF4-FFF2-40B4-BE49-F238E27FC236}">
                <a16:creationId xmlns:a16="http://schemas.microsoft.com/office/drawing/2014/main" id="{B96FBA95-8857-58B9-14C7-905E617FA020}"/>
              </a:ext>
            </a:extLst>
          </p:cNvPr>
          <p:cNvSpPr txBox="1"/>
          <p:nvPr/>
        </p:nvSpPr>
        <p:spPr>
          <a:xfrm>
            <a:off x="6566390" y="5107111"/>
            <a:ext cx="5080525" cy="830997"/>
          </a:xfrm>
          <a:prstGeom prst="rect">
            <a:avLst/>
          </a:prstGeom>
          <a:noFill/>
        </p:spPr>
        <p:txBody>
          <a:bodyPr wrap="square" rtlCol="0">
            <a:spAutoFit/>
          </a:bodyPr>
          <a:lstStyle/>
          <a:p>
            <a:pPr algn="ctr"/>
            <a:r>
              <a:rPr kumimoji="1" lang="ja-JP" altLang="en-US" sz="2400" i="0" dirty="0">
                <a:latin typeface="+mn-ea"/>
                <a:ea typeface="+mn-ea"/>
              </a:rPr>
              <a:t>クローラを可変型にし</a:t>
            </a:r>
            <a:endParaRPr kumimoji="1" lang="en-US" altLang="ja-JP" sz="2400" i="0" dirty="0">
              <a:latin typeface="+mn-ea"/>
              <a:ea typeface="+mn-ea"/>
            </a:endParaRPr>
          </a:p>
          <a:p>
            <a:pPr algn="ctr"/>
            <a:r>
              <a:rPr kumimoji="1" lang="en-US" altLang="ja-JP" sz="2400" i="0" dirty="0">
                <a:latin typeface="+mn-ea"/>
                <a:ea typeface="+mn-ea"/>
              </a:rPr>
              <a:t>4</a:t>
            </a:r>
            <a:r>
              <a:rPr kumimoji="1" lang="ja-JP" altLang="en-US" sz="2400" i="0" dirty="0">
                <a:latin typeface="+mn-ea"/>
                <a:ea typeface="+mn-ea"/>
              </a:rPr>
              <a:t>足歩行を可能にした移動ロボット</a:t>
            </a:r>
            <a:endParaRPr kumimoji="1" lang="en-US" altLang="ja-JP" sz="2400" i="0" dirty="0">
              <a:latin typeface="+mn-ea"/>
              <a:ea typeface="+mn-ea"/>
            </a:endParaRPr>
          </a:p>
        </p:txBody>
      </p:sp>
      <p:sp>
        <p:nvSpPr>
          <p:cNvPr id="9" name="正方形/長方形 8">
            <a:extLst>
              <a:ext uri="{FF2B5EF4-FFF2-40B4-BE49-F238E27FC236}">
                <a16:creationId xmlns:a16="http://schemas.microsoft.com/office/drawing/2014/main" id="{21915977-51D1-D962-9162-2F8620AB32DD}"/>
              </a:ext>
            </a:extLst>
          </p:cNvPr>
          <p:cNvSpPr/>
          <p:nvPr/>
        </p:nvSpPr>
        <p:spPr bwMode="auto">
          <a:xfrm>
            <a:off x="4927558" y="3310430"/>
            <a:ext cx="2220686" cy="1569659"/>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さまざまな</a:t>
            </a: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機構，工夫</a:t>
            </a:r>
            <a:endParaRPr kumimoji="0" lang="ja-JP" altLang="en-US" sz="2400" b="0" i="0" u="none" strike="noStrike" cap="none" normalizeH="0" baseline="0" dirty="0">
              <a:ln>
                <a:noFill/>
              </a:ln>
              <a:solidFill>
                <a:schemeClr val="tx1"/>
              </a:solidFill>
              <a:effectLst/>
              <a:latin typeface="ＭＳ Ｐゴシック" charset="-128"/>
              <a:ea typeface="ＭＳ Ｐゴシック" charset="-128"/>
            </a:endParaRPr>
          </a:p>
        </p:txBody>
      </p:sp>
      <p:sp>
        <p:nvSpPr>
          <p:cNvPr id="5" name="テキスト ボックス 4">
            <a:extLst>
              <a:ext uri="{FF2B5EF4-FFF2-40B4-BE49-F238E27FC236}">
                <a16:creationId xmlns:a16="http://schemas.microsoft.com/office/drawing/2014/main" id="{D60F3339-09B0-5FFB-143C-7B54E277FCC2}"/>
              </a:ext>
            </a:extLst>
          </p:cNvPr>
          <p:cNvSpPr txBox="1"/>
          <p:nvPr/>
        </p:nvSpPr>
        <p:spPr>
          <a:xfrm>
            <a:off x="1278630" y="1545439"/>
            <a:ext cx="9626272" cy="954107"/>
          </a:xfrm>
          <a:prstGeom prst="rect">
            <a:avLst/>
          </a:prstGeom>
          <a:noFill/>
        </p:spPr>
        <p:txBody>
          <a:bodyPr wrap="square" rtlCol="0">
            <a:spAutoFit/>
          </a:bodyPr>
          <a:lstStyle/>
          <a:p>
            <a:r>
              <a:rPr kumimoji="1" lang="ja-JP" altLang="en-US" sz="2400" i="0" dirty="0">
                <a:latin typeface="+mn-ea"/>
                <a:ea typeface="+mn-ea"/>
              </a:rPr>
              <a:t>瓦礫や土砂の撤去作業における二次災害のリスクを排除するために</a:t>
            </a:r>
            <a:endParaRPr kumimoji="1" lang="en-US" altLang="ja-JP" sz="2400" i="0" dirty="0">
              <a:latin typeface="+mn-ea"/>
              <a:ea typeface="+mn-ea"/>
            </a:endParaRPr>
          </a:p>
          <a:p>
            <a:r>
              <a:rPr kumimoji="1" lang="ja-JP" altLang="en-US" sz="2400" i="0" dirty="0">
                <a:latin typeface="+mn-ea"/>
                <a:ea typeface="+mn-ea"/>
              </a:rPr>
              <a:t>さまざまな</a:t>
            </a:r>
            <a:r>
              <a:rPr kumimoji="1" lang="ja-JP" altLang="en-US" sz="3200" b="1" i="0" dirty="0">
                <a:latin typeface="+mn-ea"/>
                <a:ea typeface="+mn-ea"/>
              </a:rPr>
              <a:t>移動ロボット</a:t>
            </a:r>
            <a:r>
              <a:rPr kumimoji="1" lang="ja-JP" altLang="en-US" sz="2400" i="0" dirty="0">
                <a:latin typeface="+mn-ea"/>
                <a:ea typeface="+mn-ea"/>
              </a:rPr>
              <a:t>が開発されている</a:t>
            </a:r>
          </a:p>
        </p:txBody>
      </p:sp>
      <p:sp>
        <p:nvSpPr>
          <p:cNvPr id="10" name="テキスト ボックス 9">
            <a:extLst>
              <a:ext uri="{FF2B5EF4-FFF2-40B4-BE49-F238E27FC236}">
                <a16:creationId xmlns:a16="http://schemas.microsoft.com/office/drawing/2014/main" id="{97B302F4-CC67-F6EE-84C2-90761015A058}"/>
              </a:ext>
            </a:extLst>
          </p:cNvPr>
          <p:cNvSpPr txBox="1"/>
          <p:nvPr/>
        </p:nvSpPr>
        <p:spPr>
          <a:xfrm>
            <a:off x="3055686" y="5891772"/>
            <a:ext cx="1546294" cy="646331"/>
          </a:xfrm>
          <a:prstGeom prst="rect">
            <a:avLst/>
          </a:prstGeom>
          <a:noFill/>
        </p:spPr>
        <p:txBody>
          <a:bodyPr wrap="square" rtlCol="0">
            <a:spAutoFit/>
          </a:bodyPr>
          <a:lstStyle/>
          <a:p>
            <a:r>
              <a:rPr kumimoji="1" lang="ja-JP" altLang="en-US" i="0" dirty="0">
                <a:latin typeface="+mn-ea"/>
                <a:ea typeface="+mn-ea"/>
              </a:rPr>
              <a:t>浪花啓右ら </a:t>
            </a:r>
            <a:r>
              <a:rPr kumimoji="1" lang="en-US" altLang="ja-JP" i="0" dirty="0">
                <a:latin typeface="+mn-ea"/>
                <a:ea typeface="+mn-ea"/>
              </a:rPr>
              <a:t>2023</a:t>
            </a:r>
            <a:endParaRPr kumimoji="1" lang="ja-JP" altLang="en-US" i="0" dirty="0">
              <a:latin typeface="+mn-ea"/>
              <a:ea typeface="+mn-ea"/>
            </a:endParaRPr>
          </a:p>
          <a:p>
            <a:pPr algn="l"/>
            <a:endParaRPr kumimoji="1" lang="ja-JP" altLang="en-US" sz="2400" i="0" dirty="0">
              <a:latin typeface="+mn-ea"/>
              <a:ea typeface="+mn-ea"/>
            </a:endParaRPr>
          </a:p>
        </p:txBody>
      </p:sp>
      <p:sp>
        <p:nvSpPr>
          <p:cNvPr id="11" name="テキスト ボックス 10">
            <a:extLst>
              <a:ext uri="{FF2B5EF4-FFF2-40B4-BE49-F238E27FC236}">
                <a16:creationId xmlns:a16="http://schemas.microsoft.com/office/drawing/2014/main" id="{33CB6DC9-83A0-49FD-9F66-6AFC04A3F19E}"/>
              </a:ext>
            </a:extLst>
          </p:cNvPr>
          <p:cNvSpPr txBox="1"/>
          <p:nvPr/>
        </p:nvSpPr>
        <p:spPr>
          <a:xfrm>
            <a:off x="9138216" y="5891771"/>
            <a:ext cx="1391728" cy="646331"/>
          </a:xfrm>
          <a:prstGeom prst="rect">
            <a:avLst/>
          </a:prstGeom>
          <a:noFill/>
        </p:spPr>
        <p:txBody>
          <a:bodyPr wrap="none" rtlCol="0">
            <a:spAutoFit/>
          </a:bodyPr>
          <a:lstStyle/>
          <a:p>
            <a:r>
              <a:rPr kumimoji="1" lang="ja-JP" altLang="en-US" i="0" dirty="0">
                <a:latin typeface="+mn-ea"/>
                <a:ea typeface="+mn-ea"/>
              </a:rPr>
              <a:t>程島竜一ら </a:t>
            </a:r>
            <a:r>
              <a:rPr kumimoji="1" lang="en-US" altLang="ja-JP" i="0" dirty="0">
                <a:latin typeface="+mn-ea"/>
                <a:ea typeface="+mn-ea"/>
              </a:rPr>
              <a:t>2010</a:t>
            </a:r>
          </a:p>
          <a:p>
            <a:pPr algn="l"/>
            <a:endParaRPr kumimoji="1" lang="ja-JP" altLang="en-US" sz="2400" i="0" dirty="0">
              <a:latin typeface="+mn-ea"/>
              <a:ea typeface="+mn-ea"/>
            </a:endParaRPr>
          </a:p>
        </p:txBody>
      </p:sp>
    </p:spTree>
    <p:extLst>
      <p:ext uri="{BB962C8B-B14F-4D97-AF65-F5344CB8AC3E}">
        <p14:creationId xmlns:p14="http://schemas.microsoft.com/office/powerpoint/2010/main" val="130136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　被災２日後。破壊された家々は、がれきと化し街を埋め尽くしていた（１１年３月１３日、岩手・宮古市田老地区）">
            <a:extLst>
              <a:ext uri="{FF2B5EF4-FFF2-40B4-BE49-F238E27FC236}">
                <a16:creationId xmlns:a16="http://schemas.microsoft.com/office/drawing/2014/main" id="{E8EE8098-1791-9F1A-20F3-266D2AD9D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99" y="2774732"/>
            <a:ext cx="3123959" cy="208263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CA9806E-3B81-F206-AFE8-13B3E78F4439}"/>
              </a:ext>
            </a:extLst>
          </p:cNvPr>
          <p:cNvSpPr txBox="1"/>
          <p:nvPr/>
        </p:nvSpPr>
        <p:spPr>
          <a:xfrm>
            <a:off x="255053" y="5815117"/>
            <a:ext cx="3884049" cy="276999"/>
          </a:xfrm>
          <a:prstGeom prst="rect">
            <a:avLst/>
          </a:prstGeom>
          <a:noFill/>
        </p:spPr>
        <p:txBody>
          <a:bodyPr wrap="square">
            <a:spAutoFit/>
          </a:bodyPr>
          <a:lstStyle/>
          <a:p>
            <a:r>
              <a:rPr lang="ja-JP" altLang="en-US" i="0" dirty="0"/>
              <a:t>https://www.jiji.com/jc/v4?id=saigai-haikibutsu&amp;p=110323</a:t>
            </a:r>
          </a:p>
        </p:txBody>
      </p:sp>
      <p:pic>
        <p:nvPicPr>
          <p:cNvPr id="1028" name="Picture 4">
            <a:extLst>
              <a:ext uri="{FF2B5EF4-FFF2-40B4-BE49-F238E27FC236}">
                <a16:creationId xmlns:a16="http://schemas.microsoft.com/office/drawing/2014/main" id="{9B67FC7C-362A-39DA-8AB5-A9F950941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0653" y="3179467"/>
            <a:ext cx="3985910" cy="2082639"/>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5982BC9C-FEE7-ADB7-6CD2-F755E2747755}"/>
              </a:ext>
            </a:extLst>
          </p:cNvPr>
          <p:cNvSpPr txBox="1"/>
          <p:nvPr/>
        </p:nvSpPr>
        <p:spPr>
          <a:xfrm>
            <a:off x="5395904" y="5937885"/>
            <a:ext cx="3510659" cy="461665"/>
          </a:xfrm>
          <a:prstGeom prst="rect">
            <a:avLst/>
          </a:prstGeom>
          <a:noFill/>
        </p:spPr>
        <p:txBody>
          <a:bodyPr wrap="square">
            <a:spAutoFit/>
          </a:bodyPr>
          <a:lstStyle/>
          <a:p>
            <a:r>
              <a:rPr lang="ja-JP" altLang="en-US" i="0" dirty="0"/>
              <a:t>https://gooddo.jp/magazine/climate-change</a:t>
            </a:r>
            <a:endParaRPr lang="en-US" altLang="ja-JP" i="0" dirty="0"/>
          </a:p>
          <a:p>
            <a:r>
              <a:rPr lang="ja-JP" altLang="en-US" i="0" dirty="0"/>
              <a:t>/heavyrain_typhoon/heavyrain_kyushyu/3778/</a:t>
            </a:r>
          </a:p>
        </p:txBody>
      </p:sp>
      <p:sp>
        <p:nvSpPr>
          <p:cNvPr id="13" name="テキスト ボックス 12">
            <a:extLst>
              <a:ext uri="{FF2B5EF4-FFF2-40B4-BE49-F238E27FC236}">
                <a16:creationId xmlns:a16="http://schemas.microsoft.com/office/drawing/2014/main" id="{C5CC0C1E-1084-623A-9E65-8EBFDE9DF3F3}"/>
              </a:ext>
            </a:extLst>
          </p:cNvPr>
          <p:cNvSpPr txBox="1"/>
          <p:nvPr/>
        </p:nvSpPr>
        <p:spPr>
          <a:xfrm>
            <a:off x="0" y="4984120"/>
            <a:ext cx="4394153" cy="830997"/>
          </a:xfrm>
          <a:prstGeom prst="rect">
            <a:avLst/>
          </a:prstGeom>
          <a:noFill/>
        </p:spPr>
        <p:txBody>
          <a:bodyPr wrap="none" rtlCol="0">
            <a:spAutoFit/>
          </a:bodyPr>
          <a:lstStyle/>
          <a:p>
            <a:pPr algn="ctr"/>
            <a:r>
              <a:rPr kumimoji="1" lang="ja-JP" altLang="en-US" sz="2400" i="0" dirty="0">
                <a:latin typeface="+mn-ea"/>
                <a:ea typeface="+mn-ea"/>
              </a:rPr>
              <a:t>東日本大震災 </a:t>
            </a:r>
            <a:r>
              <a:rPr kumimoji="1" lang="en-US" altLang="ja-JP" sz="2400" i="0" dirty="0">
                <a:latin typeface="+mn-ea"/>
                <a:ea typeface="+mn-ea"/>
              </a:rPr>
              <a:t>2011</a:t>
            </a:r>
            <a:r>
              <a:rPr kumimoji="1" lang="ja-JP" altLang="en-US" sz="2400" i="0" dirty="0">
                <a:latin typeface="+mn-ea"/>
                <a:ea typeface="+mn-ea"/>
              </a:rPr>
              <a:t>年</a:t>
            </a:r>
            <a:r>
              <a:rPr kumimoji="1" lang="en-US" altLang="ja-JP" sz="2400" i="0" dirty="0">
                <a:latin typeface="+mn-ea"/>
                <a:ea typeface="+mn-ea"/>
              </a:rPr>
              <a:t>3</a:t>
            </a:r>
            <a:r>
              <a:rPr kumimoji="1" lang="ja-JP" altLang="en-US" sz="2400" i="0" dirty="0">
                <a:latin typeface="+mn-ea"/>
                <a:ea typeface="+mn-ea"/>
              </a:rPr>
              <a:t>月</a:t>
            </a:r>
            <a:r>
              <a:rPr kumimoji="1" lang="en-US" altLang="ja-JP" sz="2400" i="0" dirty="0">
                <a:latin typeface="+mn-ea"/>
                <a:ea typeface="+mn-ea"/>
              </a:rPr>
              <a:t>13</a:t>
            </a:r>
            <a:r>
              <a:rPr kumimoji="1" lang="ja-JP" altLang="en-US" sz="2400" i="0" dirty="0">
                <a:latin typeface="+mn-ea"/>
                <a:ea typeface="+mn-ea"/>
              </a:rPr>
              <a:t>日</a:t>
            </a:r>
            <a:endParaRPr kumimoji="1" lang="en-US" altLang="ja-JP" sz="2400" i="0" dirty="0">
              <a:latin typeface="+mn-ea"/>
              <a:ea typeface="+mn-ea"/>
            </a:endParaRPr>
          </a:p>
          <a:p>
            <a:pPr algn="ctr"/>
            <a:r>
              <a:rPr kumimoji="1" lang="ja-JP" altLang="en-US" sz="2400" i="0" dirty="0">
                <a:latin typeface="+mn-ea"/>
                <a:ea typeface="+mn-ea"/>
              </a:rPr>
              <a:t>岩手，宮古市田老地区</a:t>
            </a:r>
            <a:endParaRPr kumimoji="1" lang="en-US" altLang="ja-JP" sz="2400" i="0" dirty="0">
              <a:latin typeface="+mn-ea"/>
              <a:ea typeface="+mn-ea"/>
            </a:endParaRPr>
          </a:p>
        </p:txBody>
      </p:sp>
      <p:sp>
        <p:nvSpPr>
          <p:cNvPr id="14" name="テキスト ボックス 13">
            <a:extLst>
              <a:ext uri="{FF2B5EF4-FFF2-40B4-BE49-F238E27FC236}">
                <a16:creationId xmlns:a16="http://schemas.microsoft.com/office/drawing/2014/main" id="{8B816C8C-C2CB-A249-DF9A-B1F2889E58D1}"/>
              </a:ext>
            </a:extLst>
          </p:cNvPr>
          <p:cNvSpPr txBox="1"/>
          <p:nvPr/>
        </p:nvSpPr>
        <p:spPr>
          <a:xfrm>
            <a:off x="4649206" y="5388855"/>
            <a:ext cx="4528804" cy="461665"/>
          </a:xfrm>
          <a:prstGeom prst="rect">
            <a:avLst/>
          </a:prstGeom>
          <a:noFill/>
        </p:spPr>
        <p:txBody>
          <a:bodyPr wrap="none" rtlCol="0">
            <a:spAutoFit/>
          </a:bodyPr>
          <a:lstStyle/>
          <a:p>
            <a:pPr algn="l"/>
            <a:r>
              <a:rPr kumimoji="1" lang="ja-JP" altLang="en-US" sz="2400" i="0" dirty="0">
                <a:latin typeface="+mn-ea"/>
                <a:ea typeface="+mn-ea"/>
              </a:rPr>
              <a:t>九州北部豪雨 </a:t>
            </a:r>
            <a:r>
              <a:rPr kumimoji="1" lang="en-US" altLang="ja-JP" sz="2400" i="0" dirty="0">
                <a:latin typeface="+mn-ea"/>
                <a:ea typeface="+mn-ea"/>
              </a:rPr>
              <a:t>2017</a:t>
            </a:r>
            <a:r>
              <a:rPr kumimoji="1" lang="ja-JP" altLang="en-US" sz="2400" i="0" dirty="0">
                <a:latin typeface="+mn-ea"/>
                <a:ea typeface="+mn-ea"/>
              </a:rPr>
              <a:t>年</a:t>
            </a:r>
            <a:r>
              <a:rPr kumimoji="1" lang="en-US" altLang="ja-JP" sz="2400" i="0" dirty="0">
                <a:latin typeface="+mn-ea"/>
                <a:ea typeface="+mn-ea"/>
              </a:rPr>
              <a:t>7</a:t>
            </a:r>
            <a:r>
              <a:rPr kumimoji="1" lang="ja-JP" altLang="en-US" sz="2400" i="0" dirty="0">
                <a:latin typeface="+mn-ea"/>
                <a:ea typeface="+mn-ea"/>
              </a:rPr>
              <a:t>月</a:t>
            </a:r>
            <a:r>
              <a:rPr kumimoji="1" lang="en-US" altLang="ja-JP" sz="2400" i="0" dirty="0">
                <a:latin typeface="+mn-ea"/>
                <a:ea typeface="+mn-ea"/>
              </a:rPr>
              <a:t>5-6</a:t>
            </a:r>
            <a:r>
              <a:rPr kumimoji="1" lang="ja-JP" altLang="en-US" sz="2400" i="0" dirty="0">
                <a:latin typeface="+mn-ea"/>
                <a:ea typeface="+mn-ea"/>
              </a:rPr>
              <a:t>日</a:t>
            </a:r>
            <a:endParaRPr kumimoji="1" lang="en-US" altLang="ja-JP" sz="2400" i="0" dirty="0">
              <a:latin typeface="+mn-ea"/>
              <a:ea typeface="+mn-ea"/>
            </a:endParaRPr>
          </a:p>
        </p:txBody>
      </p:sp>
      <p:sp>
        <p:nvSpPr>
          <p:cNvPr id="7" name="テキスト ボックス 6">
            <a:extLst>
              <a:ext uri="{FF2B5EF4-FFF2-40B4-BE49-F238E27FC236}">
                <a16:creationId xmlns:a16="http://schemas.microsoft.com/office/drawing/2014/main" id="{005FB056-D0E9-7422-1C8C-05F12F9AF6B1}"/>
              </a:ext>
            </a:extLst>
          </p:cNvPr>
          <p:cNvSpPr txBox="1"/>
          <p:nvPr/>
        </p:nvSpPr>
        <p:spPr>
          <a:xfrm>
            <a:off x="8821141" y="2902468"/>
            <a:ext cx="3165418" cy="276999"/>
          </a:xfrm>
          <a:prstGeom prst="rect">
            <a:avLst/>
          </a:prstGeom>
          <a:noFill/>
        </p:spPr>
        <p:txBody>
          <a:bodyPr wrap="none" rtlCol="0">
            <a:spAutoFit/>
          </a:bodyPr>
          <a:lstStyle/>
          <a:p>
            <a:r>
              <a:rPr kumimoji="1" lang="en-US" altLang="ja-JP" i="0" dirty="0">
                <a:latin typeface="Segoe UI Historic" panose="020B0502040204020203" pitchFamily="34" charset="0"/>
                <a:ea typeface="Segoe UI Historic" panose="020B0502040204020203" pitchFamily="34" charset="0"/>
                <a:cs typeface="Segoe UI Historic" panose="020B0502040204020203" pitchFamily="34" charset="0"/>
              </a:rPr>
              <a:t>https://www.bosai.yomiuri.co.jp/article/4459</a:t>
            </a:r>
            <a:endParaRPr kumimoji="1" lang="ja-JP" altLang="en-US" i="0" dirty="0">
              <a:latin typeface="Segoe UI Historic" panose="020B0502040204020203" pitchFamily="34" charset="0"/>
              <a:ea typeface="+mn-ea"/>
              <a:cs typeface="Segoe UI Historic" panose="020B0502040204020203" pitchFamily="34" charset="0"/>
            </a:endParaRPr>
          </a:p>
        </p:txBody>
      </p:sp>
      <p:pic>
        <p:nvPicPr>
          <p:cNvPr id="11" name="図 10" descr="雪の積もった山でジャンプしている人&#10;&#10;AI 生成コンテンツは誤りを含む可能性があります。">
            <a:extLst>
              <a:ext uri="{FF2B5EF4-FFF2-40B4-BE49-F238E27FC236}">
                <a16:creationId xmlns:a16="http://schemas.microsoft.com/office/drawing/2014/main" id="{0F03E82A-87CF-BC8D-A028-146C811BE5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21881" y="697572"/>
            <a:ext cx="3264678" cy="2174276"/>
          </a:xfrm>
          <a:prstGeom prst="rect">
            <a:avLst/>
          </a:prstGeom>
        </p:spPr>
      </p:pic>
      <p:sp>
        <p:nvSpPr>
          <p:cNvPr id="17" name="テキスト ボックス 16">
            <a:extLst>
              <a:ext uri="{FF2B5EF4-FFF2-40B4-BE49-F238E27FC236}">
                <a16:creationId xmlns:a16="http://schemas.microsoft.com/office/drawing/2014/main" id="{DF84D73D-DAAD-F419-CF39-3D5A5E8EBDF8}"/>
              </a:ext>
            </a:extLst>
          </p:cNvPr>
          <p:cNvSpPr txBox="1"/>
          <p:nvPr/>
        </p:nvSpPr>
        <p:spPr>
          <a:xfrm>
            <a:off x="10003740" y="273891"/>
            <a:ext cx="800219" cy="461665"/>
          </a:xfrm>
          <a:prstGeom prst="rect">
            <a:avLst/>
          </a:prstGeom>
          <a:noFill/>
        </p:spPr>
        <p:txBody>
          <a:bodyPr wrap="none" rtlCol="0">
            <a:spAutoFit/>
          </a:bodyPr>
          <a:lstStyle/>
          <a:p>
            <a:pPr algn="l"/>
            <a:r>
              <a:rPr kumimoji="1" lang="ja-JP" altLang="en-US" sz="2400" i="0" dirty="0">
                <a:latin typeface="+mn-ea"/>
                <a:ea typeface="+mn-ea"/>
              </a:rPr>
              <a:t>雪崩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0" name="グループ化 149">
            <a:extLst>
              <a:ext uri="{FF2B5EF4-FFF2-40B4-BE49-F238E27FC236}">
                <a16:creationId xmlns:a16="http://schemas.microsoft.com/office/drawing/2014/main" id="{21E806AC-60BB-9819-1B90-6CE1FF35BBD4}"/>
              </a:ext>
            </a:extLst>
          </p:cNvPr>
          <p:cNvGrpSpPr/>
          <p:nvPr/>
        </p:nvGrpSpPr>
        <p:grpSpPr>
          <a:xfrm>
            <a:off x="862351" y="1845550"/>
            <a:ext cx="10651469" cy="4329787"/>
            <a:chOff x="862351" y="1845550"/>
            <a:chExt cx="10651469" cy="4329787"/>
          </a:xfrm>
        </p:grpSpPr>
        <p:grpSp>
          <p:nvGrpSpPr>
            <p:cNvPr id="142" name="グループ化 141">
              <a:extLst>
                <a:ext uri="{FF2B5EF4-FFF2-40B4-BE49-F238E27FC236}">
                  <a16:creationId xmlns:a16="http://schemas.microsoft.com/office/drawing/2014/main" id="{52E04857-81B7-DDE8-AF4F-332FFFFDC813}"/>
                </a:ext>
              </a:extLst>
            </p:cNvPr>
            <p:cNvGrpSpPr/>
            <p:nvPr/>
          </p:nvGrpSpPr>
          <p:grpSpPr>
            <a:xfrm>
              <a:off x="862351" y="1845550"/>
              <a:ext cx="10651469" cy="4329787"/>
              <a:chOff x="862351" y="1845550"/>
              <a:chExt cx="10651469" cy="4329787"/>
            </a:xfrm>
          </p:grpSpPr>
          <p:grpSp>
            <p:nvGrpSpPr>
              <p:cNvPr id="111" name="グループ化 110">
                <a:extLst>
                  <a:ext uri="{FF2B5EF4-FFF2-40B4-BE49-F238E27FC236}">
                    <a16:creationId xmlns:a16="http://schemas.microsoft.com/office/drawing/2014/main" id="{163589DE-CAB9-CD62-498A-F2BB9CC7FF5B}"/>
                  </a:ext>
                </a:extLst>
              </p:cNvPr>
              <p:cNvGrpSpPr/>
              <p:nvPr/>
            </p:nvGrpSpPr>
            <p:grpSpPr>
              <a:xfrm>
                <a:off x="1065953" y="2138340"/>
                <a:ext cx="10447867" cy="3622268"/>
                <a:chOff x="867833" y="1780540"/>
                <a:chExt cx="9342967" cy="3279281"/>
              </a:xfrm>
            </p:grpSpPr>
            <p:grpSp>
              <p:nvGrpSpPr>
                <p:cNvPr id="7" name="グループ化 6">
                  <a:extLst>
                    <a:ext uri="{FF2B5EF4-FFF2-40B4-BE49-F238E27FC236}">
                      <a16:creationId xmlns:a16="http://schemas.microsoft.com/office/drawing/2014/main" id="{2CC87A8B-9771-2D1E-3292-E141D27FB45B}"/>
                    </a:ext>
                  </a:extLst>
                </p:cNvPr>
                <p:cNvGrpSpPr/>
                <p:nvPr/>
              </p:nvGrpSpPr>
              <p:grpSpPr>
                <a:xfrm>
                  <a:off x="1528213" y="2133600"/>
                  <a:ext cx="2676504" cy="2092714"/>
                  <a:chOff x="1939030" y="2186608"/>
                  <a:chExt cx="2676504" cy="2092714"/>
                </a:xfrm>
              </p:grpSpPr>
              <p:sp>
                <p:nvSpPr>
                  <p:cNvPr id="4" name="正方形/長方形 3">
                    <a:extLst>
                      <a:ext uri="{FF2B5EF4-FFF2-40B4-BE49-F238E27FC236}">
                        <a16:creationId xmlns:a16="http://schemas.microsoft.com/office/drawing/2014/main" id="{B74D4313-B555-957A-2047-4D2B2DF1E25E}"/>
                      </a:ext>
                    </a:extLst>
                  </p:cNvPr>
                  <p:cNvSpPr/>
                  <p:nvPr/>
                </p:nvSpPr>
                <p:spPr bwMode="auto">
                  <a:xfrm>
                    <a:off x="1939030" y="2186608"/>
                    <a:ext cx="2676504" cy="1552714"/>
                  </a:xfrm>
                  <a:prstGeom prst="rect">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 name="フローチャート: 結合子 4">
                    <a:extLst>
                      <a:ext uri="{FF2B5EF4-FFF2-40B4-BE49-F238E27FC236}">
                        <a16:creationId xmlns:a16="http://schemas.microsoft.com/office/drawing/2014/main" id="{14B02780-9C9B-B5B7-7CFD-06B046397E61}"/>
                      </a:ext>
                    </a:extLst>
                  </p:cNvPr>
                  <p:cNvSpPr/>
                  <p:nvPr/>
                </p:nvSpPr>
                <p:spPr bwMode="auto">
                  <a:xfrm>
                    <a:off x="2127463" y="3199322"/>
                    <a:ext cx="1080000" cy="1080000"/>
                  </a:xfrm>
                  <a:prstGeom prst="flowChartConnector">
                    <a:avLst/>
                  </a:prstGeom>
                  <a:solidFill>
                    <a:schemeClr val="bg1"/>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 name="フローチャート: 結合子 5">
                    <a:extLst>
                      <a:ext uri="{FF2B5EF4-FFF2-40B4-BE49-F238E27FC236}">
                        <a16:creationId xmlns:a16="http://schemas.microsoft.com/office/drawing/2014/main" id="{18EE94A6-7B2E-BBEB-18B2-024DD7E13302}"/>
                      </a:ext>
                    </a:extLst>
                  </p:cNvPr>
                  <p:cNvSpPr/>
                  <p:nvPr/>
                </p:nvSpPr>
                <p:spPr bwMode="auto">
                  <a:xfrm>
                    <a:off x="3395896" y="3199322"/>
                    <a:ext cx="1080000" cy="1080000"/>
                  </a:xfrm>
                  <a:prstGeom prst="flowChartConnector">
                    <a:avLst/>
                  </a:prstGeom>
                  <a:solidFill>
                    <a:schemeClr val="bg1"/>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29" name="グループ化 28">
                  <a:extLst>
                    <a:ext uri="{FF2B5EF4-FFF2-40B4-BE49-F238E27FC236}">
                      <a16:creationId xmlns:a16="http://schemas.microsoft.com/office/drawing/2014/main" id="{8A2E004A-CB11-0573-E583-0B23EDC8EB2F}"/>
                    </a:ext>
                  </a:extLst>
                </p:cNvPr>
                <p:cNvGrpSpPr/>
                <p:nvPr/>
              </p:nvGrpSpPr>
              <p:grpSpPr>
                <a:xfrm>
                  <a:off x="867833" y="4226314"/>
                  <a:ext cx="9342967" cy="833354"/>
                  <a:chOff x="867833" y="4226314"/>
                  <a:chExt cx="9342967" cy="833354"/>
                </a:xfrm>
              </p:grpSpPr>
              <p:sp>
                <p:nvSpPr>
                  <p:cNvPr id="23" name="フリーフォーム: 図形 22">
                    <a:extLst>
                      <a:ext uri="{FF2B5EF4-FFF2-40B4-BE49-F238E27FC236}">
                        <a16:creationId xmlns:a16="http://schemas.microsoft.com/office/drawing/2014/main" id="{32236A9F-0CF3-1DF7-E557-B00ABB4CBFC6}"/>
                      </a:ext>
                    </a:extLst>
                  </p:cNvPr>
                  <p:cNvSpPr/>
                  <p:nvPr/>
                </p:nvSpPr>
                <p:spPr bwMode="auto">
                  <a:xfrm rot="10800000" flipV="1">
                    <a:off x="5344860" y="4226314"/>
                    <a:ext cx="4865940" cy="833354"/>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cxnSp>
                <p:nvCxnSpPr>
                  <p:cNvPr id="25" name="直線コネクタ 24">
                    <a:extLst>
                      <a:ext uri="{FF2B5EF4-FFF2-40B4-BE49-F238E27FC236}">
                        <a16:creationId xmlns:a16="http://schemas.microsoft.com/office/drawing/2014/main" id="{A92EF75A-EF19-1A9A-A0AD-CFC915BA2D8C}"/>
                      </a:ext>
                    </a:extLst>
                  </p:cNvPr>
                  <p:cNvCxnSpPr>
                    <a:cxnSpLocks/>
                  </p:cNvCxnSpPr>
                  <p:nvPr/>
                </p:nvCxnSpPr>
                <p:spPr bwMode="auto">
                  <a:xfrm>
                    <a:off x="867833" y="4226314"/>
                    <a:ext cx="4477028"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9" name="グループ化 48">
                  <a:extLst>
                    <a:ext uri="{FF2B5EF4-FFF2-40B4-BE49-F238E27FC236}">
                      <a16:creationId xmlns:a16="http://schemas.microsoft.com/office/drawing/2014/main" id="{C62DC44F-2710-7360-75DB-AD9EE3A380BC}"/>
                    </a:ext>
                  </a:extLst>
                </p:cNvPr>
                <p:cNvGrpSpPr/>
                <p:nvPr/>
              </p:nvGrpSpPr>
              <p:grpSpPr>
                <a:xfrm>
                  <a:off x="2356083" y="2484120"/>
                  <a:ext cx="1316757" cy="939423"/>
                  <a:chOff x="2356083" y="2484120"/>
                  <a:chExt cx="1316757" cy="939423"/>
                </a:xfrm>
              </p:grpSpPr>
              <p:sp>
                <p:nvSpPr>
                  <p:cNvPr id="30" name="フローチャート: 結合子 29">
                    <a:extLst>
                      <a:ext uri="{FF2B5EF4-FFF2-40B4-BE49-F238E27FC236}">
                        <a16:creationId xmlns:a16="http://schemas.microsoft.com/office/drawing/2014/main" id="{1677A676-B4F8-9CC2-79E1-4E46CDD7FAAD}"/>
                      </a:ext>
                    </a:extLst>
                  </p:cNvPr>
                  <p:cNvSpPr/>
                  <p:nvPr/>
                </p:nvSpPr>
                <p:spPr bwMode="auto">
                  <a:xfrm>
                    <a:off x="2805558" y="2909957"/>
                    <a:ext cx="121814" cy="114300"/>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32" name="直線コネクタ 31">
                    <a:extLst>
                      <a:ext uri="{FF2B5EF4-FFF2-40B4-BE49-F238E27FC236}">
                        <a16:creationId xmlns:a16="http://schemas.microsoft.com/office/drawing/2014/main" id="{AC39DB2A-01C2-7F93-6311-FD5AA0F15C44}"/>
                      </a:ext>
                    </a:extLst>
                  </p:cNvPr>
                  <p:cNvCxnSpPr>
                    <a:cxnSpLocks/>
                  </p:cNvCxnSpPr>
                  <p:nvPr/>
                </p:nvCxnSpPr>
                <p:spPr bwMode="auto">
                  <a:xfrm>
                    <a:off x="2866465" y="2967107"/>
                    <a:ext cx="80637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直線コネクタ 36">
                    <a:extLst>
                      <a:ext uri="{FF2B5EF4-FFF2-40B4-BE49-F238E27FC236}">
                        <a16:creationId xmlns:a16="http://schemas.microsoft.com/office/drawing/2014/main" id="{5065CC32-C3FC-40DA-45AE-94B781F4821A}"/>
                      </a:ext>
                    </a:extLst>
                  </p:cNvPr>
                  <p:cNvCxnSpPr>
                    <a:cxnSpLocks/>
                  </p:cNvCxnSpPr>
                  <p:nvPr/>
                </p:nvCxnSpPr>
                <p:spPr bwMode="auto">
                  <a:xfrm flipV="1">
                    <a:off x="2866465" y="2484120"/>
                    <a:ext cx="658614" cy="4829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 name="円弧 39">
                    <a:extLst>
                      <a:ext uri="{FF2B5EF4-FFF2-40B4-BE49-F238E27FC236}">
                        <a16:creationId xmlns:a16="http://schemas.microsoft.com/office/drawing/2014/main" id="{EBC5A9E4-0DF5-AEF4-DDD9-79C645949351}"/>
                      </a:ext>
                    </a:extLst>
                  </p:cNvPr>
                  <p:cNvSpPr/>
                  <p:nvPr/>
                </p:nvSpPr>
                <p:spPr bwMode="auto">
                  <a:xfrm rot="1465895">
                    <a:off x="2356083" y="2510671"/>
                    <a:ext cx="900142" cy="912872"/>
                  </a:xfrm>
                  <a:prstGeom prst="arc">
                    <a:avLst>
                      <a:gd name="adj1" fmla="val 18276925"/>
                      <a:gd name="adj2" fmla="val 20156937"/>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sp>
              <p:nvSpPr>
                <p:cNvPr id="41" name="フローチャート: 結合子 40">
                  <a:extLst>
                    <a:ext uri="{FF2B5EF4-FFF2-40B4-BE49-F238E27FC236}">
                      <a16:creationId xmlns:a16="http://schemas.microsoft.com/office/drawing/2014/main" id="{2F283AAC-1DA6-C6E2-5AD3-2DD417B26ED6}"/>
                    </a:ext>
                  </a:extLst>
                </p:cNvPr>
                <p:cNvSpPr/>
                <p:nvPr/>
              </p:nvSpPr>
              <p:spPr bwMode="auto">
                <a:xfrm>
                  <a:off x="2195739" y="3629165"/>
                  <a:ext cx="121814" cy="114300"/>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A70C9551-F818-8A47-559E-32A6B821A5EC}"/>
                    </a:ext>
                  </a:extLst>
                </p:cNvPr>
                <p:cNvSpPr/>
                <p:nvPr/>
              </p:nvSpPr>
              <p:spPr bwMode="auto">
                <a:xfrm>
                  <a:off x="3464172" y="3629164"/>
                  <a:ext cx="121814" cy="114300"/>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44" name="直線コネクタ 43">
                  <a:extLst>
                    <a:ext uri="{FF2B5EF4-FFF2-40B4-BE49-F238E27FC236}">
                      <a16:creationId xmlns:a16="http://schemas.microsoft.com/office/drawing/2014/main" id="{D8FEE81D-501C-8CED-26EB-4171935F4870}"/>
                    </a:ext>
                  </a:extLst>
                </p:cNvPr>
                <p:cNvCxnSpPr>
                  <a:cxnSpLocks/>
                </p:cNvCxnSpPr>
                <p:nvPr/>
              </p:nvCxnSpPr>
              <p:spPr bwMode="auto">
                <a:xfrm>
                  <a:off x="1528213" y="178054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8" name="直線コネクタ 47">
                  <a:extLst>
                    <a:ext uri="{FF2B5EF4-FFF2-40B4-BE49-F238E27FC236}">
                      <a16:creationId xmlns:a16="http://schemas.microsoft.com/office/drawing/2014/main" id="{C7E6BEE3-F901-BEAC-E5DF-1CC45F254095}"/>
                    </a:ext>
                  </a:extLst>
                </p:cNvPr>
                <p:cNvCxnSpPr>
                  <a:cxnSpLocks/>
                </p:cNvCxnSpPr>
                <p:nvPr/>
              </p:nvCxnSpPr>
              <p:spPr bwMode="auto">
                <a:xfrm>
                  <a:off x="4204717" y="178054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 name="直線矢印コネクタ 56">
                  <a:extLst>
                    <a:ext uri="{FF2B5EF4-FFF2-40B4-BE49-F238E27FC236}">
                      <a16:creationId xmlns:a16="http://schemas.microsoft.com/office/drawing/2014/main" id="{B93C92EE-0EF5-90C6-5A89-E8E3F528C2FE}"/>
                    </a:ext>
                  </a:extLst>
                </p:cNvPr>
                <p:cNvCxnSpPr>
                  <a:cxnSpLocks/>
                </p:cNvCxnSpPr>
                <p:nvPr/>
              </p:nvCxnSpPr>
              <p:spPr bwMode="auto">
                <a:xfrm>
                  <a:off x="1528213" y="1937317"/>
                  <a:ext cx="2676504"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 name="直線コネクタ 59">
                  <a:extLst>
                    <a:ext uri="{FF2B5EF4-FFF2-40B4-BE49-F238E27FC236}">
                      <a16:creationId xmlns:a16="http://schemas.microsoft.com/office/drawing/2014/main" id="{E72E3DE5-0790-FC1A-D33C-4F8F76DBE607}"/>
                    </a:ext>
                  </a:extLst>
                </p:cNvPr>
                <p:cNvCxnSpPr>
                  <a:cxnSpLocks/>
                </p:cNvCxnSpPr>
                <p:nvPr/>
              </p:nvCxnSpPr>
              <p:spPr bwMode="auto">
                <a:xfrm>
                  <a:off x="1181861" y="2133600"/>
                  <a:ext cx="320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7" name="直線矢印コネクタ 66">
                  <a:extLst>
                    <a:ext uri="{FF2B5EF4-FFF2-40B4-BE49-F238E27FC236}">
                      <a16:creationId xmlns:a16="http://schemas.microsoft.com/office/drawing/2014/main" id="{DCD96714-A7DC-21CF-599B-D6A765C4EEE8}"/>
                    </a:ext>
                  </a:extLst>
                </p:cNvPr>
                <p:cNvCxnSpPr>
                  <a:cxnSpLocks/>
                </p:cNvCxnSpPr>
                <p:nvPr/>
              </p:nvCxnSpPr>
              <p:spPr bwMode="auto">
                <a:xfrm>
                  <a:off x="1342061" y="2133600"/>
                  <a:ext cx="0" cy="2092714"/>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2" name="直線コネクタ 71">
                  <a:extLst>
                    <a:ext uri="{FF2B5EF4-FFF2-40B4-BE49-F238E27FC236}">
                      <a16:creationId xmlns:a16="http://schemas.microsoft.com/office/drawing/2014/main" id="{62453386-1A7A-CEF0-7EEF-3238AD6E6078}"/>
                    </a:ext>
                  </a:extLst>
                </p:cNvPr>
                <p:cNvCxnSpPr>
                  <a:cxnSpLocks/>
                  <a:stCxn id="41" idx="4"/>
                </p:cNvCxnSpPr>
                <p:nvPr/>
              </p:nvCxnSpPr>
              <p:spPr bwMode="auto">
                <a:xfrm flipH="1">
                  <a:off x="2256645" y="3743465"/>
                  <a:ext cx="1" cy="12171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8" name="直線コネクタ 77">
                  <a:extLst>
                    <a:ext uri="{FF2B5EF4-FFF2-40B4-BE49-F238E27FC236}">
                      <a16:creationId xmlns:a16="http://schemas.microsoft.com/office/drawing/2014/main" id="{B3A3DFD9-9741-F259-81FB-44CF7C80FD71}"/>
                    </a:ext>
                  </a:extLst>
                </p:cNvPr>
                <p:cNvCxnSpPr>
                  <a:cxnSpLocks/>
                </p:cNvCxnSpPr>
                <p:nvPr/>
              </p:nvCxnSpPr>
              <p:spPr bwMode="auto">
                <a:xfrm>
                  <a:off x="3525079" y="3743465"/>
                  <a:ext cx="0" cy="12171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 name="直線矢印コネクタ 79">
                  <a:extLst>
                    <a:ext uri="{FF2B5EF4-FFF2-40B4-BE49-F238E27FC236}">
                      <a16:creationId xmlns:a16="http://schemas.microsoft.com/office/drawing/2014/main" id="{B5D41A5F-B580-B9FE-3941-D1DB71D40E22}"/>
                    </a:ext>
                  </a:extLst>
                </p:cNvPr>
                <p:cNvCxnSpPr>
                  <a:cxnSpLocks/>
                </p:cNvCxnSpPr>
                <p:nvPr/>
              </p:nvCxnSpPr>
              <p:spPr bwMode="auto">
                <a:xfrm>
                  <a:off x="2256645" y="4787279"/>
                  <a:ext cx="1268434"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90" name="グループ化 89">
                  <a:extLst>
                    <a:ext uri="{FF2B5EF4-FFF2-40B4-BE49-F238E27FC236}">
                      <a16:creationId xmlns:a16="http://schemas.microsoft.com/office/drawing/2014/main" id="{57ABE1B3-FE5D-14AC-4DA8-DC7D49FB2A3C}"/>
                    </a:ext>
                  </a:extLst>
                </p:cNvPr>
                <p:cNvGrpSpPr/>
                <p:nvPr/>
              </p:nvGrpSpPr>
              <p:grpSpPr>
                <a:xfrm>
                  <a:off x="1805362" y="3229115"/>
                  <a:ext cx="2190614" cy="922185"/>
                  <a:chOff x="1805362" y="3229115"/>
                  <a:chExt cx="2190614" cy="922185"/>
                </a:xfrm>
                <a:noFill/>
              </p:grpSpPr>
              <p:sp>
                <p:nvSpPr>
                  <p:cNvPr id="88" name="円弧 87">
                    <a:extLst>
                      <a:ext uri="{FF2B5EF4-FFF2-40B4-BE49-F238E27FC236}">
                        <a16:creationId xmlns:a16="http://schemas.microsoft.com/office/drawing/2014/main" id="{07AB76E5-29EE-85DB-BE5C-7C4AF18B68FF}"/>
                      </a:ext>
                    </a:extLst>
                  </p:cNvPr>
                  <p:cNvSpPr/>
                  <p:nvPr/>
                </p:nvSpPr>
                <p:spPr bwMode="auto">
                  <a:xfrm rot="2641556">
                    <a:off x="3081576" y="3229115"/>
                    <a:ext cx="914400" cy="914400"/>
                  </a:xfrm>
                  <a:prstGeom prst="arc">
                    <a:avLst/>
                  </a:prstGeom>
                  <a:grp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89" name="円弧 88">
                    <a:extLst>
                      <a:ext uri="{FF2B5EF4-FFF2-40B4-BE49-F238E27FC236}">
                        <a16:creationId xmlns:a16="http://schemas.microsoft.com/office/drawing/2014/main" id="{F914D3B1-D158-7A59-E179-E34BE69A2C06}"/>
                      </a:ext>
                    </a:extLst>
                  </p:cNvPr>
                  <p:cNvSpPr/>
                  <p:nvPr/>
                </p:nvSpPr>
                <p:spPr bwMode="auto">
                  <a:xfrm rot="2641556">
                    <a:off x="1805362" y="3236900"/>
                    <a:ext cx="914400" cy="914400"/>
                  </a:xfrm>
                  <a:prstGeom prst="arc">
                    <a:avLst/>
                  </a:prstGeom>
                  <a:grp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cxnSp>
              <p:nvCxnSpPr>
                <p:cNvPr id="91" name="直線コネクタ 90">
                  <a:extLst>
                    <a:ext uri="{FF2B5EF4-FFF2-40B4-BE49-F238E27FC236}">
                      <a16:creationId xmlns:a16="http://schemas.microsoft.com/office/drawing/2014/main" id="{3217B3F2-B1DE-CB21-2470-AD32110A04AE}"/>
                    </a:ext>
                  </a:extLst>
                </p:cNvPr>
                <p:cNvCxnSpPr>
                  <a:cxnSpLocks/>
                </p:cNvCxnSpPr>
                <p:nvPr/>
              </p:nvCxnSpPr>
              <p:spPr bwMode="auto">
                <a:xfrm>
                  <a:off x="6955537" y="380746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2" name="直線コネクタ 91">
                  <a:extLst>
                    <a:ext uri="{FF2B5EF4-FFF2-40B4-BE49-F238E27FC236}">
                      <a16:creationId xmlns:a16="http://schemas.microsoft.com/office/drawing/2014/main" id="{EAF5DFFB-73B0-E993-2FCC-C8B76FC77FA7}"/>
                    </a:ext>
                  </a:extLst>
                </p:cNvPr>
                <p:cNvCxnSpPr>
                  <a:cxnSpLocks/>
                </p:cNvCxnSpPr>
                <p:nvPr/>
              </p:nvCxnSpPr>
              <p:spPr bwMode="auto">
                <a:xfrm>
                  <a:off x="8593837" y="383540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5" name="直線コネクタ 94">
                  <a:extLst>
                    <a:ext uri="{FF2B5EF4-FFF2-40B4-BE49-F238E27FC236}">
                      <a16:creationId xmlns:a16="http://schemas.microsoft.com/office/drawing/2014/main" id="{182FC04E-859D-FF40-DA3D-6421429E69EC}"/>
                    </a:ext>
                  </a:extLst>
                </p:cNvPr>
                <p:cNvCxnSpPr>
                  <a:cxnSpLocks/>
                  <a:endCxn id="23" idx="5"/>
                </p:cNvCxnSpPr>
                <p:nvPr/>
              </p:nvCxnSpPr>
              <p:spPr bwMode="auto">
                <a:xfrm>
                  <a:off x="5082540" y="5059668"/>
                  <a:ext cx="107407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8" name="直線矢印コネクタ 97">
                  <a:extLst>
                    <a:ext uri="{FF2B5EF4-FFF2-40B4-BE49-F238E27FC236}">
                      <a16:creationId xmlns:a16="http://schemas.microsoft.com/office/drawing/2014/main" id="{D7FB4CF3-0129-C018-FE74-EF711908FA5A}"/>
                    </a:ext>
                  </a:extLst>
                </p:cNvPr>
                <p:cNvCxnSpPr>
                  <a:cxnSpLocks/>
                </p:cNvCxnSpPr>
                <p:nvPr/>
              </p:nvCxnSpPr>
              <p:spPr bwMode="auto">
                <a:xfrm>
                  <a:off x="6955537" y="3967480"/>
                  <a:ext cx="16383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 name="直線矢印コネクタ 101">
                  <a:extLst>
                    <a:ext uri="{FF2B5EF4-FFF2-40B4-BE49-F238E27FC236}">
                      <a16:creationId xmlns:a16="http://schemas.microsoft.com/office/drawing/2014/main" id="{AC032417-273D-99E3-FF8C-B2C744D3DDC0}"/>
                    </a:ext>
                  </a:extLst>
                </p:cNvPr>
                <p:cNvCxnSpPr>
                  <a:cxnSpLocks/>
                </p:cNvCxnSpPr>
                <p:nvPr/>
              </p:nvCxnSpPr>
              <p:spPr bwMode="auto">
                <a:xfrm>
                  <a:off x="5224677" y="4226314"/>
                  <a:ext cx="941" cy="833507"/>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6" name="テキスト ボックス 105">
                <a:extLst>
                  <a:ext uri="{FF2B5EF4-FFF2-40B4-BE49-F238E27FC236}">
                    <a16:creationId xmlns:a16="http://schemas.microsoft.com/office/drawing/2014/main" id="{44108FAD-C766-ACA3-BF41-B0329E472CB9}"/>
                  </a:ext>
                </a:extLst>
              </p:cNvPr>
              <p:cNvSpPr txBox="1"/>
              <p:nvPr/>
            </p:nvSpPr>
            <p:spPr>
              <a:xfrm>
                <a:off x="2341386" y="5713672"/>
                <a:ext cx="1919115" cy="461665"/>
              </a:xfrm>
              <a:prstGeom prst="rect">
                <a:avLst/>
              </a:prstGeom>
              <a:noFill/>
            </p:spPr>
            <p:txBody>
              <a:bodyPr wrap="none" rtlCol="0">
                <a:spAutoFit/>
              </a:bodyPr>
              <a:lstStyle/>
              <a:p>
                <a:pPr algn="l"/>
                <a:r>
                  <a:rPr kumimoji="1" lang="en-US" altLang="ja-JP" sz="2400" i="0" dirty="0">
                    <a:latin typeface="+mn-ea"/>
                    <a:ea typeface="+mn-ea"/>
                  </a:rPr>
                  <a:t>Wheel base</a:t>
                </a:r>
                <a:endParaRPr kumimoji="1" lang="ja-JP" altLang="en-US" sz="2400" i="0" dirty="0">
                  <a:latin typeface="+mn-ea"/>
                  <a:ea typeface="+mn-ea"/>
                </a:endParaRPr>
              </a:p>
            </p:txBody>
          </p:sp>
          <p:sp>
            <p:nvSpPr>
              <p:cNvPr id="112" name="テキスト ボックス 111">
                <a:extLst>
                  <a:ext uri="{FF2B5EF4-FFF2-40B4-BE49-F238E27FC236}">
                    <a16:creationId xmlns:a16="http://schemas.microsoft.com/office/drawing/2014/main" id="{CA566CED-B9B5-FAD6-2693-0EC14D0992D1}"/>
                  </a:ext>
                </a:extLst>
              </p:cNvPr>
              <p:cNvSpPr txBox="1"/>
              <p:nvPr/>
            </p:nvSpPr>
            <p:spPr>
              <a:xfrm>
                <a:off x="5148124" y="2496594"/>
                <a:ext cx="1826141" cy="461665"/>
              </a:xfrm>
              <a:prstGeom prst="rect">
                <a:avLst/>
              </a:prstGeom>
              <a:noFill/>
            </p:spPr>
            <p:txBody>
              <a:bodyPr wrap="none" rtlCol="0">
                <a:spAutoFit/>
              </a:bodyPr>
              <a:lstStyle/>
              <a:p>
                <a:pPr algn="l"/>
                <a:r>
                  <a:rPr kumimoji="1" lang="en-US" altLang="ja-JP" sz="2400" i="0" dirty="0">
                    <a:latin typeface="+mn-ea"/>
                    <a:ea typeface="+mn-ea"/>
                  </a:rPr>
                  <a:t>Pitch angle</a:t>
                </a:r>
                <a:endParaRPr kumimoji="1" lang="ja-JP" altLang="en-US" sz="2400" i="0" dirty="0">
                  <a:latin typeface="+mn-ea"/>
                  <a:ea typeface="+mn-ea"/>
                </a:endParaRPr>
              </a:p>
            </p:txBody>
          </p:sp>
          <p:sp>
            <p:nvSpPr>
              <p:cNvPr id="113" name="テキスト ボックス 112">
                <a:extLst>
                  <a:ext uri="{FF2B5EF4-FFF2-40B4-BE49-F238E27FC236}">
                    <a16:creationId xmlns:a16="http://schemas.microsoft.com/office/drawing/2014/main" id="{6287E242-6C8F-E942-BABA-31055884D83E}"/>
                  </a:ext>
                </a:extLst>
              </p:cNvPr>
              <p:cNvSpPr txBox="1"/>
              <p:nvPr/>
            </p:nvSpPr>
            <p:spPr>
              <a:xfrm>
                <a:off x="2158003" y="1845550"/>
                <a:ext cx="2285882" cy="461665"/>
              </a:xfrm>
              <a:prstGeom prst="rect">
                <a:avLst/>
              </a:prstGeom>
              <a:noFill/>
            </p:spPr>
            <p:txBody>
              <a:bodyPr wrap="none" rtlCol="0">
                <a:spAutoFit/>
              </a:bodyPr>
              <a:lstStyle/>
              <a:p>
                <a:pPr algn="l"/>
                <a:r>
                  <a:rPr kumimoji="1" lang="en-US" altLang="ja-JP" sz="2400" i="0" dirty="0">
                    <a:latin typeface="+mn-ea"/>
                    <a:ea typeface="+mn-ea"/>
                  </a:rPr>
                  <a:t>Vehicle length</a:t>
                </a:r>
                <a:endParaRPr kumimoji="1" lang="ja-JP" altLang="en-US" sz="2400" i="0" dirty="0">
                  <a:latin typeface="+mn-ea"/>
                  <a:ea typeface="+mn-ea"/>
                </a:endParaRPr>
              </a:p>
            </p:txBody>
          </p:sp>
          <p:sp>
            <p:nvSpPr>
              <p:cNvPr id="116" name="テキスト ボックス 115">
                <a:extLst>
                  <a:ext uri="{FF2B5EF4-FFF2-40B4-BE49-F238E27FC236}">
                    <a16:creationId xmlns:a16="http://schemas.microsoft.com/office/drawing/2014/main" id="{D0B03918-D97E-450E-6993-6862D7E205D2}"/>
                  </a:ext>
                </a:extLst>
              </p:cNvPr>
              <p:cNvSpPr txBox="1"/>
              <p:nvPr/>
            </p:nvSpPr>
            <p:spPr>
              <a:xfrm rot="5400000">
                <a:off x="-49757" y="3429285"/>
                <a:ext cx="2285882" cy="461665"/>
              </a:xfrm>
              <a:prstGeom prst="rect">
                <a:avLst/>
              </a:prstGeom>
              <a:noFill/>
            </p:spPr>
            <p:txBody>
              <a:bodyPr wrap="none" rtlCol="0">
                <a:spAutoFit/>
              </a:bodyPr>
              <a:lstStyle/>
              <a:p>
                <a:pPr algn="l"/>
                <a:r>
                  <a:rPr kumimoji="1" lang="en-US" altLang="ja-JP" sz="2400" i="0" dirty="0">
                    <a:latin typeface="+mn-ea"/>
                    <a:ea typeface="+mn-ea"/>
                  </a:rPr>
                  <a:t>Vehicle height</a:t>
                </a:r>
                <a:endParaRPr kumimoji="1" lang="ja-JP" altLang="en-US" sz="2400" i="0" dirty="0">
                  <a:latin typeface="+mn-ea"/>
                  <a:ea typeface="+mn-ea"/>
                </a:endParaRPr>
              </a:p>
            </p:txBody>
          </p:sp>
          <p:sp>
            <p:nvSpPr>
              <p:cNvPr id="117" name="テキスト ボックス 116">
                <a:extLst>
                  <a:ext uri="{FF2B5EF4-FFF2-40B4-BE49-F238E27FC236}">
                    <a16:creationId xmlns:a16="http://schemas.microsoft.com/office/drawing/2014/main" id="{D3194BA3-A673-1877-4FF4-DF08C6447F7C}"/>
                  </a:ext>
                </a:extLst>
              </p:cNvPr>
              <p:cNvSpPr txBox="1"/>
              <p:nvPr/>
            </p:nvSpPr>
            <p:spPr>
              <a:xfrm>
                <a:off x="5129754" y="3440910"/>
                <a:ext cx="2585516" cy="461665"/>
              </a:xfrm>
              <a:prstGeom prst="rect">
                <a:avLst/>
              </a:prstGeom>
              <a:noFill/>
            </p:spPr>
            <p:txBody>
              <a:bodyPr wrap="none" rtlCol="0">
                <a:spAutoFit/>
              </a:bodyPr>
              <a:lstStyle/>
              <a:p>
                <a:pPr algn="l"/>
                <a:r>
                  <a:rPr kumimoji="1" lang="en-US" altLang="ja-JP" sz="2400" i="0" dirty="0">
                    <a:latin typeface="+mn-ea"/>
                    <a:ea typeface="+mn-ea"/>
                  </a:rPr>
                  <a:t>Angular velocity</a:t>
                </a:r>
                <a:endParaRPr kumimoji="1" lang="ja-JP" altLang="en-US" sz="2400" i="0" dirty="0">
                  <a:latin typeface="+mn-ea"/>
                  <a:ea typeface="+mn-ea"/>
                </a:endParaRPr>
              </a:p>
            </p:txBody>
          </p:sp>
          <p:sp>
            <p:nvSpPr>
              <p:cNvPr id="118" name="テキスト ボックス 117">
                <a:extLst>
                  <a:ext uri="{FF2B5EF4-FFF2-40B4-BE49-F238E27FC236}">
                    <a16:creationId xmlns:a16="http://schemas.microsoft.com/office/drawing/2014/main" id="{2CC98AA4-2940-C173-6B8C-1353B6BBB3AA}"/>
                  </a:ext>
                </a:extLst>
              </p:cNvPr>
              <p:cNvSpPr txBox="1"/>
              <p:nvPr/>
            </p:nvSpPr>
            <p:spPr>
              <a:xfrm>
                <a:off x="7816460" y="4003475"/>
                <a:ext cx="1946302" cy="461665"/>
              </a:xfrm>
              <a:prstGeom prst="rect">
                <a:avLst/>
              </a:prstGeom>
              <a:noFill/>
            </p:spPr>
            <p:txBody>
              <a:bodyPr wrap="none" rtlCol="0">
                <a:spAutoFit/>
              </a:bodyPr>
              <a:lstStyle/>
              <a:p>
                <a:pPr algn="l"/>
                <a:r>
                  <a:rPr kumimoji="1" lang="en-US" altLang="ja-JP" sz="2400" i="0" dirty="0">
                    <a:latin typeface="+mn-ea"/>
                    <a:ea typeface="+mn-ea"/>
                  </a:rPr>
                  <a:t>Wavelength</a:t>
                </a:r>
                <a:endParaRPr kumimoji="1" lang="ja-JP" altLang="en-US" sz="2400" i="0" dirty="0">
                  <a:latin typeface="+mn-ea"/>
                  <a:ea typeface="+mn-ea"/>
                </a:endParaRPr>
              </a:p>
            </p:txBody>
          </p:sp>
          <p:sp>
            <p:nvSpPr>
              <p:cNvPr id="120" name="テキスト ボックス 119">
                <a:extLst>
                  <a:ext uri="{FF2B5EF4-FFF2-40B4-BE49-F238E27FC236}">
                    <a16:creationId xmlns:a16="http://schemas.microsoft.com/office/drawing/2014/main" id="{03551DD6-BDAC-7D4B-5551-77AB4D3248CA}"/>
                  </a:ext>
                </a:extLst>
              </p:cNvPr>
              <p:cNvSpPr txBox="1"/>
              <p:nvPr/>
            </p:nvSpPr>
            <p:spPr>
              <a:xfrm>
                <a:off x="4170789" y="5154349"/>
                <a:ext cx="1705916" cy="461665"/>
              </a:xfrm>
              <a:prstGeom prst="rect">
                <a:avLst/>
              </a:prstGeom>
              <a:noFill/>
            </p:spPr>
            <p:txBody>
              <a:bodyPr wrap="none" rtlCol="0">
                <a:spAutoFit/>
              </a:bodyPr>
              <a:lstStyle/>
              <a:p>
                <a:pPr algn="l"/>
                <a:r>
                  <a:rPr kumimoji="1" lang="en-US" altLang="ja-JP" sz="2400" i="0" dirty="0">
                    <a:latin typeface="+mn-ea"/>
                    <a:ea typeface="+mn-ea"/>
                  </a:rPr>
                  <a:t>Amplitude</a:t>
                </a:r>
                <a:endParaRPr kumimoji="1" lang="ja-JP" altLang="en-US" sz="2400" i="0" dirty="0">
                  <a:latin typeface="+mn-ea"/>
                  <a:ea typeface="+mn-ea"/>
                </a:endParaRPr>
              </a:p>
            </p:txBody>
          </p:sp>
          <p:cxnSp>
            <p:nvCxnSpPr>
              <p:cNvPr id="122" name="直線コネクタ 121">
                <a:extLst>
                  <a:ext uri="{FF2B5EF4-FFF2-40B4-BE49-F238E27FC236}">
                    <a16:creationId xmlns:a16="http://schemas.microsoft.com/office/drawing/2014/main" id="{47FC23DD-6739-E15C-B26A-91CBEF2659C0}"/>
                  </a:ext>
                </a:extLst>
              </p:cNvPr>
              <p:cNvCxnSpPr>
                <a:cxnSpLocks/>
                <a:endCxn id="112" idx="2"/>
              </p:cNvCxnSpPr>
              <p:nvPr/>
            </p:nvCxnSpPr>
            <p:spPr bwMode="auto">
              <a:xfrm flipV="1">
                <a:off x="3715473" y="2958259"/>
                <a:ext cx="2345722" cy="3461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5" name="直線コネクタ 124">
                <a:extLst>
                  <a:ext uri="{FF2B5EF4-FFF2-40B4-BE49-F238E27FC236}">
                    <a16:creationId xmlns:a16="http://schemas.microsoft.com/office/drawing/2014/main" id="{37DE0949-68F7-84AA-2672-A0230BFDC9B6}"/>
                  </a:ext>
                </a:extLst>
              </p:cNvPr>
              <p:cNvCxnSpPr>
                <a:cxnSpLocks/>
                <a:endCxn id="117" idx="1"/>
              </p:cNvCxnSpPr>
              <p:nvPr/>
            </p:nvCxnSpPr>
            <p:spPr bwMode="auto">
              <a:xfrm flipV="1">
                <a:off x="3143384" y="3671743"/>
                <a:ext cx="1986370" cy="57716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7" name="直線コネクタ 126">
                <a:extLst>
                  <a:ext uri="{FF2B5EF4-FFF2-40B4-BE49-F238E27FC236}">
                    <a16:creationId xmlns:a16="http://schemas.microsoft.com/office/drawing/2014/main" id="{54124E58-05A5-B3C8-5B13-50E7D08D5994}"/>
                  </a:ext>
                </a:extLst>
              </p:cNvPr>
              <p:cNvCxnSpPr>
                <a:cxnSpLocks/>
                <a:endCxn id="117" idx="1"/>
              </p:cNvCxnSpPr>
              <p:nvPr/>
            </p:nvCxnSpPr>
            <p:spPr bwMode="auto">
              <a:xfrm flipV="1">
                <a:off x="4557807" y="3671743"/>
                <a:ext cx="571947" cy="5659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3" name="テキスト ボックス 132">
                <a:extLst>
                  <a:ext uri="{FF2B5EF4-FFF2-40B4-BE49-F238E27FC236}">
                    <a16:creationId xmlns:a16="http://schemas.microsoft.com/office/drawing/2014/main" id="{242B9CA7-CDE5-2751-5A39-2BC110333AF8}"/>
                  </a:ext>
                </a:extLst>
              </p:cNvPr>
              <p:cNvSpPr txBox="1"/>
              <p:nvPr/>
            </p:nvSpPr>
            <p:spPr>
              <a:xfrm>
                <a:off x="8717697" y="2381176"/>
                <a:ext cx="2653612" cy="461665"/>
              </a:xfrm>
              <a:prstGeom prst="rect">
                <a:avLst/>
              </a:prstGeom>
              <a:noFill/>
            </p:spPr>
            <p:txBody>
              <a:bodyPr wrap="none" rtlCol="0">
                <a:spAutoFit/>
              </a:bodyPr>
              <a:lstStyle/>
              <a:p>
                <a:pPr algn="l"/>
                <a:r>
                  <a:rPr kumimoji="1" lang="en-US" altLang="ja-JP" sz="2400" i="0" dirty="0">
                    <a:latin typeface="+mn-ea"/>
                    <a:ea typeface="+mn-ea"/>
                  </a:rPr>
                  <a:t>center of gravity</a:t>
                </a:r>
                <a:endParaRPr kumimoji="1" lang="ja-JP" altLang="en-US" sz="2400" i="0" dirty="0">
                  <a:latin typeface="+mn-ea"/>
                  <a:ea typeface="+mn-ea"/>
                </a:endParaRPr>
              </a:p>
            </p:txBody>
          </p:sp>
          <p:sp>
            <p:nvSpPr>
              <p:cNvPr id="134" name="フローチャート: 結合子 133">
                <a:extLst>
                  <a:ext uri="{FF2B5EF4-FFF2-40B4-BE49-F238E27FC236}">
                    <a16:creationId xmlns:a16="http://schemas.microsoft.com/office/drawing/2014/main" id="{14EBA596-0BCE-58F8-1A38-ECB9B636F280}"/>
                  </a:ext>
                </a:extLst>
              </p:cNvPr>
              <p:cNvSpPr/>
              <p:nvPr/>
            </p:nvSpPr>
            <p:spPr bwMode="auto">
              <a:xfrm>
                <a:off x="7984250" y="2496593"/>
                <a:ext cx="241638" cy="230833"/>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136" name="直線コネクタ 135">
                <a:extLst>
                  <a:ext uri="{FF2B5EF4-FFF2-40B4-BE49-F238E27FC236}">
                    <a16:creationId xmlns:a16="http://schemas.microsoft.com/office/drawing/2014/main" id="{EF1EBA88-3B83-25A4-E356-66FC6094EA6A}"/>
                  </a:ext>
                </a:extLst>
              </p:cNvPr>
              <p:cNvCxnSpPr>
                <a:cxnSpLocks/>
                <a:endCxn id="133" idx="1"/>
              </p:cNvCxnSpPr>
              <p:nvPr/>
            </p:nvCxnSpPr>
            <p:spPr bwMode="auto">
              <a:xfrm>
                <a:off x="8349318" y="2612009"/>
                <a:ext cx="368379"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43" name="正方形/長方形 142">
              <a:extLst>
                <a:ext uri="{FF2B5EF4-FFF2-40B4-BE49-F238E27FC236}">
                  <a16:creationId xmlns:a16="http://schemas.microsoft.com/office/drawing/2014/main" id="{25B81868-5F2F-2DEC-F660-635153433D4C}"/>
                </a:ext>
              </a:extLst>
            </p:cNvPr>
            <p:cNvSpPr/>
            <p:nvPr/>
          </p:nvSpPr>
          <p:spPr bwMode="auto">
            <a:xfrm>
              <a:off x="7776761" y="2192186"/>
              <a:ext cx="3672588" cy="791022"/>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spTree>
    <p:extLst>
      <p:ext uri="{BB962C8B-B14F-4D97-AF65-F5344CB8AC3E}">
        <p14:creationId xmlns:p14="http://schemas.microsoft.com/office/powerpoint/2010/main" val="356537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グループ化 26">
            <a:extLst>
              <a:ext uri="{FF2B5EF4-FFF2-40B4-BE49-F238E27FC236}">
                <a16:creationId xmlns:a16="http://schemas.microsoft.com/office/drawing/2014/main" id="{FC2B6B4C-835F-2418-50DB-CB8D5A980B07}"/>
              </a:ext>
            </a:extLst>
          </p:cNvPr>
          <p:cNvGrpSpPr/>
          <p:nvPr/>
        </p:nvGrpSpPr>
        <p:grpSpPr>
          <a:xfrm>
            <a:off x="989005" y="551700"/>
            <a:ext cx="9579599" cy="5606874"/>
            <a:chOff x="989005" y="551700"/>
            <a:chExt cx="9579599" cy="5606874"/>
          </a:xfrm>
        </p:grpSpPr>
        <p:sp>
          <p:nvSpPr>
            <p:cNvPr id="26" name="矢印: 上下 25">
              <a:extLst>
                <a:ext uri="{FF2B5EF4-FFF2-40B4-BE49-F238E27FC236}">
                  <a16:creationId xmlns:a16="http://schemas.microsoft.com/office/drawing/2014/main" id="{36B7272E-21B2-7389-1067-76C244A387EA}"/>
                </a:ext>
              </a:extLst>
            </p:cNvPr>
            <p:cNvSpPr/>
            <p:nvPr/>
          </p:nvSpPr>
          <p:spPr bwMode="auto">
            <a:xfrm rot="3004730">
              <a:off x="3834294" y="2388624"/>
              <a:ext cx="409312" cy="21147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4" name="グループ化 3">
              <a:extLst>
                <a:ext uri="{FF2B5EF4-FFF2-40B4-BE49-F238E27FC236}">
                  <a16:creationId xmlns:a16="http://schemas.microsoft.com/office/drawing/2014/main" id="{BC0F6DB0-E767-EDE0-59D9-1D5ED300FB8D}"/>
                </a:ext>
              </a:extLst>
            </p:cNvPr>
            <p:cNvGrpSpPr/>
            <p:nvPr/>
          </p:nvGrpSpPr>
          <p:grpSpPr>
            <a:xfrm>
              <a:off x="989005" y="551700"/>
              <a:ext cx="9579599" cy="5606874"/>
              <a:chOff x="831408" y="401799"/>
              <a:chExt cx="9579599" cy="5606874"/>
            </a:xfrm>
          </p:grpSpPr>
          <p:pic>
            <p:nvPicPr>
              <p:cNvPr id="5" name="図 4">
                <a:extLst>
                  <a:ext uri="{FF2B5EF4-FFF2-40B4-BE49-F238E27FC236}">
                    <a16:creationId xmlns:a16="http://schemas.microsoft.com/office/drawing/2014/main" id="{438756DA-BF2A-2862-0733-B654AB39D0F6}"/>
                  </a:ext>
                </a:extLst>
              </p:cNvPr>
              <p:cNvPicPr>
                <a:picLocks noChangeAspect="1"/>
              </p:cNvPicPr>
              <p:nvPr/>
            </p:nvPicPr>
            <p:blipFill>
              <a:blip r:embed="rId2"/>
              <a:stretch>
                <a:fillRect/>
              </a:stretch>
            </p:blipFill>
            <p:spPr>
              <a:xfrm>
                <a:off x="2347983" y="1348853"/>
                <a:ext cx="1268782" cy="850694"/>
              </a:xfrm>
              <a:prstGeom prst="rect">
                <a:avLst/>
              </a:prstGeom>
            </p:spPr>
          </p:pic>
          <p:graphicFrame>
            <p:nvGraphicFramePr>
              <p:cNvPr id="6" name="グラフ 5">
                <a:extLst>
                  <a:ext uri="{FF2B5EF4-FFF2-40B4-BE49-F238E27FC236}">
                    <a16:creationId xmlns:a16="http://schemas.microsoft.com/office/drawing/2014/main" id="{8F0DB7DC-B91D-F4EB-C37D-981567524BBB}"/>
                  </a:ext>
                </a:extLst>
              </p:cNvPr>
              <p:cNvGraphicFramePr>
                <a:graphicFrameLocks/>
              </p:cNvGraphicFramePr>
              <p:nvPr>
                <p:extLst>
                  <p:ext uri="{D42A27DB-BD31-4B8C-83A1-F6EECF244321}">
                    <p14:modId xmlns:p14="http://schemas.microsoft.com/office/powerpoint/2010/main" val="1732165675"/>
                  </p:ext>
                </p:extLst>
              </p:nvPr>
            </p:nvGraphicFramePr>
            <p:xfrm>
              <a:off x="5138054" y="4266146"/>
              <a:ext cx="1794803" cy="1742527"/>
            </p:xfrm>
            <a:graphic>
              <a:graphicData uri="http://schemas.openxmlformats.org/drawingml/2006/chart">
                <c:chart xmlns:c="http://schemas.openxmlformats.org/drawingml/2006/chart" xmlns:r="http://schemas.openxmlformats.org/officeDocument/2006/relationships" r:id="rId3"/>
              </a:graphicData>
            </a:graphic>
          </p:graphicFrame>
          <p:pic>
            <p:nvPicPr>
              <p:cNvPr id="7" name="図 6">
                <a:extLst>
                  <a:ext uri="{FF2B5EF4-FFF2-40B4-BE49-F238E27FC236}">
                    <a16:creationId xmlns:a16="http://schemas.microsoft.com/office/drawing/2014/main" id="{F921BEE3-7579-8668-99F0-E49A137979EA}"/>
                  </a:ext>
                </a:extLst>
              </p:cNvPr>
              <p:cNvPicPr>
                <a:picLocks noChangeAspect="1"/>
              </p:cNvPicPr>
              <p:nvPr/>
            </p:nvPicPr>
            <p:blipFill>
              <a:blip r:embed="rId2"/>
              <a:stretch>
                <a:fillRect/>
              </a:stretch>
            </p:blipFill>
            <p:spPr>
              <a:xfrm>
                <a:off x="831408" y="4732952"/>
                <a:ext cx="1268782" cy="850694"/>
              </a:xfrm>
              <a:prstGeom prst="rect">
                <a:avLst/>
              </a:prstGeom>
            </p:spPr>
          </p:pic>
          <p:graphicFrame>
            <p:nvGraphicFramePr>
              <p:cNvPr id="8" name="グラフ 7">
                <a:extLst>
                  <a:ext uri="{FF2B5EF4-FFF2-40B4-BE49-F238E27FC236}">
                    <a16:creationId xmlns:a16="http://schemas.microsoft.com/office/drawing/2014/main" id="{D9EE2630-F155-B9FA-9A9D-D6E81D4BED07}"/>
                  </a:ext>
                </a:extLst>
              </p:cNvPr>
              <p:cNvGraphicFramePr>
                <a:graphicFrameLocks/>
              </p:cNvGraphicFramePr>
              <p:nvPr>
                <p:extLst>
                  <p:ext uri="{D42A27DB-BD31-4B8C-83A1-F6EECF244321}">
                    <p14:modId xmlns:p14="http://schemas.microsoft.com/office/powerpoint/2010/main" val="73842663"/>
                  </p:ext>
                </p:extLst>
              </p:nvPr>
            </p:nvGraphicFramePr>
            <p:xfrm>
              <a:off x="8244197" y="4773822"/>
              <a:ext cx="2166810" cy="739790"/>
            </p:xfrm>
            <a:graphic>
              <a:graphicData uri="http://schemas.openxmlformats.org/drawingml/2006/chart">
                <c:chart xmlns:c="http://schemas.openxmlformats.org/drawingml/2006/chart" xmlns:r="http://schemas.openxmlformats.org/officeDocument/2006/relationships" r:id="rId4"/>
              </a:graphicData>
            </a:graphic>
          </p:graphicFrame>
          <p:sp>
            <p:nvSpPr>
              <p:cNvPr id="9" name="テキスト ボックス 8">
                <a:extLst>
                  <a:ext uri="{FF2B5EF4-FFF2-40B4-BE49-F238E27FC236}">
                    <a16:creationId xmlns:a16="http://schemas.microsoft.com/office/drawing/2014/main" id="{C214EA49-178A-DE9A-A39E-594CC7C7158D}"/>
                  </a:ext>
                </a:extLst>
              </p:cNvPr>
              <p:cNvSpPr txBox="1"/>
              <p:nvPr/>
            </p:nvSpPr>
            <p:spPr>
              <a:xfrm>
                <a:off x="3522338" y="4927467"/>
                <a:ext cx="476884"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0" name="テキスト ボックス 9">
                <a:extLst>
                  <a:ext uri="{FF2B5EF4-FFF2-40B4-BE49-F238E27FC236}">
                    <a16:creationId xmlns:a16="http://schemas.microsoft.com/office/drawing/2014/main" id="{D9C032E9-6F13-31AB-02BD-7450AF42D77A}"/>
                  </a:ext>
                </a:extLst>
              </p:cNvPr>
              <p:cNvSpPr txBox="1"/>
              <p:nvPr/>
            </p:nvSpPr>
            <p:spPr>
              <a:xfrm>
                <a:off x="6570361" y="4933775"/>
                <a:ext cx="487530"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1" name="テキスト ボックス 10">
                <a:extLst>
                  <a:ext uri="{FF2B5EF4-FFF2-40B4-BE49-F238E27FC236}">
                    <a16:creationId xmlns:a16="http://schemas.microsoft.com/office/drawing/2014/main" id="{F09ECE39-E34D-EA22-C0B7-04FFB071B1CD}"/>
                  </a:ext>
                </a:extLst>
              </p:cNvPr>
              <p:cNvSpPr txBox="1"/>
              <p:nvPr/>
            </p:nvSpPr>
            <p:spPr>
              <a:xfrm>
                <a:off x="3053429" y="401799"/>
                <a:ext cx="5445686" cy="646331"/>
              </a:xfrm>
              <a:prstGeom prst="rect">
                <a:avLst/>
              </a:prstGeom>
              <a:noFill/>
            </p:spPr>
            <p:txBody>
              <a:bodyPr wrap="square" rtlCol="0">
                <a:spAutoFit/>
              </a:bodyPr>
              <a:lstStyle/>
              <a:p>
                <a:pPr algn="l"/>
                <a:r>
                  <a:rPr kumimoji="1" lang="en-US" altLang="ja-JP" sz="3600" i="0" dirty="0">
                    <a:latin typeface="メイリオ" panose="020B0604030504040204" pitchFamily="50" charset="-128"/>
                    <a:ea typeface="メイリオ" panose="020B0604030504040204" pitchFamily="50" charset="-128"/>
                  </a:rPr>
                  <a:t>Unknown environment</a:t>
                </a:r>
                <a:endParaRPr kumimoji="1" lang="ja-JP" altLang="en-US" sz="3600" i="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08011140-ABA5-B0E8-CE81-761973B7F3F9}"/>
                  </a:ext>
                </a:extLst>
              </p:cNvPr>
              <p:cNvSpPr txBox="1"/>
              <p:nvPr/>
            </p:nvSpPr>
            <p:spPr>
              <a:xfrm>
                <a:off x="1905973" y="4020441"/>
                <a:ext cx="1210588" cy="646331"/>
              </a:xfrm>
              <a:prstGeom prst="rect">
                <a:avLst/>
              </a:prstGeom>
              <a:noFill/>
            </p:spPr>
            <p:txBody>
              <a:bodyPr wrap="none" rtlCol="0">
                <a:spAutoFit/>
              </a:bodyPr>
              <a:lstStyle/>
              <a:p>
                <a:pPr algn="l"/>
                <a:r>
                  <a:rPr kumimoji="1" lang="en-US" altLang="ja-JP" sz="3600" i="0" dirty="0">
                    <a:latin typeface="メイリオ" panose="020B0604030504040204" pitchFamily="50" charset="-128"/>
                    <a:ea typeface="メイリオ" panose="020B0604030504040204" pitchFamily="50" charset="-128"/>
                  </a:rPr>
                  <a:t>High</a:t>
                </a:r>
                <a:endParaRPr kumimoji="1" lang="ja-JP" altLang="en-US" sz="3600" i="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9921997-0D71-EDD0-BE86-B7CE3D0D4CB4}"/>
                  </a:ext>
                </a:extLst>
              </p:cNvPr>
              <p:cNvSpPr txBox="1"/>
              <p:nvPr/>
            </p:nvSpPr>
            <p:spPr>
              <a:xfrm>
                <a:off x="5180612" y="4113741"/>
                <a:ext cx="1099981" cy="646331"/>
              </a:xfrm>
              <a:prstGeom prst="rect">
                <a:avLst/>
              </a:prstGeom>
              <a:noFill/>
            </p:spPr>
            <p:txBody>
              <a:bodyPr wrap="square" rtlCol="0">
                <a:spAutoFit/>
              </a:bodyPr>
              <a:lstStyle/>
              <a:p>
                <a:pPr algn="l"/>
                <a:r>
                  <a:rPr lang="en-US" altLang="ja-JP" sz="3600" i="0" dirty="0">
                    <a:latin typeface="メイリオ" panose="020B0604030504040204" pitchFamily="50" charset="-128"/>
                    <a:ea typeface="メイリオ" panose="020B0604030504040204" pitchFamily="50" charset="-128"/>
                  </a:rPr>
                  <a:t>Mid</a:t>
                </a:r>
                <a:endParaRPr kumimoji="1" lang="ja-JP" altLang="en-US" sz="3600" i="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652F700C-2827-5B08-7C53-547CA47984F8}"/>
                  </a:ext>
                </a:extLst>
              </p:cNvPr>
              <p:cNvSpPr txBox="1"/>
              <p:nvPr/>
            </p:nvSpPr>
            <p:spPr>
              <a:xfrm>
                <a:off x="8515307" y="4131639"/>
                <a:ext cx="1099981" cy="646331"/>
              </a:xfrm>
              <a:prstGeom prst="rect">
                <a:avLst/>
              </a:prstGeom>
              <a:noFill/>
            </p:spPr>
            <p:txBody>
              <a:bodyPr wrap="none" rtlCol="0">
                <a:spAutoFit/>
              </a:bodyPr>
              <a:lstStyle/>
              <a:p>
                <a:pPr algn="l"/>
                <a:r>
                  <a:rPr kumimoji="1" lang="en-US" altLang="ja-JP" sz="3600" i="0" dirty="0">
                    <a:latin typeface="メイリオ" panose="020B0604030504040204" pitchFamily="50" charset="-128"/>
                    <a:ea typeface="メイリオ" panose="020B0604030504040204" pitchFamily="50" charset="-128"/>
                  </a:rPr>
                  <a:t>Low</a:t>
                </a:r>
                <a:endParaRPr kumimoji="1" lang="ja-JP" altLang="en-US" sz="3600" i="0" dirty="0">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C958E75E-24FB-078F-EAA6-A5CD9438913D}"/>
                  </a:ext>
                </a:extLst>
              </p:cNvPr>
              <p:cNvPicPr>
                <a:picLocks noChangeAspect="1"/>
              </p:cNvPicPr>
              <p:nvPr/>
            </p:nvPicPr>
            <p:blipFill>
              <a:blip r:embed="rId2"/>
              <a:stretch>
                <a:fillRect/>
              </a:stretch>
            </p:blipFill>
            <p:spPr>
              <a:xfrm>
                <a:off x="3927193" y="4681532"/>
                <a:ext cx="1268782" cy="850694"/>
              </a:xfrm>
              <a:prstGeom prst="rect">
                <a:avLst/>
              </a:prstGeom>
            </p:spPr>
          </p:pic>
          <p:pic>
            <p:nvPicPr>
              <p:cNvPr id="16" name="図 15">
                <a:extLst>
                  <a:ext uri="{FF2B5EF4-FFF2-40B4-BE49-F238E27FC236}">
                    <a16:creationId xmlns:a16="http://schemas.microsoft.com/office/drawing/2014/main" id="{EB4B4C10-7DEF-9301-66C1-82C729023577}"/>
                  </a:ext>
                </a:extLst>
              </p:cNvPr>
              <p:cNvPicPr>
                <a:picLocks noChangeAspect="1"/>
              </p:cNvPicPr>
              <p:nvPr/>
            </p:nvPicPr>
            <p:blipFill>
              <a:blip r:embed="rId2"/>
              <a:stretch>
                <a:fillRect/>
              </a:stretch>
            </p:blipFill>
            <p:spPr>
              <a:xfrm>
                <a:off x="6975415" y="4681532"/>
                <a:ext cx="1268782" cy="850694"/>
              </a:xfrm>
              <a:prstGeom prst="rect">
                <a:avLst/>
              </a:prstGeom>
            </p:spPr>
          </p:pic>
          <p:sp>
            <p:nvSpPr>
              <p:cNvPr id="17" name="テキスト ボックス 16">
                <a:extLst>
                  <a:ext uri="{FF2B5EF4-FFF2-40B4-BE49-F238E27FC236}">
                    <a16:creationId xmlns:a16="http://schemas.microsoft.com/office/drawing/2014/main" id="{6AA6E525-A975-D770-C33B-2454A4E73BEF}"/>
                  </a:ext>
                </a:extLst>
              </p:cNvPr>
              <p:cNvSpPr txBox="1"/>
              <p:nvPr/>
            </p:nvSpPr>
            <p:spPr>
              <a:xfrm>
                <a:off x="7199180" y="1286380"/>
                <a:ext cx="3173371" cy="1200329"/>
              </a:xfrm>
              <a:prstGeom prst="rect">
                <a:avLst/>
              </a:prstGeom>
              <a:noFill/>
            </p:spPr>
            <p:txBody>
              <a:bodyPr wrap="square" rtlCol="0">
                <a:spAutoFit/>
              </a:bodyPr>
              <a:lstStyle/>
              <a:p>
                <a:pPr algn="l"/>
                <a:r>
                  <a:rPr kumimoji="1" lang="en-US" altLang="ja-JP" sz="3600" i="0" dirty="0">
                    <a:latin typeface="メイリオ" panose="020B0604030504040204" pitchFamily="50" charset="-128"/>
                    <a:ea typeface="メイリオ" panose="020B0604030504040204" pitchFamily="50" charset="-128"/>
                  </a:rPr>
                  <a:t>Unknown</a:t>
                </a:r>
              </a:p>
              <a:p>
                <a:pPr algn="l"/>
                <a:r>
                  <a:rPr kumimoji="1" lang="en-US" altLang="ja-JP" sz="3600" i="0" dirty="0">
                    <a:latin typeface="メイリオ" panose="020B0604030504040204" pitchFamily="50" charset="-128"/>
                    <a:ea typeface="メイリオ" panose="020B0604030504040204" pitchFamily="50" charset="-128"/>
                  </a:rPr>
                  <a:t>in advance</a:t>
                </a:r>
                <a:endParaRPr kumimoji="1" lang="ja-JP" altLang="en-US" sz="3600" i="0" dirty="0">
                  <a:latin typeface="メイリオ" panose="020B0604030504040204" pitchFamily="50" charset="-128"/>
                  <a:ea typeface="メイリオ" panose="020B0604030504040204" pitchFamily="50" charset="-128"/>
                </a:endParaRPr>
              </a:p>
            </p:txBody>
          </p:sp>
          <p:graphicFrame>
            <p:nvGraphicFramePr>
              <p:cNvPr id="19" name="グラフ 18">
                <a:extLst>
                  <a:ext uri="{FF2B5EF4-FFF2-40B4-BE49-F238E27FC236}">
                    <a16:creationId xmlns:a16="http://schemas.microsoft.com/office/drawing/2014/main" id="{6FFA110D-D150-0CC3-4781-EB248D06D71A}"/>
                  </a:ext>
                </a:extLst>
              </p:cNvPr>
              <p:cNvGraphicFramePr>
                <a:graphicFrameLocks/>
              </p:cNvGraphicFramePr>
              <p:nvPr>
                <p:extLst>
                  <p:ext uri="{D42A27DB-BD31-4B8C-83A1-F6EECF244321}">
                    <p14:modId xmlns:p14="http://schemas.microsoft.com/office/powerpoint/2010/main" val="592667924"/>
                  </p:ext>
                </p:extLst>
              </p:nvPr>
            </p:nvGraphicFramePr>
            <p:xfrm>
              <a:off x="2048936" y="4386489"/>
              <a:ext cx="1726218" cy="1581633"/>
            </p:xfrm>
            <a:graphic>
              <a:graphicData uri="http://schemas.openxmlformats.org/drawingml/2006/chart">
                <c:chart xmlns:c="http://schemas.openxmlformats.org/drawingml/2006/chart" xmlns:r="http://schemas.openxmlformats.org/officeDocument/2006/relationships" r:id="rId5"/>
              </a:graphicData>
            </a:graphic>
          </p:graphicFrame>
          <p:sp>
            <p:nvSpPr>
              <p:cNvPr id="20" name="矢印: 上下 19">
                <a:extLst>
                  <a:ext uri="{FF2B5EF4-FFF2-40B4-BE49-F238E27FC236}">
                    <a16:creationId xmlns:a16="http://schemas.microsoft.com/office/drawing/2014/main" id="{2F850FA0-6CBC-36E4-E7C5-7572B2B720C0}"/>
                  </a:ext>
                </a:extLst>
              </p:cNvPr>
              <p:cNvSpPr/>
              <p:nvPr/>
            </p:nvSpPr>
            <p:spPr bwMode="auto">
              <a:xfrm>
                <a:off x="5479908" y="2600647"/>
                <a:ext cx="408100" cy="1410855"/>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1" name="矢印: 上下 20">
                <a:extLst>
                  <a:ext uri="{FF2B5EF4-FFF2-40B4-BE49-F238E27FC236}">
                    <a16:creationId xmlns:a16="http://schemas.microsoft.com/office/drawing/2014/main" id="{D30B625A-27C4-CA97-A92A-F7B74226E284}"/>
                  </a:ext>
                </a:extLst>
              </p:cNvPr>
              <p:cNvSpPr/>
              <p:nvPr/>
            </p:nvSpPr>
            <p:spPr bwMode="auto">
              <a:xfrm rot="18584895">
                <a:off x="7180009" y="2202189"/>
                <a:ext cx="409312" cy="21147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3" name="フリーフォーム: 図形 22">
                <a:extLst>
                  <a:ext uri="{FF2B5EF4-FFF2-40B4-BE49-F238E27FC236}">
                    <a16:creationId xmlns:a16="http://schemas.microsoft.com/office/drawing/2014/main" id="{4F17E2F7-6280-B5EA-2A11-8FE64337D561}"/>
                  </a:ext>
                </a:extLst>
              </p:cNvPr>
              <p:cNvSpPr/>
              <p:nvPr/>
            </p:nvSpPr>
            <p:spPr bwMode="auto">
              <a:xfrm>
                <a:off x="4544770" y="926838"/>
                <a:ext cx="2226605" cy="1499278"/>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4" name="正方形/長方形 23">
                <a:extLst>
                  <a:ext uri="{FF2B5EF4-FFF2-40B4-BE49-F238E27FC236}">
                    <a16:creationId xmlns:a16="http://schemas.microsoft.com/office/drawing/2014/main" id="{60AD7C4E-3AD5-1876-C0FD-F29D9E03F164}"/>
                  </a:ext>
                </a:extLst>
              </p:cNvPr>
              <p:cNvSpPr/>
              <p:nvPr/>
            </p:nvSpPr>
            <p:spPr bwMode="auto">
              <a:xfrm>
                <a:off x="4334633" y="980789"/>
                <a:ext cx="2646877" cy="1565908"/>
              </a:xfrm>
              <a:prstGeom prst="rect">
                <a:avLst/>
              </a:prstGeom>
              <a:solidFill>
                <a:schemeClr val="bg2"/>
              </a:solidFill>
              <a:ln>
                <a:solidFill>
                  <a:schemeClr val="accent3"/>
                </a:solidFill>
                <a:headEnd type="none" w="med" len="med"/>
                <a:tailEnd type="none" w="med" len="med"/>
              </a:ln>
              <a:effectLst>
                <a:softEdge rad="2413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テキスト ボックス 24">
                <a:extLst>
                  <a:ext uri="{FF2B5EF4-FFF2-40B4-BE49-F238E27FC236}">
                    <a16:creationId xmlns:a16="http://schemas.microsoft.com/office/drawing/2014/main" id="{F9687BB6-74C4-A18E-0AE0-6AC87BBDA284}"/>
                  </a:ext>
                </a:extLst>
              </p:cNvPr>
              <p:cNvSpPr txBox="1"/>
              <p:nvPr/>
            </p:nvSpPr>
            <p:spPr>
              <a:xfrm>
                <a:off x="5251439" y="1130640"/>
                <a:ext cx="838691" cy="1569660"/>
              </a:xfrm>
              <a:prstGeom prst="rect">
                <a:avLst/>
              </a:prstGeom>
              <a:noFill/>
            </p:spPr>
            <p:txBody>
              <a:bodyPr wrap="none" rtlCol="0">
                <a:spAutoFit/>
              </a:bodyPr>
              <a:lstStyle/>
              <a:p>
                <a:pPr algn="l"/>
                <a:r>
                  <a:rPr kumimoji="1" lang="en-US" altLang="ja-JP" sz="9600" i="0" dirty="0">
                    <a:latin typeface="+mn-ea"/>
                    <a:ea typeface="+mn-ea"/>
                  </a:rPr>
                  <a:t>?</a:t>
                </a:r>
                <a:endParaRPr kumimoji="1" lang="ja-JP" altLang="en-US" sz="9600" i="0" dirty="0">
                  <a:latin typeface="+mn-ea"/>
                  <a:ea typeface="+mn-ea"/>
                </a:endParaRPr>
              </a:p>
            </p:txBody>
          </p:sp>
          <p:sp>
            <p:nvSpPr>
              <p:cNvPr id="22" name="テキスト ボックス 21">
                <a:extLst>
                  <a:ext uri="{FF2B5EF4-FFF2-40B4-BE49-F238E27FC236}">
                    <a16:creationId xmlns:a16="http://schemas.microsoft.com/office/drawing/2014/main" id="{63439F32-7CBA-A97D-5E46-362FBDC008C7}"/>
                  </a:ext>
                </a:extLst>
              </p:cNvPr>
              <p:cNvSpPr txBox="1"/>
              <p:nvPr/>
            </p:nvSpPr>
            <p:spPr>
              <a:xfrm>
                <a:off x="3028044" y="2936417"/>
                <a:ext cx="5300471" cy="646331"/>
              </a:xfrm>
              <a:prstGeom prst="rect">
                <a:avLst/>
              </a:prstGeom>
              <a:solidFill>
                <a:schemeClr val="bg1"/>
              </a:solidFill>
              <a:ln>
                <a:solidFill>
                  <a:schemeClr val="tx1"/>
                </a:solidFill>
              </a:ln>
            </p:spPr>
            <p:txBody>
              <a:bodyPr wrap="square" rtlCol="0">
                <a:spAutoFit/>
              </a:bodyPr>
              <a:lstStyle/>
              <a:p>
                <a:r>
                  <a:rPr kumimoji="1" lang="en-US" altLang="ja-JP" sz="3600" i="0" dirty="0">
                    <a:latin typeface="メイリオ" panose="020B0604030504040204" pitchFamily="50" charset="-128"/>
                    <a:ea typeface="メイリオ" panose="020B0604030504040204" pitchFamily="50" charset="-128"/>
                  </a:rPr>
                  <a:t>Decom</a:t>
                </a:r>
                <a:r>
                  <a:rPr kumimoji="1" lang="ja-JP" altLang="en-US" sz="3600" i="0" dirty="0">
                    <a:latin typeface="メイリオ" panose="020B0604030504040204" pitchFamily="50" charset="-128"/>
                    <a:ea typeface="メイリオ" panose="020B0604030504040204" pitchFamily="50" charset="-128"/>
                  </a:rPr>
                  <a:t>・</a:t>
                </a:r>
                <a:r>
                  <a:rPr kumimoji="1" lang="en-US" altLang="ja-JP" sz="3600" i="0" dirty="0">
                    <a:latin typeface="メイリオ" panose="020B0604030504040204" pitchFamily="50" charset="-128"/>
                    <a:ea typeface="メイリオ" panose="020B0604030504040204" pitchFamily="50" charset="-128"/>
                  </a:rPr>
                  <a:t>Superposition</a:t>
                </a:r>
                <a:endParaRPr kumimoji="1" lang="ja-JP" altLang="en-US" sz="3600" i="0" dirty="0">
                  <a:latin typeface="メイリオ" panose="020B0604030504040204" pitchFamily="50" charset="-128"/>
                  <a:ea typeface="メイリオ" panose="020B0604030504040204" pitchFamily="50" charset="-128"/>
                </a:endParaRPr>
              </a:p>
            </p:txBody>
          </p:sp>
        </p:grpSp>
      </p:grpSp>
    </p:spTree>
    <p:extLst>
      <p:ext uri="{BB962C8B-B14F-4D97-AF65-F5344CB8AC3E}">
        <p14:creationId xmlns:p14="http://schemas.microsoft.com/office/powerpoint/2010/main" val="36414756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faf3fd9b-f835-4516-a869-c4f591f48447"/>
  <p:tag name="SLIDO_EVENT_SECTION_UUID" val="3c0d15b6-d60c-46ac-b595-4f055c74ddcf"/>
</p:tagLst>
</file>

<file path=ppt/theme/theme1.xml><?xml version="1.0" encoding="utf-8"?>
<a:theme xmlns:a="http://schemas.openxmlformats.org/drawingml/2006/main" name="Vid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p="http://schemas.openxmlformats.org/presentationml/2006/main" xmlns:r="http://schemas.openxmlformats.org/officeDocument/2006/relationship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200" b="0" i="0" u="none" strike="noStrike" cap="none" normalizeH="0" baseline="0" dirty="0">
            <a:ln>
              <a:noFill/>
            </a:ln>
            <a:solidFill>
              <a:schemeClr val="tx1"/>
            </a:solidFill>
            <a:effectLst/>
            <a:latin typeface="ＭＳ Ｐゴシック" charset="-128"/>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1200" b="0" i="0" u="none" strike="noStrike" cap="none" normalizeH="0" baseline="0" smtClean="0">
            <a:ln>
              <a:noFill/>
            </a:ln>
            <a:solidFill>
              <a:schemeClr val="tx1"/>
            </a:solidFill>
            <a:effectLst/>
            <a:latin typeface="ＭＳ Ｐゴシック" charset="-128"/>
            <a:ea typeface="ＭＳ Ｐゴシック" charset="-128"/>
          </a:defRPr>
        </a:defPPr>
      </a:lstStyle>
    </a:lnDef>
    <a:txDef>
      <a:spPr>
        <a:noFill/>
      </a:spPr>
      <a:bodyPr wrap="none" rtlCol="0">
        <a:spAutoFit/>
      </a:bodyPr>
      <a:lstStyle>
        <a:defPPr algn="l">
          <a:defRPr kumimoji="1" sz="2400" i="0" smtClean="0">
            <a:latin typeface="+mn-ea"/>
            <a:ea typeface="+mn-ea"/>
          </a:defRPr>
        </a:defPPr>
      </a:lstStyle>
    </a:txDef>
  </a:objectDefaults>
  <a:extraClrSchemeLst>
    <a:extraClrScheme>
      <a:clrScheme name="Vid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id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id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id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id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id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id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37171</TotalTime>
  <Words>1807</Words>
  <Application>Microsoft Office PowerPoint</Application>
  <PresentationFormat>ワイド画面</PresentationFormat>
  <Paragraphs>209</Paragraphs>
  <Slides>14</Slides>
  <Notes>10</Notes>
  <HiddenSlides>4</HiddenSlides>
  <MMClips>1</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ＭＳ Ｐゴシック</vt:lpstr>
      <vt:lpstr>メイリオ</vt:lpstr>
      <vt:lpstr>メイリオ</vt:lpstr>
      <vt:lpstr>Arial</vt:lpstr>
      <vt:lpstr>Segoe UI Historic</vt:lpstr>
      <vt:lpstr>Times</vt:lpstr>
      <vt:lpstr>Wingdings</vt:lpstr>
      <vt:lpstr>Vide</vt:lpstr>
      <vt:lpstr>PowerPoint プレゼンテーション</vt:lpstr>
      <vt:lpstr>緒言</vt:lpstr>
      <vt:lpstr>未知環境について</vt:lpstr>
      <vt:lpstr>本研究で提案するアイデア</vt:lpstr>
      <vt:lpstr>本研究の目的</vt:lpstr>
      <vt:lpstr>実験方法</vt:lpstr>
      <vt:lpstr>現状</vt:lpstr>
      <vt:lpstr>まとめと今後の展望</vt:lpstr>
      <vt:lpstr>PowerPoint プレゼンテーション</vt:lpstr>
      <vt:lpstr>走行性能とは？</vt:lpstr>
      <vt:lpstr>緒言</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
  <cp:keywords/>
  <dc:description/>
  <cp:lastModifiedBy>翔亮 佐藤</cp:lastModifiedBy>
  <cp:revision>2296</cp:revision>
  <cp:lastPrinted>2012-05-07T05:28:35Z</cp:lastPrinted>
  <dcterms:created xsi:type="dcterms:W3CDTF">2007-04-19T10:21:38Z</dcterms:created>
  <dcterms:modified xsi:type="dcterms:W3CDTF">2025-11-10T07:24:54Z</dcterms:modified>
  <cp:category/>
</cp:coreProperties>
</file>